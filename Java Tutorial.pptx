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58" r:id="rId3"/>
    <p:sldId id="271" r:id="rId4"/>
    <p:sldId id="272" r:id="rId5"/>
    <p:sldId id="318" r:id="rId6"/>
    <p:sldId id="319" r:id="rId7"/>
    <p:sldId id="320" r:id="rId8"/>
    <p:sldId id="259" r:id="rId9"/>
    <p:sldId id="345" r:id="rId10"/>
    <p:sldId id="316" r:id="rId11"/>
    <p:sldId id="260" r:id="rId12"/>
    <p:sldId id="344" r:id="rId13"/>
    <p:sldId id="317" r:id="rId14"/>
    <p:sldId id="307" r:id="rId15"/>
    <p:sldId id="263" r:id="rId16"/>
    <p:sldId id="266" r:id="rId17"/>
    <p:sldId id="265" r:id="rId18"/>
    <p:sldId id="268" r:id="rId19"/>
    <p:sldId id="264" r:id="rId20"/>
    <p:sldId id="267" r:id="rId21"/>
    <p:sldId id="269" r:id="rId22"/>
    <p:sldId id="334" r:id="rId23"/>
    <p:sldId id="273" r:id="rId24"/>
    <p:sldId id="335" r:id="rId25"/>
    <p:sldId id="336" r:id="rId26"/>
    <p:sldId id="337" r:id="rId27"/>
    <p:sldId id="338" r:id="rId28"/>
    <p:sldId id="274" r:id="rId29"/>
    <p:sldId id="297" r:id="rId30"/>
    <p:sldId id="275" r:id="rId31"/>
    <p:sldId id="276" r:id="rId32"/>
    <p:sldId id="277" r:id="rId33"/>
    <p:sldId id="278" r:id="rId34"/>
    <p:sldId id="280" r:id="rId35"/>
    <p:sldId id="300" r:id="rId36"/>
    <p:sldId id="298" r:id="rId37"/>
    <p:sldId id="262" r:id="rId38"/>
    <p:sldId id="349" r:id="rId39"/>
    <p:sldId id="299" r:id="rId40"/>
    <p:sldId id="281" r:id="rId41"/>
    <p:sldId id="282" r:id="rId42"/>
    <p:sldId id="283" r:id="rId43"/>
    <p:sldId id="321" r:id="rId44"/>
    <p:sldId id="308" r:id="rId45"/>
    <p:sldId id="309" r:id="rId46"/>
    <p:sldId id="284" r:id="rId47"/>
    <p:sldId id="285" r:id="rId48"/>
    <p:sldId id="286" r:id="rId49"/>
    <p:sldId id="322" r:id="rId50"/>
    <p:sldId id="312" r:id="rId51"/>
    <p:sldId id="287" r:id="rId52"/>
    <p:sldId id="290" r:id="rId53"/>
    <p:sldId id="289" r:id="rId54"/>
    <p:sldId id="327" r:id="rId55"/>
    <p:sldId id="288" r:id="rId56"/>
    <p:sldId id="323" r:id="rId57"/>
    <p:sldId id="324" r:id="rId58"/>
    <p:sldId id="325" r:id="rId59"/>
    <p:sldId id="326" r:id="rId60"/>
    <p:sldId id="292" r:id="rId61"/>
    <p:sldId id="329" r:id="rId62"/>
    <p:sldId id="313" r:id="rId63"/>
    <p:sldId id="346" r:id="rId64"/>
    <p:sldId id="347" r:id="rId65"/>
    <p:sldId id="339" r:id="rId66"/>
    <p:sldId id="328" r:id="rId67"/>
    <p:sldId id="331" r:id="rId68"/>
    <p:sldId id="332" r:id="rId69"/>
    <p:sldId id="333" r:id="rId70"/>
    <p:sldId id="348" r:id="rId71"/>
    <p:sldId id="340" r:id="rId72"/>
    <p:sldId id="342" r:id="rId73"/>
    <p:sldId id="341" r:id="rId74"/>
    <p:sldId id="343" r:id="rId75"/>
    <p:sldId id="330" r:id="rId76"/>
    <p:sldId id="315" r:id="rId77"/>
    <p:sldId id="293" r:id="rId78"/>
    <p:sldId id="310" r:id="rId79"/>
    <p:sldId id="311" r:id="rId80"/>
    <p:sldId id="294" r:id="rId81"/>
    <p:sldId id="296" r:id="rId82"/>
    <p:sldId id="302" r:id="rId83"/>
    <p:sldId id="303" r:id="rId84"/>
    <p:sldId id="304" r:id="rId85"/>
    <p:sldId id="306" r:id="rId8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71" d="100"/>
          <a:sy n="71" d="100"/>
        </p:scale>
        <p:origin x="41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D147FF-2838-4C40-AD41-6BB40709E536}" type="datetimeFigureOut">
              <a:rPr lang="en-IN" smtClean="0"/>
              <a:t>28-10-2025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882B57-CD2A-431C-8EEB-923965118BD4}" type="slidenum">
              <a:rPr lang="en-IN" smtClean="0"/>
              <a:t>‹#›</a:t>
            </a:fld>
            <a:endParaRPr lang="en-IN"/>
          </a:p>
        </p:txBody>
      </p:sp>
    </p:spTree>
    <p:extLst>
      <p:ext uri="{BB962C8B-B14F-4D97-AF65-F5344CB8AC3E}">
        <p14:creationId xmlns:p14="http://schemas.microsoft.com/office/powerpoint/2010/main" val="3672338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D147FF-2838-4C40-AD41-6BB40709E536}" type="datetimeFigureOut">
              <a:rPr lang="en-IN" smtClean="0"/>
              <a:t>28-10-2025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882B57-CD2A-431C-8EEB-923965118BD4}" type="slidenum">
              <a:rPr lang="en-IN" smtClean="0"/>
              <a:t>‹#›</a:t>
            </a:fld>
            <a:endParaRPr lang="en-IN"/>
          </a:p>
        </p:txBody>
      </p:sp>
    </p:spTree>
    <p:extLst>
      <p:ext uri="{BB962C8B-B14F-4D97-AF65-F5344CB8AC3E}">
        <p14:creationId xmlns:p14="http://schemas.microsoft.com/office/powerpoint/2010/main" val="1826517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D147FF-2838-4C40-AD41-6BB40709E536}" type="datetimeFigureOut">
              <a:rPr lang="en-IN" smtClean="0"/>
              <a:t>28-10-2025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882B57-CD2A-431C-8EEB-923965118BD4}" type="slidenum">
              <a:rPr lang="en-IN" smtClean="0"/>
              <a:t>‹#›</a:t>
            </a:fld>
            <a:endParaRPr lang="en-IN"/>
          </a:p>
        </p:txBody>
      </p:sp>
    </p:spTree>
    <p:extLst>
      <p:ext uri="{BB962C8B-B14F-4D97-AF65-F5344CB8AC3E}">
        <p14:creationId xmlns:p14="http://schemas.microsoft.com/office/powerpoint/2010/main" val="2932961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D147FF-2838-4C40-AD41-6BB40709E536}" type="datetimeFigureOut">
              <a:rPr lang="en-IN" smtClean="0"/>
              <a:t>28-10-2025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882B57-CD2A-431C-8EEB-923965118BD4}" type="slidenum">
              <a:rPr lang="en-IN" smtClean="0"/>
              <a:t>‹#›</a:t>
            </a:fld>
            <a:endParaRPr lang="en-IN"/>
          </a:p>
        </p:txBody>
      </p:sp>
    </p:spTree>
    <p:extLst>
      <p:ext uri="{BB962C8B-B14F-4D97-AF65-F5344CB8AC3E}">
        <p14:creationId xmlns:p14="http://schemas.microsoft.com/office/powerpoint/2010/main" val="1150937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4D147FF-2838-4C40-AD41-6BB40709E536}" type="datetimeFigureOut">
              <a:rPr lang="en-IN" smtClean="0"/>
              <a:t>28-10-2025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7882B57-CD2A-431C-8EEB-923965118BD4}" type="slidenum">
              <a:rPr lang="en-IN" smtClean="0"/>
              <a:t>‹#›</a:t>
            </a:fld>
            <a:endParaRPr lang="en-IN"/>
          </a:p>
        </p:txBody>
      </p:sp>
    </p:spTree>
    <p:extLst>
      <p:ext uri="{BB962C8B-B14F-4D97-AF65-F5344CB8AC3E}">
        <p14:creationId xmlns:p14="http://schemas.microsoft.com/office/powerpoint/2010/main" val="1242767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4D147FF-2838-4C40-AD41-6BB40709E536}" type="datetimeFigureOut">
              <a:rPr lang="en-IN" smtClean="0"/>
              <a:t>28-10-2025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7882B57-CD2A-431C-8EEB-923965118BD4}" type="slidenum">
              <a:rPr lang="en-IN" smtClean="0"/>
              <a:t>‹#›</a:t>
            </a:fld>
            <a:endParaRPr lang="en-IN"/>
          </a:p>
        </p:txBody>
      </p:sp>
    </p:spTree>
    <p:extLst>
      <p:ext uri="{BB962C8B-B14F-4D97-AF65-F5344CB8AC3E}">
        <p14:creationId xmlns:p14="http://schemas.microsoft.com/office/powerpoint/2010/main" val="3397322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D147FF-2838-4C40-AD41-6BB40709E536}" type="datetimeFigureOut">
              <a:rPr lang="en-IN" smtClean="0"/>
              <a:t>28-10-2025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7882B57-CD2A-431C-8EEB-923965118BD4}" type="slidenum">
              <a:rPr lang="en-IN" smtClean="0"/>
              <a:t>‹#›</a:t>
            </a:fld>
            <a:endParaRPr lang="en-IN"/>
          </a:p>
        </p:txBody>
      </p:sp>
    </p:spTree>
    <p:extLst>
      <p:ext uri="{BB962C8B-B14F-4D97-AF65-F5344CB8AC3E}">
        <p14:creationId xmlns:p14="http://schemas.microsoft.com/office/powerpoint/2010/main" val="326464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D147FF-2838-4C40-AD41-6BB40709E536}" type="datetimeFigureOut">
              <a:rPr lang="en-IN" smtClean="0"/>
              <a:t>28-10-2025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882B57-CD2A-431C-8EEB-923965118BD4}" type="slidenum">
              <a:rPr lang="en-IN" smtClean="0"/>
              <a:t>‹#›</a:t>
            </a:fld>
            <a:endParaRPr lang="en-IN"/>
          </a:p>
        </p:txBody>
      </p:sp>
    </p:spTree>
    <p:extLst>
      <p:ext uri="{BB962C8B-B14F-4D97-AF65-F5344CB8AC3E}">
        <p14:creationId xmlns:p14="http://schemas.microsoft.com/office/powerpoint/2010/main" val="3374276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D147FF-2838-4C40-AD41-6BB40709E536}" type="datetimeFigureOut">
              <a:rPr lang="en-IN" smtClean="0"/>
              <a:t>28-10-2025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882B57-CD2A-431C-8EEB-923965118BD4}" type="slidenum">
              <a:rPr lang="en-IN" smtClean="0"/>
              <a:t>‹#›</a:t>
            </a:fld>
            <a:endParaRPr lang="en-IN"/>
          </a:p>
        </p:txBody>
      </p:sp>
    </p:spTree>
    <p:extLst>
      <p:ext uri="{BB962C8B-B14F-4D97-AF65-F5344CB8AC3E}">
        <p14:creationId xmlns:p14="http://schemas.microsoft.com/office/powerpoint/2010/main" val="172196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D147FF-2838-4C40-AD41-6BB40709E536}" type="datetimeFigureOut">
              <a:rPr lang="en-IN" smtClean="0"/>
              <a:t>28-10-2025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882B57-CD2A-431C-8EEB-923965118BD4}" type="slidenum">
              <a:rPr lang="en-IN" smtClean="0"/>
              <a:t>‹#›</a:t>
            </a:fld>
            <a:endParaRPr lang="en-IN"/>
          </a:p>
        </p:txBody>
      </p:sp>
    </p:spTree>
    <p:extLst>
      <p:ext uri="{BB962C8B-B14F-4D97-AF65-F5344CB8AC3E}">
        <p14:creationId xmlns:p14="http://schemas.microsoft.com/office/powerpoint/2010/main" val="1496686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D147FF-2838-4C40-AD41-6BB40709E536}" type="datetimeFigureOut">
              <a:rPr lang="en-IN" smtClean="0"/>
              <a:t>28-10-2025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882B57-CD2A-431C-8EEB-923965118BD4}"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9645782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D147FF-2838-4C40-AD41-6BB40709E536}" type="datetimeFigureOut">
              <a:rPr lang="en-IN" smtClean="0"/>
              <a:t>28-10-2025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882B57-CD2A-431C-8EEB-923965118BD4}" type="slidenum">
              <a:rPr lang="en-IN" smtClean="0"/>
              <a:t>‹#›</a:t>
            </a:fld>
            <a:endParaRPr lang="en-IN"/>
          </a:p>
        </p:txBody>
      </p:sp>
    </p:spTree>
    <p:extLst>
      <p:ext uri="{BB962C8B-B14F-4D97-AF65-F5344CB8AC3E}">
        <p14:creationId xmlns:p14="http://schemas.microsoft.com/office/powerpoint/2010/main" val="15336735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D147FF-2838-4C40-AD41-6BB40709E536}" type="datetimeFigureOut">
              <a:rPr lang="en-IN" smtClean="0"/>
              <a:t>28-10-2025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882B57-CD2A-431C-8EEB-923965118BD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049371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D147FF-2838-4C40-AD41-6BB40709E536}" type="datetimeFigureOut">
              <a:rPr lang="en-IN" smtClean="0"/>
              <a:t>28-10-2025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882B57-CD2A-431C-8EEB-923965118BD4}" type="slidenum">
              <a:rPr lang="en-IN" smtClean="0"/>
              <a:t>‹#›</a:t>
            </a:fld>
            <a:endParaRPr lang="en-IN"/>
          </a:p>
        </p:txBody>
      </p:sp>
    </p:spTree>
    <p:extLst>
      <p:ext uri="{BB962C8B-B14F-4D97-AF65-F5344CB8AC3E}">
        <p14:creationId xmlns:p14="http://schemas.microsoft.com/office/powerpoint/2010/main" val="18049418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D147FF-2838-4C40-AD41-6BB40709E536}" type="datetimeFigureOut">
              <a:rPr lang="en-IN" smtClean="0"/>
              <a:t>28-10-2025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882B57-CD2A-431C-8EEB-923965118BD4}" type="slidenum">
              <a:rPr lang="en-IN" smtClean="0"/>
              <a:t>‹#›</a:t>
            </a:fld>
            <a:endParaRPr lang="en-IN"/>
          </a:p>
        </p:txBody>
      </p:sp>
    </p:spTree>
    <p:extLst>
      <p:ext uri="{BB962C8B-B14F-4D97-AF65-F5344CB8AC3E}">
        <p14:creationId xmlns:p14="http://schemas.microsoft.com/office/powerpoint/2010/main" val="13805107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D147FF-2838-4C40-AD41-6BB40709E536}" type="datetimeFigureOut">
              <a:rPr lang="en-IN" smtClean="0"/>
              <a:t>28-10-2025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882B57-CD2A-431C-8EEB-923965118BD4}" type="slidenum">
              <a:rPr lang="en-IN" smtClean="0"/>
              <a:t>‹#›</a:t>
            </a:fld>
            <a:endParaRPr lang="en-IN"/>
          </a:p>
        </p:txBody>
      </p:sp>
    </p:spTree>
    <p:extLst>
      <p:ext uri="{BB962C8B-B14F-4D97-AF65-F5344CB8AC3E}">
        <p14:creationId xmlns:p14="http://schemas.microsoft.com/office/powerpoint/2010/main" val="1551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4D147FF-2838-4C40-AD41-6BB40709E536}" type="datetimeFigureOut">
              <a:rPr lang="en-IN" smtClean="0"/>
              <a:t>28-10-2025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7882B57-CD2A-431C-8EEB-923965118BD4}" type="slidenum">
              <a:rPr lang="en-IN" smtClean="0"/>
              <a:t>‹#›</a:t>
            </a:fld>
            <a:endParaRPr lang="en-IN"/>
          </a:p>
        </p:txBody>
      </p:sp>
    </p:spTree>
    <p:extLst>
      <p:ext uri="{BB962C8B-B14F-4D97-AF65-F5344CB8AC3E}">
        <p14:creationId xmlns:p14="http://schemas.microsoft.com/office/powerpoint/2010/main" val="4208507754"/>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company/rba-infotech/" TargetMode="External"/><Relationship Id="rId2" Type="http://schemas.openxmlformats.org/officeDocument/2006/relationships/hyperlink" Target="https://www.instagram.com/rba_infotech/" TargetMode="External"/><Relationship Id="rId1" Type="http://schemas.openxmlformats.org/officeDocument/2006/relationships/slideLayout" Target="../slideLayouts/slideLayout1.xml"/><Relationship Id="rId4" Type="http://schemas.openxmlformats.org/officeDocument/2006/relationships/hyperlink" Target="https://www.facebook.com/people/RBA-Infotech/100043552406579/"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96907" y="1590262"/>
            <a:ext cx="7766936" cy="787176"/>
          </a:xfrm>
        </p:spPr>
        <p:txBody>
          <a:bodyPr>
            <a:normAutofit fontScale="90000"/>
          </a:bodyPr>
          <a:lstStyle/>
          <a:p>
            <a:pPr algn="ctr"/>
            <a:r>
              <a:rPr lang="en-US" dirty="0"/>
              <a:t>Java</a:t>
            </a:r>
            <a:endParaRPr lang="en-IN" dirty="0"/>
          </a:p>
        </p:txBody>
      </p:sp>
      <p:sp>
        <p:nvSpPr>
          <p:cNvPr id="4" name="Footer Placeholder 3">
            <a:extLst>
              <a:ext uri="{FF2B5EF4-FFF2-40B4-BE49-F238E27FC236}">
                <a16:creationId xmlns:a16="http://schemas.microsoft.com/office/drawing/2014/main" id="{7F8BD43E-8A99-5F05-F164-113A080B8DBE}"/>
              </a:ext>
            </a:extLst>
          </p:cNvPr>
          <p:cNvSpPr txBox="1">
            <a:spLocks/>
          </p:cNvSpPr>
          <p:nvPr/>
        </p:nvSpPr>
        <p:spPr>
          <a:xfrm>
            <a:off x="466322" y="4511041"/>
            <a:ext cx="9848426" cy="1739852"/>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IN" sz="2800" b="1" u="sng" dirty="0">
                <a:solidFill>
                  <a:srgbClr val="FF0000"/>
                </a:solidFill>
                <a:latin typeface="Calibri" panose="020F0502020204030204" pitchFamily="34" charset="0"/>
                <a:ea typeface="Calibri" panose="020F0502020204030204" pitchFamily="34" charset="0"/>
                <a:cs typeface="Times New Roman" panose="02020603050405020304" pitchFamily="18" charset="0"/>
              </a:rPr>
              <a:t>Please Join in below link</a:t>
            </a:r>
            <a:endParaRPr lang="en-IN" sz="2800" dirty="0">
              <a:latin typeface="Calibri" panose="020F0502020204030204" pitchFamily="34" charset="0"/>
              <a:ea typeface="Calibri" panose="020F0502020204030204" pitchFamily="34" charset="0"/>
              <a:cs typeface="Times New Roman" panose="02020603050405020304" pitchFamily="18" charset="0"/>
            </a:endParaRPr>
          </a:p>
          <a:p>
            <a:r>
              <a:rPr lang="en-IN" sz="2000" b="1" dirty="0">
                <a:solidFill>
                  <a:srgbClr val="0000FF"/>
                </a:solidFill>
                <a:latin typeface="Calibri" panose="020F0502020204030204" pitchFamily="34" charset="0"/>
                <a:ea typeface="Calibri" panose="020F0502020204030204" pitchFamily="34" charset="0"/>
                <a:cs typeface="Times New Roman" panose="02020603050405020304" pitchFamily="18" charset="0"/>
              </a:rPr>
              <a:t>Instagram</a:t>
            </a:r>
            <a:r>
              <a:rPr lang="en-IN"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a:t>
            </a:r>
            <a:r>
              <a:rPr lang="en-IN" sz="2000" dirty="0">
                <a:solidFill>
                  <a:srgbClr val="C00000"/>
                </a:solidFill>
                <a:latin typeface="Calibri" panose="020F0502020204030204" pitchFamily="34" charset="0"/>
                <a:ea typeface="Calibri" panose="020F0502020204030204" pitchFamily="34" charset="0"/>
                <a:cs typeface="Times New Roman" panose="02020603050405020304" pitchFamily="18" charset="0"/>
              </a:rPr>
              <a:t> </a:t>
            </a:r>
            <a:r>
              <a:rPr lang="en-IN" sz="2000" u="sng" dirty="0">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2"/>
              </a:rPr>
              <a:t>https://www.instagram.com/rba_infotech/</a:t>
            </a:r>
            <a:br>
              <a:rPr lang="en-IN" sz="2000" dirty="0"/>
            </a:br>
            <a:r>
              <a:rPr lang="en-IN" sz="2000" b="1" dirty="0">
                <a:solidFill>
                  <a:srgbClr val="0000FF"/>
                </a:solidFill>
                <a:latin typeface="Calibri" panose="020F0502020204030204" pitchFamily="34" charset="0"/>
                <a:ea typeface="Calibri" panose="020F0502020204030204" pitchFamily="34" charset="0"/>
                <a:cs typeface="Times New Roman" panose="02020603050405020304" pitchFamily="18" charset="0"/>
              </a:rPr>
              <a:t>LinkedIn</a:t>
            </a:r>
            <a:r>
              <a:rPr lang="en-IN"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a:t>
            </a:r>
            <a:r>
              <a:rPr lang="en-IN" sz="2000" dirty="0">
                <a:solidFill>
                  <a:srgbClr val="C00000"/>
                </a:solidFill>
                <a:latin typeface="Calibri" panose="020F0502020204030204" pitchFamily="34" charset="0"/>
                <a:ea typeface="Calibri" panose="020F0502020204030204" pitchFamily="34" charset="0"/>
                <a:cs typeface="Times New Roman" panose="02020603050405020304" pitchFamily="18" charset="0"/>
              </a:rPr>
              <a:t> </a:t>
            </a:r>
            <a:r>
              <a:rPr lang="en-IN" sz="2000" u="sng" dirty="0">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3"/>
              </a:rPr>
              <a:t>https://www.linkedin.com/company/rba-infotech/</a:t>
            </a:r>
            <a:r>
              <a:rPr lang="en-IN" sz="2000" dirty="0">
                <a:solidFill>
                  <a:srgbClr val="C00000"/>
                </a:solidFill>
                <a:latin typeface="Calibri" panose="020F0502020204030204" pitchFamily="34" charset="0"/>
                <a:ea typeface="Calibri" panose="020F0502020204030204" pitchFamily="34" charset="0"/>
                <a:cs typeface="Times New Roman" panose="02020603050405020304" pitchFamily="18" charset="0"/>
              </a:rPr>
              <a:t>	</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a:tabLst>
                <a:tab pos="2865755" algn="ctr"/>
                <a:tab pos="5731510" algn="r"/>
              </a:tabLst>
            </a:pPr>
            <a:r>
              <a:rPr lang="en-IN" sz="2000" b="1" dirty="0">
                <a:solidFill>
                  <a:srgbClr val="0000FF"/>
                </a:solidFill>
                <a:latin typeface="Calibri" panose="020F0502020204030204" pitchFamily="34" charset="0"/>
                <a:ea typeface="Calibri" panose="020F0502020204030204" pitchFamily="34" charset="0"/>
                <a:cs typeface="Times New Roman" panose="02020603050405020304" pitchFamily="18" charset="0"/>
              </a:rPr>
              <a:t>Facebook</a:t>
            </a:r>
            <a:r>
              <a:rPr lang="en-IN"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 </a:t>
            </a:r>
            <a:r>
              <a:rPr lang="en-IN" sz="2000" u="sng" dirty="0">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4"/>
              </a:rPr>
              <a:t>https://www.facebook.com/people/RBA-Infotech/100043552406579/</a:t>
            </a:r>
            <a:endParaRPr lang="en-IN" sz="2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32855DC0-58CD-7A07-9F17-11FCA3C90D7D}"/>
              </a:ext>
            </a:extLst>
          </p:cNvPr>
          <p:cNvSpPr txBox="1"/>
          <p:nvPr/>
        </p:nvSpPr>
        <p:spPr>
          <a:xfrm>
            <a:off x="7000240" y="2733040"/>
            <a:ext cx="3037840" cy="430887"/>
          </a:xfrm>
          <a:prstGeom prst="rect">
            <a:avLst/>
          </a:prstGeom>
          <a:noFill/>
        </p:spPr>
        <p:txBody>
          <a:bodyPr wrap="square" rtlCol="0">
            <a:spAutoFit/>
          </a:bodyPr>
          <a:lstStyle/>
          <a:p>
            <a:r>
              <a:rPr lang="en-IN" sz="2200" b="1" dirty="0">
                <a:solidFill>
                  <a:schemeClr val="accent4">
                    <a:lumMod val="75000"/>
                  </a:schemeClr>
                </a:solidFill>
              </a:rPr>
              <a:t>Senthil Natarajan</a:t>
            </a:r>
          </a:p>
        </p:txBody>
      </p:sp>
    </p:spTree>
    <p:extLst>
      <p:ext uri="{BB962C8B-B14F-4D97-AF65-F5344CB8AC3E}">
        <p14:creationId xmlns:p14="http://schemas.microsoft.com/office/powerpoint/2010/main" val="4000690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Introduction to Java</a:t>
            </a:r>
            <a:endParaRPr lang="en-IN" dirty="0"/>
          </a:p>
        </p:txBody>
      </p:sp>
      <p:sp>
        <p:nvSpPr>
          <p:cNvPr id="3" name="Content Placeholder 2"/>
          <p:cNvSpPr>
            <a:spLocks noGrp="1"/>
          </p:cNvSpPr>
          <p:nvPr>
            <p:ph idx="1"/>
          </p:nvPr>
        </p:nvSpPr>
        <p:spPr>
          <a:xfrm>
            <a:off x="677334" y="1328057"/>
            <a:ext cx="8596668" cy="5323114"/>
          </a:xfrm>
        </p:spPr>
        <p:txBody>
          <a:bodyPr>
            <a:normAutofit fontScale="77500" lnSpcReduction="20000"/>
          </a:bodyPr>
          <a:lstStyle/>
          <a:p>
            <a:r>
              <a:rPr lang="en-US" sz="2100" b="1" dirty="0"/>
              <a:t>It is a Object Oriented Programming (OOPs) language which was invented by James Gosling in 1995 in Sun Microsystem, later it became subsidy of Oracle. Before Java it was named Oak.</a:t>
            </a:r>
          </a:p>
          <a:p>
            <a:endParaRPr lang="en-US" b="1" dirty="0"/>
          </a:p>
          <a:p>
            <a:r>
              <a:rPr lang="en-US" sz="2200" b="1" dirty="0"/>
              <a:t>Advantages of Java</a:t>
            </a:r>
          </a:p>
          <a:p>
            <a:pPr marL="644525" indent="-285750">
              <a:buFont typeface="Wingdings" panose="05000000000000000000" pitchFamily="2" charset="2"/>
              <a:buChar char="§"/>
            </a:pPr>
            <a:r>
              <a:rPr lang="en-IN" b="1" dirty="0"/>
              <a:t>Object Oriented</a:t>
            </a:r>
            <a:r>
              <a:rPr lang="en-IN" dirty="0"/>
              <a:t> − In Java, everything is an Object. Java can be easily extended since it is based on the Object model.</a:t>
            </a:r>
          </a:p>
          <a:p>
            <a:pPr marL="644525" indent="-285750">
              <a:buFont typeface="Wingdings" panose="05000000000000000000" pitchFamily="2" charset="2"/>
              <a:buChar char="§"/>
            </a:pPr>
            <a:r>
              <a:rPr lang="en-IN" b="1" dirty="0"/>
              <a:t>Platform Independent</a:t>
            </a:r>
            <a:r>
              <a:rPr lang="en-IN" dirty="0"/>
              <a:t> − Unlike many other programming languages including C and C++, when Java is compiled, it is not compiled into platform specific machine, rather into platform independent byte code. This byte code is distributed over the web and interpreted by the Virtual Machine (JVM) on whichever platform it is being run on.</a:t>
            </a:r>
          </a:p>
          <a:p>
            <a:pPr marL="644525" indent="-285750">
              <a:buFont typeface="Wingdings" panose="05000000000000000000" pitchFamily="2" charset="2"/>
              <a:buChar char="§"/>
            </a:pPr>
            <a:r>
              <a:rPr lang="en-IN" b="1" dirty="0"/>
              <a:t>Simple</a:t>
            </a:r>
            <a:r>
              <a:rPr lang="en-IN" dirty="0"/>
              <a:t> − Java is designed to be easy to learn. If you understand the basic concept of OOP Java, it would be easy to master.</a:t>
            </a:r>
          </a:p>
          <a:p>
            <a:pPr marL="644525" indent="-285750">
              <a:buFont typeface="Wingdings" panose="05000000000000000000" pitchFamily="2" charset="2"/>
              <a:buChar char="§"/>
            </a:pPr>
            <a:r>
              <a:rPr lang="en-IN" b="1" dirty="0"/>
              <a:t>Secure</a:t>
            </a:r>
            <a:r>
              <a:rPr lang="en-IN" dirty="0"/>
              <a:t> − With Java's secure feature it enables to develop virus-free, tamper-free systems. Authentication techniques are based on public-key encryption.</a:t>
            </a:r>
          </a:p>
          <a:p>
            <a:pPr marL="644525" indent="-285750">
              <a:buFont typeface="Wingdings" panose="05000000000000000000" pitchFamily="2" charset="2"/>
              <a:buChar char="§"/>
            </a:pPr>
            <a:r>
              <a:rPr lang="en-IN" b="1" dirty="0"/>
              <a:t>Architecture-neutral</a:t>
            </a:r>
            <a:r>
              <a:rPr lang="en-IN" dirty="0"/>
              <a:t> − Java compiler generates an architecture-neutral object file format, which makes the compiled code executable on many processors, with the presence of Java runtime system.</a:t>
            </a:r>
          </a:p>
          <a:p>
            <a:pPr marL="644525" indent="-285750">
              <a:buFont typeface="Wingdings" panose="05000000000000000000" pitchFamily="2" charset="2"/>
              <a:buChar char="§"/>
            </a:pPr>
            <a:r>
              <a:rPr lang="en-IN" b="1" dirty="0"/>
              <a:t>Portable</a:t>
            </a:r>
            <a:r>
              <a:rPr lang="en-IN" dirty="0"/>
              <a:t> − Being architecture-neutral and having no implementation dependent aspects of the specification makes Java portable. Compiler in Java is written in ANSI C with a clean portability boundary, which is a POSIX subset.</a:t>
            </a:r>
          </a:p>
          <a:p>
            <a:pPr marL="644525" indent="-285750">
              <a:buFont typeface="Wingdings" panose="05000000000000000000" pitchFamily="2" charset="2"/>
              <a:buChar char="§"/>
            </a:pPr>
            <a:r>
              <a:rPr lang="en-IN" b="1" dirty="0"/>
              <a:t>Robust</a:t>
            </a:r>
            <a:r>
              <a:rPr lang="en-IN" dirty="0"/>
              <a:t> − Java makes an effort to eliminate error prone situations by emphasizing mainly on compile time error checking and runtime checking.</a:t>
            </a:r>
          </a:p>
          <a:p>
            <a:endParaRPr lang="en-IN" dirty="0"/>
          </a:p>
        </p:txBody>
      </p:sp>
    </p:spTree>
    <p:extLst>
      <p:ext uri="{BB962C8B-B14F-4D97-AF65-F5344CB8AC3E}">
        <p14:creationId xmlns:p14="http://schemas.microsoft.com/office/powerpoint/2010/main" val="2040890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6C00F-A007-4B89-8540-C91DD7D252FE}"/>
              </a:ext>
            </a:extLst>
          </p:cNvPr>
          <p:cNvSpPr>
            <a:spLocks noGrp="1"/>
          </p:cNvSpPr>
          <p:nvPr>
            <p:ph type="title"/>
          </p:nvPr>
        </p:nvSpPr>
        <p:spPr>
          <a:xfrm>
            <a:off x="677334" y="609600"/>
            <a:ext cx="8596668" cy="855643"/>
          </a:xfrm>
        </p:spPr>
        <p:txBody>
          <a:bodyPr>
            <a:normAutofit fontScale="90000"/>
          </a:bodyPr>
          <a:lstStyle/>
          <a:p>
            <a:r>
              <a:rPr lang="en-US" dirty="0"/>
              <a:t>Procedural vs Object Oriented Programming Language</a:t>
            </a:r>
            <a:endParaRPr lang="en-IN" dirty="0"/>
          </a:p>
        </p:txBody>
      </p:sp>
      <p:graphicFrame>
        <p:nvGraphicFramePr>
          <p:cNvPr id="7" name="Content Placeholder 6">
            <a:extLst>
              <a:ext uri="{FF2B5EF4-FFF2-40B4-BE49-F238E27FC236}">
                <a16:creationId xmlns:a16="http://schemas.microsoft.com/office/drawing/2014/main" id="{02706663-6B59-4724-B333-1C78C667302E}"/>
              </a:ext>
            </a:extLst>
          </p:cNvPr>
          <p:cNvGraphicFramePr>
            <a:graphicFrameLocks noGrp="1"/>
          </p:cNvGraphicFramePr>
          <p:nvPr>
            <p:ph idx="1"/>
            <p:extLst>
              <p:ext uri="{D42A27DB-BD31-4B8C-83A1-F6EECF244321}">
                <p14:modId xmlns:p14="http://schemas.microsoft.com/office/powerpoint/2010/main" val="461025381"/>
              </p:ext>
            </p:extLst>
          </p:nvPr>
        </p:nvGraphicFramePr>
        <p:xfrm>
          <a:off x="1073425" y="2025486"/>
          <a:ext cx="8398566" cy="4484644"/>
        </p:xfrm>
        <a:graphic>
          <a:graphicData uri="http://schemas.openxmlformats.org/drawingml/2006/table">
            <a:tbl>
              <a:tblPr/>
              <a:tblGrid>
                <a:gridCol w="4199283">
                  <a:extLst>
                    <a:ext uri="{9D8B030D-6E8A-4147-A177-3AD203B41FA5}">
                      <a16:colId xmlns:a16="http://schemas.microsoft.com/office/drawing/2014/main" val="1140279900"/>
                    </a:ext>
                  </a:extLst>
                </a:gridCol>
                <a:gridCol w="4199283">
                  <a:extLst>
                    <a:ext uri="{9D8B030D-6E8A-4147-A177-3AD203B41FA5}">
                      <a16:colId xmlns:a16="http://schemas.microsoft.com/office/drawing/2014/main" val="3600783251"/>
                    </a:ext>
                  </a:extLst>
                </a:gridCol>
              </a:tblGrid>
              <a:tr h="625421">
                <a:tc>
                  <a:txBody>
                    <a:bodyPr/>
                    <a:lstStyle/>
                    <a:p>
                      <a:pPr algn="ctr" fontAlgn="base"/>
                      <a:r>
                        <a:rPr lang="en-IN" sz="1600" b="1" cap="all" dirty="0">
                          <a:solidFill>
                            <a:srgbClr val="000000"/>
                          </a:solidFill>
                          <a:effectLst/>
                        </a:rPr>
                        <a:t>PROCEDURAL ORIENTED PROGRAMMING</a:t>
                      </a:r>
                    </a:p>
                  </a:txBody>
                  <a:tcPr marL="58280" marR="58280" marT="58280" marB="58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B96B"/>
                    </a:solidFill>
                  </a:tcPr>
                </a:tc>
                <a:tc>
                  <a:txBody>
                    <a:bodyPr/>
                    <a:lstStyle/>
                    <a:p>
                      <a:pPr algn="ctr" fontAlgn="base"/>
                      <a:r>
                        <a:rPr lang="en-IN" sz="1600" b="1" cap="all" dirty="0">
                          <a:solidFill>
                            <a:srgbClr val="000000"/>
                          </a:solidFill>
                          <a:effectLst/>
                        </a:rPr>
                        <a:t>OBJECT ORIENTED PROGRAMMING</a:t>
                      </a:r>
                    </a:p>
                  </a:txBody>
                  <a:tcPr marL="58280" marR="58280" marT="58280" marB="58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B96B"/>
                    </a:solidFill>
                  </a:tcPr>
                </a:tc>
                <a:extLst>
                  <a:ext uri="{0D108BD9-81ED-4DB2-BD59-A6C34878D82A}">
                    <a16:rowId xmlns:a16="http://schemas.microsoft.com/office/drawing/2014/main" val="1650327386"/>
                  </a:ext>
                </a:extLst>
              </a:tr>
              <a:tr h="1083525">
                <a:tc>
                  <a:txBody>
                    <a:bodyPr/>
                    <a:lstStyle/>
                    <a:p>
                      <a:pPr algn="l" fontAlgn="base"/>
                      <a:r>
                        <a:rPr lang="en-IN" sz="1600" b="0" dirty="0">
                          <a:effectLst/>
                        </a:rPr>
                        <a:t>In procedural programming, program is divided into small parts called </a:t>
                      </a:r>
                      <a:r>
                        <a:rPr lang="en-IN" sz="1600" b="1" i="1" dirty="0">
                          <a:effectLst/>
                        </a:rPr>
                        <a:t>functions</a:t>
                      </a:r>
                      <a:r>
                        <a:rPr lang="en-IN" sz="1600" b="0" dirty="0">
                          <a:effectLst/>
                        </a:rPr>
                        <a:t>.</a:t>
                      </a:r>
                    </a:p>
                  </a:txBody>
                  <a:tcPr marL="101990" marR="101990" marT="50995" marB="50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IN" sz="1600" b="0">
                          <a:effectLst/>
                        </a:rPr>
                        <a:t>In object oriented programming, program is divided into small parts called </a:t>
                      </a:r>
                      <a:r>
                        <a:rPr lang="en-IN" sz="1600" b="1" i="1">
                          <a:effectLst/>
                        </a:rPr>
                        <a:t>objects</a:t>
                      </a:r>
                      <a:r>
                        <a:rPr lang="en-IN" sz="1600" b="0">
                          <a:effectLst/>
                        </a:rPr>
                        <a:t>.</a:t>
                      </a:r>
                    </a:p>
                  </a:txBody>
                  <a:tcPr marL="101990" marR="101990" marT="50995" marB="50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42482526"/>
                  </a:ext>
                </a:extLst>
              </a:tr>
              <a:tr h="1083525">
                <a:tc>
                  <a:txBody>
                    <a:bodyPr/>
                    <a:lstStyle/>
                    <a:p>
                      <a:pPr algn="l" fontAlgn="base"/>
                      <a:r>
                        <a:rPr lang="en-IN" sz="1600" b="0" dirty="0">
                          <a:effectLst/>
                        </a:rPr>
                        <a:t>Procedural programming follows </a:t>
                      </a:r>
                      <a:r>
                        <a:rPr lang="en-IN" sz="1600" b="1" i="1" dirty="0">
                          <a:effectLst/>
                        </a:rPr>
                        <a:t>top down approach</a:t>
                      </a:r>
                      <a:r>
                        <a:rPr lang="en-IN" sz="1600" b="0" dirty="0">
                          <a:effectLst/>
                        </a:rPr>
                        <a:t>.</a:t>
                      </a:r>
                    </a:p>
                  </a:txBody>
                  <a:tcPr marL="101990" marR="101990" marT="50995" marB="50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IN" sz="1600" b="0">
                          <a:effectLst/>
                        </a:rPr>
                        <a:t>Object oriented programming follows </a:t>
                      </a:r>
                      <a:r>
                        <a:rPr lang="en-IN" sz="1600" b="1" i="1">
                          <a:effectLst/>
                        </a:rPr>
                        <a:t>bottom up approach</a:t>
                      </a:r>
                      <a:r>
                        <a:rPr lang="en-IN" sz="1600" b="0">
                          <a:effectLst/>
                        </a:rPr>
                        <a:t>.</a:t>
                      </a:r>
                    </a:p>
                  </a:txBody>
                  <a:tcPr marL="101990" marR="101990" marT="50995" marB="50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38309564"/>
                  </a:ext>
                </a:extLst>
              </a:tr>
              <a:tr h="1083525">
                <a:tc>
                  <a:txBody>
                    <a:bodyPr/>
                    <a:lstStyle/>
                    <a:p>
                      <a:pPr algn="l" fontAlgn="base"/>
                      <a:r>
                        <a:rPr lang="en-IN" sz="1600" b="0" dirty="0">
                          <a:effectLst/>
                        </a:rPr>
                        <a:t>There is no access specifier in procedural programming.</a:t>
                      </a:r>
                    </a:p>
                  </a:txBody>
                  <a:tcPr marL="101990" marR="101990" marT="50995" marB="50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IN" sz="1600" b="0" dirty="0">
                          <a:effectLst/>
                        </a:rPr>
                        <a:t>Object oriented programming have access specifiers like private, public, protected etc.</a:t>
                      </a:r>
                    </a:p>
                  </a:txBody>
                  <a:tcPr marL="101990" marR="101990" marT="50995" marB="50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70815400"/>
                  </a:ext>
                </a:extLst>
              </a:tr>
              <a:tr h="608648">
                <a:tc>
                  <a:txBody>
                    <a:bodyPr/>
                    <a:lstStyle/>
                    <a:p>
                      <a:pPr algn="l" fontAlgn="base"/>
                      <a:r>
                        <a:rPr lang="en-IN" sz="1600" b="0">
                          <a:effectLst/>
                        </a:rPr>
                        <a:t>Adding new data and function is not easy.</a:t>
                      </a:r>
                    </a:p>
                  </a:txBody>
                  <a:tcPr marL="101990" marR="101990" marT="50995" marB="50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IN" sz="1600" b="0" dirty="0">
                          <a:effectLst/>
                        </a:rPr>
                        <a:t>Adding new data and function is easy.</a:t>
                      </a:r>
                    </a:p>
                  </a:txBody>
                  <a:tcPr marL="101990" marR="101990" marT="50995" marB="50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58892388"/>
                  </a:ext>
                </a:extLst>
              </a:tr>
            </a:tbl>
          </a:graphicData>
        </a:graphic>
      </p:graphicFrame>
    </p:spTree>
    <p:extLst>
      <p:ext uri="{BB962C8B-B14F-4D97-AF65-F5344CB8AC3E}">
        <p14:creationId xmlns:p14="http://schemas.microsoft.com/office/powerpoint/2010/main" val="1140810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DC905-40EA-4773-8D52-AD346C0CD080}"/>
              </a:ext>
            </a:extLst>
          </p:cNvPr>
          <p:cNvSpPr>
            <a:spLocks noGrp="1"/>
          </p:cNvSpPr>
          <p:nvPr>
            <p:ph type="title"/>
          </p:nvPr>
        </p:nvSpPr>
        <p:spPr/>
        <p:txBody>
          <a:bodyPr/>
          <a:lstStyle/>
          <a:p>
            <a:r>
              <a:rPr lang="en-US" dirty="0" err="1"/>
              <a:t>Contd</a:t>
            </a:r>
            <a:r>
              <a:rPr lang="en-US" dirty="0"/>
              <a:t>…</a:t>
            </a:r>
            <a:endParaRPr lang="en-IN" dirty="0"/>
          </a:p>
        </p:txBody>
      </p:sp>
      <p:graphicFrame>
        <p:nvGraphicFramePr>
          <p:cNvPr id="4" name="Content Placeholder 3">
            <a:extLst>
              <a:ext uri="{FF2B5EF4-FFF2-40B4-BE49-F238E27FC236}">
                <a16:creationId xmlns:a16="http://schemas.microsoft.com/office/drawing/2014/main" id="{ABF52E78-4C9C-4F72-AF84-08D548D00EAD}"/>
              </a:ext>
            </a:extLst>
          </p:cNvPr>
          <p:cNvGraphicFramePr>
            <a:graphicFrameLocks noGrp="1"/>
          </p:cNvGraphicFramePr>
          <p:nvPr>
            <p:ph idx="1"/>
            <p:extLst>
              <p:ext uri="{D42A27DB-BD31-4B8C-83A1-F6EECF244321}">
                <p14:modId xmlns:p14="http://schemas.microsoft.com/office/powerpoint/2010/main" val="3440677669"/>
              </p:ext>
            </p:extLst>
          </p:nvPr>
        </p:nvGraphicFramePr>
        <p:xfrm>
          <a:off x="677863" y="2160588"/>
          <a:ext cx="8596311" cy="4920052"/>
        </p:xfrm>
        <a:graphic>
          <a:graphicData uri="http://schemas.openxmlformats.org/drawingml/2006/table">
            <a:tbl>
              <a:tblPr/>
              <a:tblGrid>
                <a:gridCol w="4305503">
                  <a:extLst>
                    <a:ext uri="{9D8B030D-6E8A-4147-A177-3AD203B41FA5}">
                      <a16:colId xmlns:a16="http://schemas.microsoft.com/office/drawing/2014/main" val="4070323271"/>
                    </a:ext>
                  </a:extLst>
                </a:gridCol>
                <a:gridCol w="4290808">
                  <a:extLst>
                    <a:ext uri="{9D8B030D-6E8A-4147-A177-3AD203B41FA5}">
                      <a16:colId xmlns:a16="http://schemas.microsoft.com/office/drawing/2014/main" val="1629678768"/>
                    </a:ext>
                  </a:extLst>
                </a:gridCol>
              </a:tblGrid>
              <a:tr h="791956">
                <a:tc>
                  <a:txBody>
                    <a:bodyPr/>
                    <a:lstStyle/>
                    <a:p>
                      <a:pPr marL="0" algn="ctr" defTabSz="457200" rtl="0" eaLnBrk="1" fontAlgn="base" latinLnBrk="0" hangingPunct="1"/>
                      <a:r>
                        <a:rPr lang="en-IN" sz="1600" b="1" kern="1200" cap="all" dirty="0">
                          <a:solidFill>
                            <a:srgbClr val="000000"/>
                          </a:solidFill>
                          <a:effectLst/>
                          <a:latin typeface="+mn-lt"/>
                          <a:ea typeface="+mn-ea"/>
                          <a:cs typeface="+mn-cs"/>
                        </a:rPr>
                        <a:t>PROCEDURAL ORIENTED PROGRAMMING</a:t>
                      </a:r>
                    </a:p>
                  </a:txBody>
                  <a:tcPr marL="58280" marR="58280" marT="58280" marB="58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marL="0" algn="ctr" defTabSz="457200" rtl="0" eaLnBrk="1" fontAlgn="base" latinLnBrk="0" hangingPunct="1"/>
                      <a:r>
                        <a:rPr lang="en-IN" sz="1600" b="1" kern="1200" cap="all" dirty="0">
                          <a:solidFill>
                            <a:srgbClr val="000000"/>
                          </a:solidFill>
                          <a:effectLst/>
                          <a:latin typeface="+mn-lt"/>
                          <a:ea typeface="+mn-ea"/>
                          <a:cs typeface="+mn-cs"/>
                        </a:rPr>
                        <a:t>OBJECT ORIENTED PROGRAMMING</a:t>
                      </a:r>
                    </a:p>
                  </a:txBody>
                  <a:tcPr marL="58280" marR="58280" marT="58280" marB="58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3386339993"/>
                  </a:ext>
                </a:extLst>
              </a:tr>
              <a:tr h="942806">
                <a:tc>
                  <a:txBody>
                    <a:bodyPr/>
                    <a:lstStyle/>
                    <a:p>
                      <a:pPr algn="l" fontAlgn="base"/>
                      <a:r>
                        <a:rPr lang="en-IN" sz="1600" b="0" dirty="0">
                          <a:effectLst/>
                        </a:rPr>
                        <a:t>Procedural programming does not have any proper way for hiding data so it is </a:t>
                      </a:r>
                      <a:r>
                        <a:rPr lang="en-IN" sz="1600" b="1" i="1" dirty="0">
                          <a:effectLst/>
                        </a:rPr>
                        <a:t>less secure</a:t>
                      </a:r>
                      <a:r>
                        <a:rPr lang="en-IN" sz="1600" b="0" dirty="0">
                          <a:effectLst/>
                        </a:rPr>
                        <a:t>.</a:t>
                      </a:r>
                    </a:p>
                  </a:txBody>
                  <a:tcPr marL="97105" marR="97105" marT="48553" marB="48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IN" sz="1600" b="0" dirty="0">
                          <a:effectLst/>
                        </a:rPr>
                        <a:t>Object oriented programming provides data hiding so it is </a:t>
                      </a:r>
                      <a:r>
                        <a:rPr lang="en-IN" sz="1600" b="1" i="1" dirty="0">
                          <a:effectLst/>
                        </a:rPr>
                        <a:t>more secure</a:t>
                      </a:r>
                      <a:r>
                        <a:rPr lang="en-IN" sz="1600" b="0" dirty="0">
                          <a:effectLst/>
                        </a:rPr>
                        <a:t>.</a:t>
                      </a:r>
                    </a:p>
                  </a:txBody>
                  <a:tcPr marL="97105" marR="97105" marT="48553" marB="48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68234843"/>
                  </a:ext>
                </a:extLst>
              </a:tr>
              <a:tr h="854809">
                <a:tc>
                  <a:txBody>
                    <a:bodyPr/>
                    <a:lstStyle/>
                    <a:p>
                      <a:pPr algn="l" fontAlgn="base"/>
                      <a:r>
                        <a:rPr lang="en-IN" sz="1600" b="0" dirty="0">
                          <a:effectLst/>
                        </a:rPr>
                        <a:t>In procedural programming, overloading is not possible.</a:t>
                      </a:r>
                    </a:p>
                  </a:txBody>
                  <a:tcPr marL="97105" marR="97105" marT="48553" marB="48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IN" sz="1600" b="0">
                          <a:effectLst/>
                        </a:rPr>
                        <a:t>Overloading is possible in object oriented programming.</a:t>
                      </a:r>
                    </a:p>
                  </a:txBody>
                  <a:tcPr marL="97105" marR="97105" marT="48553" marB="48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317999832"/>
                  </a:ext>
                </a:extLst>
              </a:tr>
              <a:tr h="855835">
                <a:tc>
                  <a:txBody>
                    <a:bodyPr/>
                    <a:lstStyle/>
                    <a:p>
                      <a:pPr algn="l" fontAlgn="base"/>
                      <a:r>
                        <a:rPr lang="en-IN" sz="1600" b="0">
                          <a:effectLst/>
                        </a:rPr>
                        <a:t>In procedural programming, function is more important than data.</a:t>
                      </a:r>
                    </a:p>
                  </a:txBody>
                  <a:tcPr marL="97105" marR="97105" marT="48553" marB="48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IN" sz="1600" b="0">
                          <a:effectLst/>
                        </a:rPr>
                        <a:t>In object oriented programming, data is more important than function.</a:t>
                      </a:r>
                    </a:p>
                  </a:txBody>
                  <a:tcPr marL="97105" marR="97105" marT="48553" marB="48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11332963"/>
                  </a:ext>
                </a:extLst>
              </a:tr>
              <a:tr h="860782">
                <a:tc>
                  <a:txBody>
                    <a:bodyPr/>
                    <a:lstStyle/>
                    <a:p>
                      <a:pPr algn="l" fontAlgn="base"/>
                      <a:r>
                        <a:rPr lang="en-IN" sz="1600" b="0">
                          <a:effectLst/>
                        </a:rPr>
                        <a:t>Procedural programming is based on </a:t>
                      </a:r>
                      <a:r>
                        <a:rPr lang="en-IN" sz="1600" b="1" i="1">
                          <a:effectLst/>
                        </a:rPr>
                        <a:t>unreal world</a:t>
                      </a:r>
                      <a:r>
                        <a:rPr lang="en-IN" sz="1600" b="0">
                          <a:effectLst/>
                        </a:rPr>
                        <a:t>.</a:t>
                      </a:r>
                    </a:p>
                  </a:txBody>
                  <a:tcPr marL="97105" marR="97105" marT="48553" marB="48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IN" sz="1600" b="0">
                          <a:effectLst/>
                        </a:rPr>
                        <a:t>Object oriented programming is based on </a:t>
                      </a:r>
                      <a:r>
                        <a:rPr lang="en-IN" sz="1600" b="1" i="1">
                          <a:effectLst/>
                        </a:rPr>
                        <a:t>real world</a:t>
                      </a:r>
                      <a:r>
                        <a:rPr lang="en-IN" sz="1600" b="0">
                          <a:effectLst/>
                        </a:rPr>
                        <a:t>.</a:t>
                      </a:r>
                    </a:p>
                  </a:txBody>
                  <a:tcPr marL="97105" marR="97105" marT="48553" marB="48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510522416"/>
                  </a:ext>
                </a:extLst>
              </a:tr>
              <a:tr h="613864">
                <a:tc>
                  <a:txBody>
                    <a:bodyPr/>
                    <a:lstStyle/>
                    <a:p>
                      <a:pPr algn="l" fontAlgn="base"/>
                      <a:r>
                        <a:rPr lang="en-IN" sz="1600" b="0">
                          <a:effectLst/>
                        </a:rPr>
                        <a:t>Examples: C, FORTRAN, Pascal, Basic etc.</a:t>
                      </a:r>
                    </a:p>
                  </a:txBody>
                  <a:tcPr marL="97105" marR="97105" marT="48553" marB="48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fr-FR" sz="1600" b="0" dirty="0" err="1">
                          <a:effectLst/>
                        </a:rPr>
                        <a:t>Examples</a:t>
                      </a:r>
                      <a:r>
                        <a:rPr lang="fr-FR" sz="1600" b="0" dirty="0">
                          <a:effectLst/>
                        </a:rPr>
                        <a:t>: C++, Java, Python, C# etc.</a:t>
                      </a:r>
                    </a:p>
                  </a:txBody>
                  <a:tcPr marL="97105" marR="97105" marT="48553" marB="48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795270374"/>
                  </a:ext>
                </a:extLst>
              </a:tr>
            </a:tbl>
          </a:graphicData>
        </a:graphic>
      </p:graphicFrame>
    </p:spTree>
    <p:extLst>
      <p:ext uri="{BB962C8B-B14F-4D97-AF65-F5344CB8AC3E}">
        <p14:creationId xmlns:p14="http://schemas.microsoft.com/office/powerpoint/2010/main" val="2987834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5E7F8-2D12-42DD-8F5E-5FBF33D5807A}"/>
              </a:ext>
            </a:extLst>
          </p:cNvPr>
          <p:cNvSpPr>
            <a:spLocks noGrp="1"/>
          </p:cNvSpPr>
          <p:nvPr>
            <p:ph type="title"/>
          </p:nvPr>
        </p:nvSpPr>
        <p:spPr>
          <a:xfrm>
            <a:off x="575734" y="81280"/>
            <a:ext cx="8596668" cy="568960"/>
          </a:xfrm>
        </p:spPr>
        <p:txBody>
          <a:bodyPr>
            <a:normAutofit fontScale="90000"/>
          </a:bodyPr>
          <a:lstStyle/>
          <a:p>
            <a:r>
              <a:rPr lang="en-US" dirty="0"/>
              <a:t>C++ vs Java</a:t>
            </a:r>
            <a:endParaRPr lang="en-IN" dirty="0"/>
          </a:p>
        </p:txBody>
      </p:sp>
      <p:graphicFrame>
        <p:nvGraphicFramePr>
          <p:cNvPr id="7" name="Content Placeholder 6">
            <a:extLst>
              <a:ext uri="{FF2B5EF4-FFF2-40B4-BE49-F238E27FC236}">
                <a16:creationId xmlns:a16="http://schemas.microsoft.com/office/drawing/2014/main" id="{A5E9F60B-CBAE-BDFB-A147-38E1A1BC52E3}"/>
              </a:ext>
            </a:extLst>
          </p:cNvPr>
          <p:cNvGraphicFramePr>
            <a:graphicFrameLocks noGrp="1"/>
          </p:cNvGraphicFramePr>
          <p:nvPr>
            <p:ph idx="1"/>
            <p:extLst>
              <p:ext uri="{D42A27DB-BD31-4B8C-83A1-F6EECF244321}">
                <p14:modId xmlns:p14="http://schemas.microsoft.com/office/powerpoint/2010/main" val="4144447637"/>
              </p:ext>
            </p:extLst>
          </p:nvPr>
        </p:nvGraphicFramePr>
        <p:xfrm>
          <a:off x="575734" y="904240"/>
          <a:ext cx="8760777" cy="17831782"/>
        </p:xfrm>
        <a:graphic>
          <a:graphicData uri="http://schemas.openxmlformats.org/drawingml/2006/table">
            <a:tbl>
              <a:tblPr firstRow="1" bandRow="1">
                <a:tableStyleId>{5C22544A-7EE6-4342-B048-85BDC9FD1C3A}</a:tableStyleId>
              </a:tblPr>
              <a:tblGrid>
                <a:gridCol w="1811338">
                  <a:extLst>
                    <a:ext uri="{9D8B030D-6E8A-4147-A177-3AD203B41FA5}">
                      <a16:colId xmlns:a16="http://schemas.microsoft.com/office/drawing/2014/main" val="1613894060"/>
                    </a:ext>
                  </a:extLst>
                </a:gridCol>
                <a:gridCol w="3099328">
                  <a:extLst>
                    <a:ext uri="{9D8B030D-6E8A-4147-A177-3AD203B41FA5}">
                      <a16:colId xmlns:a16="http://schemas.microsoft.com/office/drawing/2014/main" val="609746160"/>
                    </a:ext>
                  </a:extLst>
                </a:gridCol>
                <a:gridCol w="3850111">
                  <a:extLst>
                    <a:ext uri="{9D8B030D-6E8A-4147-A177-3AD203B41FA5}">
                      <a16:colId xmlns:a16="http://schemas.microsoft.com/office/drawing/2014/main" val="2885495768"/>
                    </a:ext>
                  </a:extLst>
                </a:gridCol>
              </a:tblGrid>
              <a:tr h="37758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2000" b="1" dirty="0">
                          <a:effectLst/>
                        </a:rPr>
                        <a:t>COMPARISON PARAMETER</a:t>
                      </a:r>
                      <a:endParaRPr lang="en-IN" sz="2000" dirty="0">
                        <a:effectLst/>
                      </a:endParaRPr>
                    </a:p>
                  </a:txBody>
                  <a:tcPr/>
                </a:tc>
                <a:tc>
                  <a:txBody>
                    <a:bodyPr/>
                    <a:lstStyle/>
                    <a:p>
                      <a:pPr algn="ctr" fontAlgn="ctr"/>
                      <a:r>
                        <a:rPr lang="en-IN" sz="2000" b="1" dirty="0">
                          <a:effectLst/>
                        </a:rPr>
                        <a:t>C++</a:t>
                      </a:r>
                      <a:endParaRPr lang="en-IN" sz="2000" dirty="0">
                        <a:effectLst/>
                      </a:endParaRPr>
                    </a:p>
                  </a:txBody>
                  <a:tcPr anchor="ctr"/>
                </a:tc>
                <a:tc>
                  <a:txBody>
                    <a:bodyPr/>
                    <a:lstStyle/>
                    <a:p>
                      <a:pPr algn="ctr" fontAlgn="ctr"/>
                      <a:r>
                        <a:rPr lang="en-IN" sz="2000" b="1" dirty="0">
                          <a:effectLst/>
                        </a:rPr>
                        <a:t>JAVA</a:t>
                      </a:r>
                      <a:endParaRPr lang="en-IN" sz="2000" dirty="0">
                        <a:effectLst/>
                      </a:endParaRPr>
                    </a:p>
                  </a:txBody>
                  <a:tcPr anchor="ctr"/>
                </a:tc>
                <a:extLst>
                  <a:ext uri="{0D108BD9-81ED-4DB2-BD59-A6C34878D82A}">
                    <a16:rowId xmlns:a16="http://schemas.microsoft.com/office/drawing/2014/main" val="2768115814"/>
                  </a:ext>
                </a:extLst>
              </a:tr>
              <a:tr h="2048241">
                <a:tc>
                  <a:txBody>
                    <a:bodyPr/>
                    <a:lstStyle/>
                    <a:p>
                      <a:pPr fontAlgn="ctr"/>
                      <a:r>
                        <a:rPr lang="en-IN" dirty="0">
                          <a:effectLst/>
                        </a:rPr>
                        <a:t>Developed / Founded by</a:t>
                      </a:r>
                    </a:p>
                  </a:txBody>
                  <a:tcPr anchor="ctr"/>
                </a:tc>
                <a:tc>
                  <a:txBody>
                    <a:bodyPr/>
                    <a:lstStyle/>
                    <a:p>
                      <a:pPr fontAlgn="ctr"/>
                      <a:r>
                        <a:rPr lang="en-US" dirty="0">
                          <a:effectLst/>
                        </a:rPr>
                        <a:t>C++ was developed by Bjarne </a:t>
                      </a:r>
                      <a:r>
                        <a:rPr lang="en-US" dirty="0" err="1">
                          <a:effectLst/>
                        </a:rPr>
                        <a:t>Stroustrup</a:t>
                      </a:r>
                      <a:r>
                        <a:rPr lang="en-US" dirty="0">
                          <a:effectLst/>
                        </a:rPr>
                        <a:t> at Bell Labs in 1979. It was developed as an extension of the C language.</a:t>
                      </a:r>
                    </a:p>
                  </a:txBody>
                  <a:tcPr anchor="ctr"/>
                </a:tc>
                <a:tc>
                  <a:txBody>
                    <a:bodyPr/>
                    <a:lstStyle/>
                    <a:p>
                      <a:pPr fontAlgn="ctr"/>
                      <a:r>
                        <a:rPr lang="en-US" dirty="0">
                          <a:effectLst/>
                        </a:rPr>
                        <a:t>Java was developed by James Gosling at Sun Microsystems. Now, it is owned by Oracle.</a:t>
                      </a:r>
                    </a:p>
                  </a:txBody>
                  <a:tcPr anchor="ctr"/>
                </a:tc>
                <a:extLst>
                  <a:ext uri="{0D108BD9-81ED-4DB2-BD59-A6C34878D82A}">
                    <a16:rowId xmlns:a16="http://schemas.microsoft.com/office/drawing/2014/main" val="3379074217"/>
                  </a:ext>
                </a:extLst>
              </a:tr>
              <a:tr h="1489630">
                <a:tc>
                  <a:txBody>
                    <a:bodyPr/>
                    <a:lstStyle/>
                    <a:p>
                      <a:pPr fontAlgn="ctr"/>
                      <a:r>
                        <a:rPr lang="en-IN" dirty="0">
                          <a:effectLst/>
                        </a:rPr>
                        <a:t>Programming model</a:t>
                      </a:r>
                    </a:p>
                  </a:txBody>
                  <a:tcPr anchor="ctr"/>
                </a:tc>
                <a:tc>
                  <a:txBody>
                    <a:bodyPr/>
                    <a:lstStyle/>
                    <a:p>
                      <a:pPr fontAlgn="ctr"/>
                      <a:r>
                        <a:rPr lang="en-US">
                          <a:effectLst/>
                        </a:rPr>
                        <a:t>It has support for both procedural programming and object-oriented programming.</a:t>
                      </a:r>
                    </a:p>
                  </a:txBody>
                  <a:tcPr anchor="ctr"/>
                </a:tc>
                <a:tc>
                  <a:txBody>
                    <a:bodyPr/>
                    <a:lstStyle/>
                    <a:p>
                      <a:pPr fontAlgn="ctr"/>
                      <a:r>
                        <a:rPr lang="en-US">
                          <a:effectLst/>
                        </a:rPr>
                        <a:t>Java has support only for object-oriented programming models.</a:t>
                      </a:r>
                    </a:p>
                  </a:txBody>
                  <a:tcPr anchor="ctr"/>
                </a:tc>
                <a:extLst>
                  <a:ext uri="{0D108BD9-81ED-4DB2-BD59-A6C34878D82A}">
                    <a16:rowId xmlns:a16="http://schemas.microsoft.com/office/drawing/2014/main" val="2170271617"/>
                  </a:ext>
                </a:extLst>
              </a:tr>
              <a:tr h="1768935">
                <a:tc>
                  <a:txBody>
                    <a:bodyPr/>
                    <a:lstStyle/>
                    <a:p>
                      <a:pPr fontAlgn="ctr"/>
                      <a:r>
                        <a:rPr lang="en-IN" dirty="0">
                          <a:effectLst/>
                        </a:rPr>
                        <a:t>Platform dependence</a:t>
                      </a:r>
                    </a:p>
                  </a:txBody>
                  <a:tcPr anchor="ctr"/>
                </a:tc>
                <a:tc>
                  <a:txBody>
                    <a:bodyPr/>
                    <a:lstStyle/>
                    <a:p>
                      <a:pPr fontAlgn="ctr"/>
                      <a:r>
                        <a:rPr lang="en-US">
                          <a:effectLst/>
                        </a:rPr>
                        <a:t>C++ is platform dependent. It is based on the concept of Write Once Compile Anywhere.</a:t>
                      </a:r>
                    </a:p>
                  </a:txBody>
                  <a:tcPr anchor="ctr"/>
                </a:tc>
                <a:tc>
                  <a:txBody>
                    <a:bodyPr/>
                    <a:lstStyle/>
                    <a:p>
                      <a:pPr fontAlgn="ctr"/>
                      <a:r>
                        <a:rPr lang="en-US">
                          <a:effectLst/>
                        </a:rPr>
                        <a:t>Java is platform-independent. It is based on the concept of Write Once Run Anywhere.</a:t>
                      </a:r>
                    </a:p>
                  </a:txBody>
                  <a:tcPr anchor="ctr"/>
                </a:tc>
                <a:extLst>
                  <a:ext uri="{0D108BD9-81ED-4DB2-BD59-A6C34878D82A}">
                    <a16:rowId xmlns:a16="http://schemas.microsoft.com/office/drawing/2014/main" val="352755143"/>
                  </a:ext>
                </a:extLst>
              </a:tr>
              <a:tr h="2327546">
                <a:tc>
                  <a:txBody>
                    <a:bodyPr/>
                    <a:lstStyle/>
                    <a:p>
                      <a:pPr fontAlgn="ctr"/>
                      <a:r>
                        <a:rPr lang="en-IN">
                          <a:effectLst/>
                        </a:rPr>
                        <a:t>Features supported</a:t>
                      </a:r>
                    </a:p>
                  </a:txBody>
                  <a:tcPr anchor="ctr"/>
                </a:tc>
                <a:tc>
                  <a:txBody>
                    <a:bodyPr/>
                    <a:lstStyle/>
                    <a:p>
                      <a:pPr fontAlgn="ctr"/>
                      <a:r>
                        <a:rPr lang="en-US">
                          <a:effectLst/>
                        </a:rPr>
                        <a:t>C++ supports features like operator overloading, Goto statements, structures, pointers, unions, etc.</a:t>
                      </a:r>
                    </a:p>
                  </a:txBody>
                  <a:tcPr anchor="ctr"/>
                </a:tc>
                <a:tc>
                  <a:txBody>
                    <a:bodyPr/>
                    <a:lstStyle/>
                    <a:p>
                      <a:pPr fontAlgn="ctr"/>
                      <a:r>
                        <a:rPr lang="en-US">
                          <a:effectLst/>
                        </a:rPr>
                        <a:t>Java does not support features like operator overloading, Goto statements, structures, pointers, unions, etc.</a:t>
                      </a:r>
                    </a:p>
                  </a:txBody>
                  <a:tcPr anchor="ctr"/>
                </a:tc>
                <a:extLst>
                  <a:ext uri="{0D108BD9-81ED-4DB2-BD59-A6C34878D82A}">
                    <a16:rowId xmlns:a16="http://schemas.microsoft.com/office/drawing/2014/main" val="287070559"/>
                  </a:ext>
                </a:extLst>
              </a:tr>
              <a:tr h="1210324">
                <a:tc>
                  <a:txBody>
                    <a:bodyPr/>
                    <a:lstStyle/>
                    <a:p>
                      <a:pPr fontAlgn="ctr"/>
                      <a:r>
                        <a:rPr lang="en-IN">
                          <a:effectLst/>
                        </a:rPr>
                        <a:t>Compilation and Interpretation</a:t>
                      </a:r>
                    </a:p>
                  </a:txBody>
                  <a:tcPr anchor="ctr"/>
                </a:tc>
                <a:tc>
                  <a:txBody>
                    <a:bodyPr/>
                    <a:lstStyle/>
                    <a:p>
                      <a:pPr fontAlgn="ctr"/>
                      <a:r>
                        <a:rPr lang="en-US">
                          <a:effectLst/>
                        </a:rPr>
                        <a:t>C ++ is only compiled and cannot be interpreted.</a:t>
                      </a:r>
                    </a:p>
                  </a:txBody>
                  <a:tcPr anchor="ctr"/>
                </a:tc>
                <a:tc>
                  <a:txBody>
                    <a:bodyPr/>
                    <a:lstStyle/>
                    <a:p>
                      <a:pPr fontAlgn="ctr"/>
                      <a:r>
                        <a:rPr lang="en-US">
                          <a:effectLst/>
                        </a:rPr>
                        <a:t>Java can be both compiled and interpreted.</a:t>
                      </a:r>
                    </a:p>
                  </a:txBody>
                  <a:tcPr anchor="ctr"/>
                </a:tc>
                <a:extLst>
                  <a:ext uri="{0D108BD9-81ED-4DB2-BD59-A6C34878D82A}">
                    <a16:rowId xmlns:a16="http://schemas.microsoft.com/office/drawing/2014/main" val="3611113872"/>
                  </a:ext>
                </a:extLst>
              </a:tr>
              <a:tr h="3444769">
                <a:tc>
                  <a:txBody>
                    <a:bodyPr/>
                    <a:lstStyle/>
                    <a:p>
                      <a:pPr fontAlgn="ctr"/>
                      <a:r>
                        <a:rPr lang="en-US">
                          <a:effectLst/>
                        </a:rPr>
                        <a:t>Library and Code reusability support</a:t>
                      </a:r>
                    </a:p>
                  </a:txBody>
                  <a:tcPr anchor="ctr"/>
                </a:tc>
                <a:tc>
                  <a:txBody>
                    <a:bodyPr/>
                    <a:lstStyle/>
                    <a:p>
                      <a:pPr fontAlgn="ctr"/>
                      <a:r>
                        <a:rPr lang="en-US">
                          <a:effectLst/>
                        </a:rPr>
                        <a:t>C++ has very limited libraries with low-level functionalities. C++ allows direct calls to native system libraries.</a:t>
                      </a:r>
                    </a:p>
                  </a:txBody>
                  <a:tcPr anchor="ctr"/>
                </a:tc>
                <a:tc>
                  <a:txBody>
                    <a:bodyPr/>
                    <a:lstStyle/>
                    <a:p>
                      <a:pPr fontAlgn="ctr"/>
                      <a:r>
                        <a:rPr lang="en-US" dirty="0">
                          <a:effectLst/>
                        </a:rPr>
                        <a:t>Java, on the other hand, has more diverse libraries with a lot of support for code reusability. In Java, only calls through the Java Native Interface and recently Java Native Access are allowed.</a:t>
                      </a:r>
                    </a:p>
                  </a:txBody>
                  <a:tcPr anchor="ctr"/>
                </a:tc>
                <a:extLst>
                  <a:ext uri="{0D108BD9-81ED-4DB2-BD59-A6C34878D82A}">
                    <a16:rowId xmlns:a16="http://schemas.microsoft.com/office/drawing/2014/main" val="44931083"/>
                  </a:ext>
                </a:extLst>
              </a:tr>
              <a:tr h="931019">
                <a:tc>
                  <a:txBody>
                    <a:bodyPr/>
                    <a:lstStyle/>
                    <a:p>
                      <a:pPr fontAlgn="ctr"/>
                      <a:r>
                        <a:rPr lang="en-IN">
                          <a:effectLst/>
                        </a:rPr>
                        <a:t>Memory Management</a:t>
                      </a:r>
                    </a:p>
                  </a:txBody>
                  <a:tcPr anchor="ctr"/>
                </a:tc>
                <a:tc>
                  <a:txBody>
                    <a:bodyPr/>
                    <a:lstStyle/>
                    <a:p>
                      <a:pPr fontAlgn="ctr"/>
                      <a:r>
                        <a:rPr lang="en-US">
                          <a:effectLst/>
                        </a:rPr>
                        <a:t>In C++, memory management is manual.</a:t>
                      </a:r>
                    </a:p>
                  </a:txBody>
                  <a:tcPr anchor="ctr"/>
                </a:tc>
                <a:tc>
                  <a:txBody>
                    <a:bodyPr/>
                    <a:lstStyle/>
                    <a:p>
                      <a:pPr fontAlgn="ctr"/>
                      <a:r>
                        <a:rPr lang="en-US">
                          <a:effectLst/>
                        </a:rPr>
                        <a:t>In Java, memory management is System controlled.</a:t>
                      </a:r>
                    </a:p>
                  </a:txBody>
                  <a:tcPr anchor="ctr"/>
                </a:tc>
                <a:extLst>
                  <a:ext uri="{0D108BD9-81ED-4DB2-BD59-A6C34878D82A}">
                    <a16:rowId xmlns:a16="http://schemas.microsoft.com/office/drawing/2014/main" val="1778516432"/>
                  </a:ext>
                </a:extLst>
              </a:tr>
              <a:tr h="1210324">
                <a:tc>
                  <a:txBody>
                    <a:bodyPr/>
                    <a:lstStyle/>
                    <a:p>
                      <a:pPr fontAlgn="ctr"/>
                      <a:r>
                        <a:rPr lang="en-IN">
                          <a:effectLst/>
                        </a:rPr>
                        <a:t>Type semantics</a:t>
                      </a:r>
                    </a:p>
                  </a:txBody>
                  <a:tcPr anchor="ctr"/>
                </a:tc>
                <a:tc>
                  <a:txBody>
                    <a:bodyPr/>
                    <a:lstStyle/>
                    <a:p>
                      <a:pPr fontAlgn="ctr"/>
                      <a:r>
                        <a:rPr lang="en-US">
                          <a:effectLst/>
                        </a:rPr>
                        <a:t>C++ is pretty consistent between primitive and object types.</a:t>
                      </a:r>
                    </a:p>
                  </a:txBody>
                  <a:tcPr anchor="ctr"/>
                </a:tc>
                <a:tc>
                  <a:txBody>
                    <a:bodyPr/>
                    <a:lstStyle/>
                    <a:p>
                      <a:pPr fontAlgn="ctr"/>
                      <a:r>
                        <a:rPr lang="en-US">
                          <a:effectLst/>
                        </a:rPr>
                        <a:t>In Java, semantics differs for primitive and object types.</a:t>
                      </a:r>
                    </a:p>
                  </a:txBody>
                  <a:tcPr anchor="ctr"/>
                </a:tc>
                <a:extLst>
                  <a:ext uri="{0D108BD9-81ED-4DB2-BD59-A6C34878D82A}">
                    <a16:rowId xmlns:a16="http://schemas.microsoft.com/office/drawing/2014/main" val="1498248840"/>
                  </a:ext>
                </a:extLst>
              </a:tr>
              <a:tr h="1210324">
                <a:tc>
                  <a:txBody>
                    <a:bodyPr/>
                    <a:lstStyle/>
                    <a:p>
                      <a:pPr fontAlgn="ctr"/>
                      <a:r>
                        <a:rPr lang="en-IN">
                          <a:effectLst/>
                        </a:rPr>
                        <a:t>Global Scope</a:t>
                      </a:r>
                    </a:p>
                  </a:txBody>
                  <a:tcPr anchor="ctr"/>
                </a:tc>
                <a:tc>
                  <a:txBody>
                    <a:bodyPr/>
                    <a:lstStyle/>
                    <a:p>
                      <a:pPr fontAlgn="ctr"/>
                      <a:r>
                        <a:rPr lang="en-US">
                          <a:effectLst/>
                        </a:rPr>
                        <a:t>In C++, both global and namespace scopes are supported.</a:t>
                      </a:r>
                    </a:p>
                  </a:txBody>
                  <a:tcPr anchor="ctr"/>
                </a:tc>
                <a:tc>
                  <a:txBody>
                    <a:bodyPr/>
                    <a:lstStyle/>
                    <a:p>
                      <a:pPr fontAlgn="ctr"/>
                      <a:r>
                        <a:rPr lang="en-US">
                          <a:effectLst/>
                        </a:rPr>
                        <a:t>Java has no support for global scope.</a:t>
                      </a:r>
                    </a:p>
                  </a:txBody>
                  <a:tcPr anchor="ctr"/>
                </a:tc>
                <a:extLst>
                  <a:ext uri="{0D108BD9-81ED-4DB2-BD59-A6C34878D82A}">
                    <a16:rowId xmlns:a16="http://schemas.microsoft.com/office/drawing/2014/main" val="1397139216"/>
                  </a:ext>
                </a:extLst>
              </a:tr>
              <a:tr h="1489630">
                <a:tc>
                  <a:txBody>
                    <a:bodyPr/>
                    <a:lstStyle/>
                    <a:p>
                      <a:pPr fontAlgn="ctr"/>
                      <a:r>
                        <a:rPr lang="en-US" dirty="0">
                          <a:effectLst/>
                        </a:rPr>
                        <a:t>Access control and object protection</a:t>
                      </a:r>
                    </a:p>
                  </a:txBody>
                  <a:tcPr anchor="ctr"/>
                </a:tc>
                <a:tc>
                  <a:txBody>
                    <a:bodyPr/>
                    <a:lstStyle/>
                    <a:p>
                      <a:pPr fontAlgn="ctr"/>
                      <a:r>
                        <a:rPr lang="en-US">
                          <a:effectLst/>
                        </a:rPr>
                        <a:t>In C++, a flexible model with constant protection is available.</a:t>
                      </a:r>
                    </a:p>
                  </a:txBody>
                  <a:tcPr anchor="ctr"/>
                </a:tc>
                <a:tc>
                  <a:txBody>
                    <a:bodyPr/>
                    <a:lstStyle/>
                    <a:p>
                      <a:pPr fontAlgn="ctr"/>
                      <a:r>
                        <a:rPr lang="en-US" dirty="0">
                          <a:effectLst/>
                        </a:rPr>
                        <a:t>In Java, the model is cumbersome and encourages weak encapsulation.</a:t>
                      </a:r>
                    </a:p>
                  </a:txBody>
                  <a:tcPr anchor="ctr"/>
                </a:tc>
                <a:extLst>
                  <a:ext uri="{0D108BD9-81ED-4DB2-BD59-A6C34878D82A}">
                    <a16:rowId xmlns:a16="http://schemas.microsoft.com/office/drawing/2014/main" val="4271827821"/>
                  </a:ext>
                </a:extLst>
              </a:tr>
            </a:tbl>
          </a:graphicData>
        </a:graphic>
      </p:graphicFrame>
    </p:spTree>
    <p:extLst>
      <p:ext uri="{BB962C8B-B14F-4D97-AF65-F5344CB8AC3E}">
        <p14:creationId xmlns:p14="http://schemas.microsoft.com/office/powerpoint/2010/main" val="1424045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5E7F8-2D12-42DD-8F5E-5FBF33D5807A}"/>
              </a:ext>
            </a:extLst>
          </p:cNvPr>
          <p:cNvSpPr>
            <a:spLocks noGrp="1"/>
          </p:cNvSpPr>
          <p:nvPr>
            <p:ph type="title"/>
          </p:nvPr>
        </p:nvSpPr>
        <p:spPr>
          <a:xfrm>
            <a:off x="575734" y="81280"/>
            <a:ext cx="8596668" cy="568960"/>
          </a:xfrm>
        </p:spPr>
        <p:txBody>
          <a:bodyPr>
            <a:normAutofit fontScale="90000"/>
          </a:bodyPr>
          <a:lstStyle/>
          <a:p>
            <a:r>
              <a:rPr lang="en-US" dirty="0"/>
              <a:t>C++ vs Java</a:t>
            </a:r>
            <a:endParaRPr lang="en-IN" dirty="0"/>
          </a:p>
        </p:txBody>
      </p:sp>
      <p:graphicFrame>
        <p:nvGraphicFramePr>
          <p:cNvPr id="7" name="Content Placeholder 6">
            <a:extLst>
              <a:ext uri="{FF2B5EF4-FFF2-40B4-BE49-F238E27FC236}">
                <a16:creationId xmlns:a16="http://schemas.microsoft.com/office/drawing/2014/main" id="{A5E9F60B-CBAE-BDFB-A147-38E1A1BC52E3}"/>
              </a:ext>
            </a:extLst>
          </p:cNvPr>
          <p:cNvGraphicFramePr>
            <a:graphicFrameLocks noGrp="1"/>
          </p:cNvGraphicFramePr>
          <p:nvPr>
            <p:ph idx="1"/>
            <p:extLst>
              <p:ext uri="{D42A27DB-BD31-4B8C-83A1-F6EECF244321}">
                <p14:modId xmlns:p14="http://schemas.microsoft.com/office/powerpoint/2010/main" val="889116709"/>
              </p:ext>
            </p:extLst>
          </p:nvPr>
        </p:nvGraphicFramePr>
        <p:xfrm>
          <a:off x="575734" y="731520"/>
          <a:ext cx="8760777" cy="12524976"/>
        </p:xfrm>
        <a:graphic>
          <a:graphicData uri="http://schemas.openxmlformats.org/drawingml/2006/table">
            <a:tbl>
              <a:tblPr firstRow="1" bandRow="1">
                <a:tableStyleId>{5C22544A-7EE6-4342-B048-85BDC9FD1C3A}</a:tableStyleId>
              </a:tblPr>
              <a:tblGrid>
                <a:gridCol w="1811338">
                  <a:extLst>
                    <a:ext uri="{9D8B030D-6E8A-4147-A177-3AD203B41FA5}">
                      <a16:colId xmlns:a16="http://schemas.microsoft.com/office/drawing/2014/main" val="1613894060"/>
                    </a:ext>
                  </a:extLst>
                </a:gridCol>
                <a:gridCol w="2865648">
                  <a:extLst>
                    <a:ext uri="{9D8B030D-6E8A-4147-A177-3AD203B41FA5}">
                      <a16:colId xmlns:a16="http://schemas.microsoft.com/office/drawing/2014/main" val="609746160"/>
                    </a:ext>
                  </a:extLst>
                </a:gridCol>
                <a:gridCol w="4083791">
                  <a:extLst>
                    <a:ext uri="{9D8B030D-6E8A-4147-A177-3AD203B41FA5}">
                      <a16:colId xmlns:a16="http://schemas.microsoft.com/office/drawing/2014/main" val="2885495768"/>
                    </a:ext>
                  </a:extLst>
                </a:gridCol>
              </a:tblGrid>
              <a:tr h="37758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2000" b="1" dirty="0">
                          <a:effectLst/>
                        </a:rPr>
                        <a:t>COMPARISON PARAMETER</a:t>
                      </a:r>
                      <a:endParaRPr lang="en-IN" sz="2000" dirty="0">
                        <a:effectLst/>
                      </a:endParaRPr>
                    </a:p>
                  </a:txBody>
                  <a:tcPr/>
                </a:tc>
                <a:tc>
                  <a:txBody>
                    <a:bodyPr/>
                    <a:lstStyle/>
                    <a:p>
                      <a:pPr algn="ctr" fontAlgn="ctr"/>
                      <a:r>
                        <a:rPr lang="en-IN" sz="2000" b="1" dirty="0">
                          <a:effectLst/>
                        </a:rPr>
                        <a:t>C++</a:t>
                      </a:r>
                      <a:endParaRPr lang="en-IN" sz="2000" dirty="0">
                        <a:effectLst/>
                      </a:endParaRPr>
                    </a:p>
                  </a:txBody>
                  <a:tcPr anchor="ctr"/>
                </a:tc>
                <a:tc>
                  <a:txBody>
                    <a:bodyPr/>
                    <a:lstStyle/>
                    <a:p>
                      <a:pPr algn="ctr" fontAlgn="ctr"/>
                      <a:r>
                        <a:rPr lang="en-IN" sz="2000" b="1" dirty="0">
                          <a:effectLst/>
                        </a:rPr>
                        <a:t>JAVA</a:t>
                      </a:r>
                      <a:endParaRPr lang="en-IN" sz="2000" dirty="0">
                        <a:effectLst/>
                      </a:endParaRPr>
                    </a:p>
                  </a:txBody>
                  <a:tcPr anchor="ctr"/>
                </a:tc>
                <a:extLst>
                  <a:ext uri="{0D108BD9-81ED-4DB2-BD59-A6C34878D82A}">
                    <a16:rowId xmlns:a16="http://schemas.microsoft.com/office/drawing/2014/main" val="2768115814"/>
                  </a:ext>
                </a:extLst>
              </a:tr>
              <a:tr h="2327546">
                <a:tc>
                  <a:txBody>
                    <a:bodyPr/>
                    <a:lstStyle/>
                    <a:p>
                      <a:pPr fontAlgn="ctr"/>
                      <a:r>
                        <a:rPr lang="en-IN" dirty="0">
                          <a:effectLst/>
                        </a:rPr>
                        <a:t>Features supported</a:t>
                      </a:r>
                    </a:p>
                  </a:txBody>
                  <a:tcPr anchor="ctr"/>
                </a:tc>
                <a:tc>
                  <a:txBody>
                    <a:bodyPr/>
                    <a:lstStyle/>
                    <a:p>
                      <a:pPr fontAlgn="ctr"/>
                      <a:r>
                        <a:rPr lang="en-US">
                          <a:effectLst/>
                        </a:rPr>
                        <a:t>C++ supports features like operator overloading, Goto statements, structures, pointers, unions, etc.</a:t>
                      </a:r>
                    </a:p>
                  </a:txBody>
                  <a:tcPr anchor="ctr"/>
                </a:tc>
                <a:tc>
                  <a:txBody>
                    <a:bodyPr/>
                    <a:lstStyle/>
                    <a:p>
                      <a:pPr fontAlgn="ctr"/>
                      <a:r>
                        <a:rPr lang="en-US" dirty="0">
                          <a:effectLst/>
                        </a:rPr>
                        <a:t>Java does not support features like operator overloading, Goto statements, structures, pointers, unions, etc.</a:t>
                      </a:r>
                    </a:p>
                  </a:txBody>
                  <a:tcPr anchor="ctr"/>
                </a:tc>
                <a:extLst>
                  <a:ext uri="{0D108BD9-81ED-4DB2-BD59-A6C34878D82A}">
                    <a16:rowId xmlns:a16="http://schemas.microsoft.com/office/drawing/2014/main" val="287070559"/>
                  </a:ext>
                </a:extLst>
              </a:tr>
              <a:tr h="1210324">
                <a:tc>
                  <a:txBody>
                    <a:bodyPr/>
                    <a:lstStyle/>
                    <a:p>
                      <a:pPr fontAlgn="ctr"/>
                      <a:r>
                        <a:rPr lang="en-IN" dirty="0">
                          <a:effectLst/>
                        </a:rPr>
                        <a:t>Compilation and Interpretation</a:t>
                      </a:r>
                    </a:p>
                  </a:txBody>
                  <a:tcPr anchor="ctr"/>
                </a:tc>
                <a:tc>
                  <a:txBody>
                    <a:bodyPr/>
                    <a:lstStyle/>
                    <a:p>
                      <a:pPr fontAlgn="ctr"/>
                      <a:r>
                        <a:rPr lang="en-US">
                          <a:effectLst/>
                        </a:rPr>
                        <a:t>C ++ is only compiled and cannot be interpreted.</a:t>
                      </a:r>
                    </a:p>
                  </a:txBody>
                  <a:tcPr anchor="ctr"/>
                </a:tc>
                <a:tc>
                  <a:txBody>
                    <a:bodyPr/>
                    <a:lstStyle/>
                    <a:p>
                      <a:pPr fontAlgn="ctr"/>
                      <a:r>
                        <a:rPr lang="en-US">
                          <a:effectLst/>
                        </a:rPr>
                        <a:t>Java can be both compiled and interpreted.</a:t>
                      </a:r>
                    </a:p>
                  </a:txBody>
                  <a:tcPr anchor="ctr"/>
                </a:tc>
                <a:extLst>
                  <a:ext uri="{0D108BD9-81ED-4DB2-BD59-A6C34878D82A}">
                    <a16:rowId xmlns:a16="http://schemas.microsoft.com/office/drawing/2014/main" val="3611113872"/>
                  </a:ext>
                </a:extLst>
              </a:tr>
              <a:tr h="3444769">
                <a:tc>
                  <a:txBody>
                    <a:bodyPr/>
                    <a:lstStyle/>
                    <a:p>
                      <a:pPr fontAlgn="ctr"/>
                      <a:r>
                        <a:rPr lang="en-US" dirty="0">
                          <a:effectLst/>
                        </a:rPr>
                        <a:t>Library and Code reusability support</a:t>
                      </a:r>
                    </a:p>
                  </a:txBody>
                  <a:tcPr anchor="ctr"/>
                </a:tc>
                <a:tc>
                  <a:txBody>
                    <a:bodyPr/>
                    <a:lstStyle/>
                    <a:p>
                      <a:pPr fontAlgn="ctr"/>
                      <a:r>
                        <a:rPr lang="en-US">
                          <a:effectLst/>
                        </a:rPr>
                        <a:t>C++ has very limited libraries with low-level functionalities. C++ allows direct calls to native system libraries.</a:t>
                      </a:r>
                    </a:p>
                  </a:txBody>
                  <a:tcPr anchor="ctr"/>
                </a:tc>
                <a:tc>
                  <a:txBody>
                    <a:bodyPr/>
                    <a:lstStyle/>
                    <a:p>
                      <a:pPr fontAlgn="ctr"/>
                      <a:r>
                        <a:rPr lang="en-US" dirty="0">
                          <a:effectLst/>
                        </a:rPr>
                        <a:t>Java, on the other hand, has more diverse libraries with a lot of support for code reusability. In Java, only calls through the Java Native Interface and recently Java Native Access are allowed.</a:t>
                      </a:r>
                    </a:p>
                  </a:txBody>
                  <a:tcPr anchor="ctr"/>
                </a:tc>
                <a:extLst>
                  <a:ext uri="{0D108BD9-81ED-4DB2-BD59-A6C34878D82A}">
                    <a16:rowId xmlns:a16="http://schemas.microsoft.com/office/drawing/2014/main" val="44931083"/>
                  </a:ext>
                </a:extLst>
              </a:tr>
              <a:tr h="931019">
                <a:tc>
                  <a:txBody>
                    <a:bodyPr/>
                    <a:lstStyle/>
                    <a:p>
                      <a:pPr fontAlgn="ctr"/>
                      <a:r>
                        <a:rPr lang="en-IN">
                          <a:effectLst/>
                        </a:rPr>
                        <a:t>Memory Management</a:t>
                      </a:r>
                    </a:p>
                  </a:txBody>
                  <a:tcPr anchor="ctr"/>
                </a:tc>
                <a:tc>
                  <a:txBody>
                    <a:bodyPr/>
                    <a:lstStyle/>
                    <a:p>
                      <a:pPr fontAlgn="ctr"/>
                      <a:r>
                        <a:rPr lang="en-US">
                          <a:effectLst/>
                        </a:rPr>
                        <a:t>In C++, memory management is manual.</a:t>
                      </a:r>
                    </a:p>
                  </a:txBody>
                  <a:tcPr anchor="ctr"/>
                </a:tc>
                <a:tc>
                  <a:txBody>
                    <a:bodyPr/>
                    <a:lstStyle/>
                    <a:p>
                      <a:pPr fontAlgn="ctr"/>
                      <a:r>
                        <a:rPr lang="en-US">
                          <a:effectLst/>
                        </a:rPr>
                        <a:t>In Java, memory management is System controlled.</a:t>
                      </a:r>
                    </a:p>
                  </a:txBody>
                  <a:tcPr anchor="ctr"/>
                </a:tc>
                <a:extLst>
                  <a:ext uri="{0D108BD9-81ED-4DB2-BD59-A6C34878D82A}">
                    <a16:rowId xmlns:a16="http://schemas.microsoft.com/office/drawing/2014/main" val="1778516432"/>
                  </a:ext>
                </a:extLst>
              </a:tr>
              <a:tr h="1210324">
                <a:tc>
                  <a:txBody>
                    <a:bodyPr/>
                    <a:lstStyle/>
                    <a:p>
                      <a:pPr fontAlgn="ctr"/>
                      <a:r>
                        <a:rPr lang="en-IN">
                          <a:effectLst/>
                        </a:rPr>
                        <a:t>Type semantics</a:t>
                      </a:r>
                    </a:p>
                  </a:txBody>
                  <a:tcPr anchor="ctr"/>
                </a:tc>
                <a:tc>
                  <a:txBody>
                    <a:bodyPr/>
                    <a:lstStyle/>
                    <a:p>
                      <a:pPr fontAlgn="ctr"/>
                      <a:r>
                        <a:rPr lang="en-US">
                          <a:effectLst/>
                        </a:rPr>
                        <a:t>C++ is pretty consistent between primitive and object types.</a:t>
                      </a:r>
                    </a:p>
                  </a:txBody>
                  <a:tcPr anchor="ctr"/>
                </a:tc>
                <a:tc>
                  <a:txBody>
                    <a:bodyPr/>
                    <a:lstStyle/>
                    <a:p>
                      <a:pPr fontAlgn="ctr"/>
                      <a:r>
                        <a:rPr lang="en-US">
                          <a:effectLst/>
                        </a:rPr>
                        <a:t>In Java, semantics differs for primitive and object types.</a:t>
                      </a:r>
                    </a:p>
                  </a:txBody>
                  <a:tcPr anchor="ctr"/>
                </a:tc>
                <a:extLst>
                  <a:ext uri="{0D108BD9-81ED-4DB2-BD59-A6C34878D82A}">
                    <a16:rowId xmlns:a16="http://schemas.microsoft.com/office/drawing/2014/main" val="1498248840"/>
                  </a:ext>
                </a:extLst>
              </a:tr>
              <a:tr h="1210324">
                <a:tc>
                  <a:txBody>
                    <a:bodyPr/>
                    <a:lstStyle/>
                    <a:p>
                      <a:pPr fontAlgn="ctr"/>
                      <a:r>
                        <a:rPr lang="en-IN">
                          <a:effectLst/>
                        </a:rPr>
                        <a:t>Global Scope</a:t>
                      </a:r>
                    </a:p>
                  </a:txBody>
                  <a:tcPr anchor="ctr"/>
                </a:tc>
                <a:tc>
                  <a:txBody>
                    <a:bodyPr/>
                    <a:lstStyle/>
                    <a:p>
                      <a:pPr fontAlgn="ctr"/>
                      <a:r>
                        <a:rPr lang="en-US">
                          <a:effectLst/>
                        </a:rPr>
                        <a:t>In C++, both global and namespace scopes are supported.</a:t>
                      </a:r>
                    </a:p>
                  </a:txBody>
                  <a:tcPr anchor="ctr"/>
                </a:tc>
                <a:tc>
                  <a:txBody>
                    <a:bodyPr/>
                    <a:lstStyle/>
                    <a:p>
                      <a:pPr fontAlgn="ctr"/>
                      <a:r>
                        <a:rPr lang="en-US">
                          <a:effectLst/>
                        </a:rPr>
                        <a:t>Java has no support for global scope.</a:t>
                      </a:r>
                    </a:p>
                  </a:txBody>
                  <a:tcPr anchor="ctr"/>
                </a:tc>
                <a:extLst>
                  <a:ext uri="{0D108BD9-81ED-4DB2-BD59-A6C34878D82A}">
                    <a16:rowId xmlns:a16="http://schemas.microsoft.com/office/drawing/2014/main" val="1397139216"/>
                  </a:ext>
                </a:extLst>
              </a:tr>
              <a:tr h="1489630">
                <a:tc>
                  <a:txBody>
                    <a:bodyPr/>
                    <a:lstStyle/>
                    <a:p>
                      <a:pPr fontAlgn="ctr"/>
                      <a:r>
                        <a:rPr lang="en-US" dirty="0">
                          <a:effectLst/>
                        </a:rPr>
                        <a:t>Access control and object protection</a:t>
                      </a:r>
                    </a:p>
                  </a:txBody>
                  <a:tcPr anchor="ctr"/>
                </a:tc>
                <a:tc>
                  <a:txBody>
                    <a:bodyPr/>
                    <a:lstStyle/>
                    <a:p>
                      <a:pPr fontAlgn="ctr"/>
                      <a:r>
                        <a:rPr lang="en-US">
                          <a:effectLst/>
                        </a:rPr>
                        <a:t>In C++, a flexible model with constant protection is available.</a:t>
                      </a:r>
                    </a:p>
                  </a:txBody>
                  <a:tcPr anchor="ctr"/>
                </a:tc>
                <a:tc>
                  <a:txBody>
                    <a:bodyPr/>
                    <a:lstStyle/>
                    <a:p>
                      <a:pPr fontAlgn="ctr"/>
                      <a:r>
                        <a:rPr lang="en-US" dirty="0">
                          <a:effectLst/>
                        </a:rPr>
                        <a:t>In Java, the model is cumbersome and encourages weak encapsulation.</a:t>
                      </a:r>
                    </a:p>
                  </a:txBody>
                  <a:tcPr anchor="ctr"/>
                </a:tc>
                <a:extLst>
                  <a:ext uri="{0D108BD9-81ED-4DB2-BD59-A6C34878D82A}">
                    <a16:rowId xmlns:a16="http://schemas.microsoft.com/office/drawing/2014/main" val="4271827821"/>
                  </a:ext>
                </a:extLst>
              </a:tr>
            </a:tbl>
          </a:graphicData>
        </a:graphic>
      </p:graphicFrame>
    </p:spTree>
    <p:extLst>
      <p:ext uri="{BB962C8B-B14F-4D97-AF65-F5344CB8AC3E}">
        <p14:creationId xmlns:p14="http://schemas.microsoft.com/office/powerpoint/2010/main" val="895090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5E7F8-2D12-42DD-8F5E-5FBF33D5807A}"/>
              </a:ext>
            </a:extLst>
          </p:cNvPr>
          <p:cNvSpPr>
            <a:spLocks noGrp="1"/>
          </p:cNvSpPr>
          <p:nvPr>
            <p:ph type="title"/>
          </p:nvPr>
        </p:nvSpPr>
        <p:spPr>
          <a:xfrm>
            <a:off x="575734" y="81280"/>
            <a:ext cx="8596668" cy="568960"/>
          </a:xfrm>
        </p:spPr>
        <p:txBody>
          <a:bodyPr>
            <a:normAutofit fontScale="90000"/>
          </a:bodyPr>
          <a:lstStyle/>
          <a:p>
            <a:r>
              <a:rPr lang="en-US" dirty="0"/>
              <a:t>C++ vs Java</a:t>
            </a:r>
            <a:endParaRPr lang="en-IN" dirty="0"/>
          </a:p>
        </p:txBody>
      </p:sp>
      <p:graphicFrame>
        <p:nvGraphicFramePr>
          <p:cNvPr id="7" name="Content Placeholder 6">
            <a:extLst>
              <a:ext uri="{FF2B5EF4-FFF2-40B4-BE49-F238E27FC236}">
                <a16:creationId xmlns:a16="http://schemas.microsoft.com/office/drawing/2014/main" id="{A5E9F60B-CBAE-BDFB-A147-38E1A1BC52E3}"/>
              </a:ext>
            </a:extLst>
          </p:cNvPr>
          <p:cNvGraphicFramePr>
            <a:graphicFrameLocks noGrp="1"/>
          </p:cNvGraphicFramePr>
          <p:nvPr>
            <p:ph idx="1"/>
            <p:extLst>
              <p:ext uri="{D42A27DB-BD31-4B8C-83A1-F6EECF244321}">
                <p14:modId xmlns:p14="http://schemas.microsoft.com/office/powerpoint/2010/main" val="2986809018"/>
              </p:ext>
            </p:extLst>
          </p:nvPr>
        </p:nvGraphicFramePr>
        <p:xfrm>
          <a:off x="575734" y="904240"/>
          <a:ext cx="8760777" cy="5542337"/>
        </p:xfrm>
        <a:graphic>
          <a:graphicData uri="http://schemas.openxmlformats.org/drawingml/2006/table">
            <a:tbl>
              <a:tblPr firstRow="1" bandRow="1">
                <a:tableStyleId>{5C22544A-7EE6-4342-B048-85BDC9FD1C3A}</a:tableStyleId>
              </a:tblPr>
              <a:tblGrid>
                <a:gridCol w="1811338">
                  <a:extLst>
                    <a:ext uri="{9D8B030D-6E8A-4147-A177-3AD203B41FA5}">
                      <a16:colId xmlns:a16="http://schemas.microsoft.com/office/drawing/2014/main" val="1613894060"/>
                    </a:ext>
                  </a:extLst>
                </a:gridCol>
                <a:gridCol w="3089168">
                  <a:extLst>
                    <a:ext uri="{9D8B030D-6E8A-4147-A177-3AD203B41FA5}">
                      <a16:colId xmlns:a16="http://schemas.microsoft.com/office/drawing/2014/main" val="609746160"/>
                    </a:ext>
                  </a:extLst>
                </a:gridCol>
                <a:gridCol w="3860271">
                  <a:extLst>
                    <a:ext uri="{9D8B030D-6E8A-4147-A177-3AD203B41FA5}">
                      <a16:colId xmlns:a16="http://schemas.microsoft.com/office/drawing/2014/main" val="2885495768"/>
                    </a:ext>
                  </a:extLst>
                </a:gridCol>
              </a:tblGrid>
              <a:tr h="37758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2000" b="1" dirty="0">
                          <a:effectLst/>
                        </a:rPr>
                        <a:t>COMPARISON PARAMETER</a:t>
                      </a:r>
                      <a:endParaRPr lang="en-IN" sz="2000" dirty="0">
                        <a:effectLst/>
                      </a:endParaRPr>
                    </a:p>
                  </a:txBody>
                  <a:tcPr/>
                </a:tc>
                <a:tc>
                  <a:txBody>
                    <a:bodyPr/>
                    <a:lstStyle/>
                    <a:p>
                      <a:pPr algn="ctr" fontAlgn="ctr"/>
                      <a:r>
                        <a:rPr lang="en-IN" sz="2000" b="1" dirty="0">
                          <a:effectLst/>
                        </a:rPr>
                        <a:t>C++</a:t>
                      </a:r>
                      <a:endParaRPr lang="en-IN" sz="2000" dirty="0">
                        <a:effectLst/>
                      </a:endParaRPr>
                    </a:p>
                  </a:txBody>
                  <a:tcPr anchor="ctr"/>
                </a:tc>
                <a:tc>
                  <a:txBody>
                    <a:bodyPr/>
                    <a:lstStyle/>
                    <a:p>
                      <a:pPr algn="ctr" fontAlgn="ctr"/>
                      <a:r>
                        <a:rPr lang="en-IN" sz="2000" b="1" dirty="0">
                          <a:effectLst/>
                        </a:rPr>
                        <a:t>JAVA</a:t>
                      </a:r>
                      <a:endParaRPr lang="en-IN" sz="2000" dirty="0">
                        <a:effectLst/>
                      </a:endParaRPr>
                    </a:p>
                  </a:txBody>
                  <a:tcPr anchor="ctr"/>
                </a:tc>
                <a:extLst>
                  <a:ext uri="{0D108BD9-81ED-4DB2-BD59-A6C34878D82A}">
                    <a16:rowId xmlns:a16="http://schemas.microsoft.com/office/drawing/2014/main" val="2768115814"/>
                  </a:ext>
                </a:extLst>
              </a:tr>
              <a:tr h="931019">
                <a:tc>
                  <a:txBody>
                    <a:bodyPr/>
                    <a:lstStyle/>
                    <a:p>
                      <a:pPr fontAlgn="ctr"/>
                      <a:r>
                        <a:rPr lang="en-IN">
                          <a:effectLst/>
                        </a:rPr>
                        <a:t>Memory Management</a:t>
                      </a:r>
                    </a:p>
                  </a:txBody>
                  <a:tcPr anchor="ctr"/>
                </a:tc>
                <a:tc>
                  <a:txBody>
                    <a:bodyPr/>
                    <a:lstStyle/>
                    <a:p>
                      <a:pPr fontAlgn="ctr"/>
                      <a:r>
                        <a:rPr lang="en-US">
                          <a:effectLst/>
                        </a:rPr>
                        <a:t>In C++, memory management is manual.</a:t>
                      </a:r>
                    </a:p>
                  </a:txBody>
                  <a:tcPr anchor="ctr"/>
                </a:tc>
                <a:tc>
                  <a:txBody>
                    <a:bodyPr/>
                    <a:lstStyle/>
                    <a:p>
                      <a:pPr fontAlgn="ctr"/>
                      <a:r>
                        <a:rPr lang="en-US" dirty="0">
                          <a:effectLst/>
                        </a:rPr>
                        <a:t>In Java, memory management is System controlled.</a:t>
                      </a:r>
                    </a:p>
                  </a:txBody>
                  <a:tcPr anchor="ctr"/>
                </a:tc>
                <a:extLst>
                  <a:ext uri="{0D108BD9-81ED-4DB2-BD59-A6C34878D82A}">
                    <a16:rowId xmlns:a16="http://schemas.microsoft.com/office/drawing/2014/main" val="1778516432"/>
                  </a:ext>
                </a:extLst>
              </a:tr>
              <a:tr h="1210324">
                <a:tc>
                  <a:txBody>
                    <a:bodyPr/>
                    <a:lstStyle/>
                    <a:p>
                      <a:pPr fontAlgn="ctr"/>
                      <a:r>
                        <a:rPr lang="en-IN">
                          <a:effectLst/>
                        </a:rPr>
                        <a:t>Type semantics</a:t>
                      </a:r>
                    </a:p>
                  </a:txBody>
                  <a:tcPr anchor="ctr"/>
                </a:tc>
                <a:tc>
                  <a:txBody>
                    <a:bodyPr/>
                    <a:lstStyle/>
                    <a:p>
                      <a:pPr fontAlgn="ctr"/>
                      <a:r>
                        <a:rPr lang="en-US">
                          <a:effectLst/>
                        </a:rPr>
                        <a:t>C++ is pretty consistent between primitive and object types.</a:t>
                      </a:r>
                    </a:p>
                  </a:txBody>
                  <a:tcPr anchor="ctr"/>
                </a:tc>
                <a:tc>
                  <a:txBody>
                    <a:bodyPr/>
                    <a:lstStyle/>
                    <a:p>
                      <a:pPr fontAlgn="ctr"/>
                      <a:r>
                        <a:rPr lang="en-US" dirty="0">
                          <a:effectLst/>
                        </a:rPr>
                        <a:t>In Java, semantics differs for primitive and object types.</a:t>
                      </a:r>
                    </a:p>
                  </a:txBody>
                  <a:tcPr anchor="ctr"/>
                </a:tc>
                <a:extLst>
                  <a:ext uri="{0D108BD9-81ED-4DB2-BD59-A6C34878D82A}">
                    <a16:rowId xmlns:a16="http://schemas.microsoft.com/office/drawing/2014/main" val="1498248840"/>
                  </a:ext>
                </a:extLst>
              </a:tr>
              <a:tr h="1210324">
                <a:tc>
                  <a:txBody>
                    <a:bodyPr/>
                    <a:lstStyle/>
                    <a:p>
                      <a:pPr fontAlgn="ctr"/>
                      <a:r>
                        <a:rPr lang="en-IN" dirty="0">
                          <a:effectLst/>
                        </a:rPr>
                        <a:t>Global Scope</a:t>
                      </a:r>
                    </a:p>
                  </a:txBody>
                  <a:tcPr anchor="ctr"/>
                </a:tc>
                <a:tc>
                  <a:txBody>
                    <a:bodyPr/>
                    <a:lstStyle/>
                    <a:p>
                      <a:pPr fontAlgn="ctr"/>
                      <a:r>
                        <a:rPr lang="en-US">
                          <a:effectLst/>
                        </a:rPr>
                        <a:t>In C++, both global and namespace scopes are supported.</a:t>
                      </a:r>
                    </a:p>
                  </a:txBody>
                  <a:tcPr anchor="ctr"/>
                </a:tc>
                <a:tc>
                  <a:txBody>
                    <a:bodyPr/>
                    <a:lstStyle/>
                    <a:p>
                      <a:pPr fontAlgn="ctr"/>
                      <a:r>
                        <a:rPr lang="en-US">
                          <a:effectLst/>
                        </a:rPr>
                        <a:t>Java has no support for global scope.</a:t>
                      </a:r>
                    </a:p>
                  </a:txBody>
                  <a:tcPr anchor="ctr"/>
                </a:tc>
                <a:extLst>
                  <a:ext uri="{0D108BD9-81ED-4DB2-BD59-A6C34878D82A}">
                    <a16:rowId xmlns:a16="http://schemas.microsoft.com/office/drawing/2014/main" val="1397139216"/>
                  </a:ext>
                </a:extLst>
              </a:tr>
              <a:tr h="1489630">
                <a:tc>
                  <a:txBody>
                    <a:bodyPr/>
                    <a:lstStyle/>
                    <a:p>
                      <a:pPr fontAlgn="ctr"/>
                      <a:r>
                        <a:rPr lang="en-US" dirty="0">
                          <a:effectLst/>
                        </a:rPr>
                        <a:t>Access control and object protection</a:t>
                      </a:r>
                    </a:p>
                  </a:txBody>
                  <a:tcPr anchor="ctr"/>
                </a:tc>
                <a:tc>
                  <a:txBody>
                    <a:bodyPr/>
                    <a:lstStyle/>
                    <a:p>
                      <a:pPr fontAlgn="ctr"/>
                      <a:r>
                        <a:rPr lang="en-US">
                          <a:effectLst/>
                        </a:rPr>
                        <a:t>In C++, a flexible model with constant protection is available.</a:t>
                      </a:r>
                    </a:p>
                  </a:txBody>
                  <a:tcPr anchor="ctr"/>
                </a:tc>
                <a:tc>
                  <a:txBody>
                    <a:bodyPr/>
                    <a:lstStyle/>
                    <a:p>
                      <a:pPr fontAlgn="ctr"/>
                      <a:r>
                        <a:rPr lang="en-US" dirty="0">
                          <a:effectLst/>
                        </a:rPr>
                        <a:t>In Java, the model is cumbersome and encourages weak encapsulation.</a:t>
                      </a:r>
                    </a:p>
                  </a:txBody>
                  <a:tcPr anchor="ctr"/>
                </a:tc>
                <a:extLst>
                  <a:ext uri="{0D108BD9-81ED-4DB2-BD59-A6C34878D82A}">
                    <a16:rowId xmlns:a16="http://schemas.microsoft.com/office/drawing/2014/main" val="4271827821"/>
                  </a:ext>
                </a:extLst>
              </a:tr>
            </a:tbl>
          </a:graphicData>
        </a:graphic>
      </p:graphicFrame>
    </p:spTree>
    <p:extLst>
      <p:ext uri="{BB962C8B-B14F-4D97-AF65-F5344CB8AC3E}">
        <p14:creationId xmlns:p14="http://schemas.microsoft.com/office/powerpoint/2010/main" val="702238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854" y="77651"/>
            <a:ext cx="8596668" cy="718457"/>
          </a:xfrm>
        </p:spPr>
        <p:txBody>
          <a:bodyPr/>
          <a:lstStyle/>
          <a:p>
            <a:r>
              <a:rPr lang="en-US" dirty="0"/>
              <a:t>JDK vs JRE vs JVM</a:t>
            </a:r>
            <a:endParaRPr lang="en-IN" dirty="0"/>
          </a:p>
        </p:txBody>
      </p:sp>
      <p:pic>
        <p:nvPicPr>
          <p:cNvPr id="7" name="Picture 6">
            <a:extLst>
              <a:ext uri="{FF2B5EF4-FFF2-40B4-BE49-F238E27FC236}">
                <a16:creationId xmlns:a16="http://schemas.microsoft.com/office/drawing/2014/main" id="{55270188-EF8F-2EFE-E050-8B6AE971982D}"/>
              </a:ext>
            </a:extLst>
          </p:cNvPr>
          <p:cNvPicPr>
            <a:picLocks noChangeAspect="1"/>
          </p:cNvPicPr>
          <p:nvPr/>
        </p:nvPicPr>
        <p:blipFill>
          <a:blip r:embed="rId2"/>
          <a:stretch>
            <a:fillRect/>
          </a:stretch>
        </p:blipFill>
        <p:spPr>
          <a:xfrm>
            <a:off x="810102" y="814341"/>
            <a:ext cx="8890764" cy="5229318"/>
          </a:xfrm>
          <a:prstGeom prst="rect">
            <a:avLst/>
          </a:prstGeom>
        </p:spPr>
      </p:pic>
    </p:spTree>
    <p:extLst>
      <p:ext uri="{BB962C8B-B14F-4D97-AF65-F5344CB8AC3E}">
        <p14:creationId xmlns:p14="http://schemas.microsoft.com/office/powerpoint/2010/main" val="1470822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A4996-6A11-9043-2EFB-FBB46750DF50}"/>
              </a:ext>
            </a:extLst>
          </p:cNvPr>
          <p:cNvSpPr>
            <a:spLocks noGrp="1"/>
          </p:cNvSpPr>
          <p:nvPr>
            <p:ph type="title"/>
          </p:nvPr>
        </p:nvSpPr>
        <p:spPr>
          <a:xfrm>
            <a:off x="677334" y="142240"/>
            <a:ext cx="8596668" cy="782320"/>
          </a:xfrm>
        </p:spPr>
        <p:txBody>
          <a:bodyPr/>
          <a:lstStyle/>
          <a:p>
            <a:r>
              <a:rPr lang="en-IN" dirty="0"/>
              <a:t>JVM Architecture</a:t>
            </a:r>
          </a:p>
        </p:txBody>
      </p:sp>
      <p:pic>
        <p:nvPicPr>
          <p:cNvPr id="5" name="Content Placeholder 4">
            <a:extLst>
              <a:ext uri="{FF2B5EF4-FFF2-40B4-BE49-F238E27FC236}">
                <a16:creationId xmlns:a16="http://schemas.microsoft.com/office/drawing/2014/main" id="{C5304DC1-E9AF-16D1-845F-6ACA0DFBCD63}"/>
              </a:ext>
            </a:extLst>
          </p:cNvPr>
          <p:cNvPicPr>
            <a:picLocks noGrp="1" noChangeAspect="1"/>
          </p:cNvPicPr>
          <p:nvPr>
            <p:ph idx="1"/>
          </p:nvPr>
        </p:nvPicPr>
        <p:blipFill>
          <a:blip r:embed="rId2"/>
          <a:stretch>
            <a:fillRect/>
          </a:stretch>
        </p:blipFill>
        <p:spPr>
          <a:xfrm>
            <a:off x="1089408" y="924560"/>
            <a:ext cx="8202230" cy="5791200"/>
          </a:xfrm>
        </p:spPr>
      </p:pic>
    </p:spTree>
    <p:extLst>
      <p:ext uri="{BB962C8B-B14F-4D97-AF65-F5344CB8AC3E}">
        <p14:creationId xmlns:p14="http://schemas.microsoft.com/office/powerpoint/2010/main" val="4014155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Structure of Java Program</a:t>
            </a:r>
            <a:endParaRPr lang="en-IN" dirty="0"/>
          </a:p>
        </p:txBody>
      </p:sp>
      <p:sp>
        <p:nvSpPr>
          <p:cNvPr id="3" name="Content Placeholder 2"/>
          <p:cNvSpPr>
            <a:spLocks noGrp="1"/>
          </p:cNvSpPr>
          <p:nvPr>
            <p:ph idx="1"/>
          </p:nvPr>
        </p:nvSpPr>
        <p:spPr>
          <a:xfrm>
            <a:off x="677334" y="1328057"/>
            <a:ext cx="8596668" cy="4713305"/>
          </a:xfrm>
        </p:spPr>
        <p:txBody>
          <a:bodyPr/>
          <a:lstStyle/>
          <a:p>
            <a:r>
              <a:rPr lang="en-IN" dirty="0"/>
              <a:t>Documentation Section</a:t>
            </a:r>
          </a:p>
          <a:p>
            <a:r>
              <a:rPr lang="en-IN" dirty="0"/>
              <a:t>Package Statement</a:t>
            </a:r>
          </a:p>
          <a:p>
            <a:r>
              <a:rPr lang="en-IN" dirty="0"/>
              <a:t>Import Statements</a:t>
            </a:r>
          </a:p>
          <a:p>
            <a:r>
              <a:rPr lang="en-IN" dirty="0"/>
              <a:t>Class Definition</a:t>
            </a:r>
          </a:p>
          <a:p>
            <a:r>
              <a:rPr lang="en-IN" dirty="0"/>
              <a:t>Main Method Class</a:t>
            </a:r>
          </a:p>
          <a:p>
            <a:pPr lvl="1"/>
            <a:r>
              <a:rPr lang="en-IN" dirty="0"/>
              <a:t>Main Method Definition</a:t>
            </a:r>
          </a:p>
          <a:p>
            <a:endParaRPr lang="en-IN" dirty="0"/>
          </a:p>
        </p:txBody>
      </p:sp>
    </p:spTree>
    <p:extLst>
      <p:ext uri="{BB962C8B-B14F-4D97-AF65-F5344CB8AC3E}">
        <p14:creationId xmlns:p14="http://schemas.microsoft.com/office/powerpoint/2010/main" val="81095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Structure of Java Program</a:t>
            </a:r>
            <a:endParaRPr lang="en-IN" dirty="0"/>
          </a:p>
        </p:txBody>
      </p:sp>
      <p:sp>
        <p:nvSpPr>
          <p:cNvPr id="3" name="Content Placeholder 2"/>
          <p:cNvSpPr>
            <a:spLocks noGrp="1"/>
          </p:cNvSpPr>
          <p:nvPr>
            <p:ph idx="1"/>
          </p:nvPr>
        </p:nvSpPr>
        <p:spPr>
          <a:xfrm>
            <a:off x="677334" y="1328057"/>
            <a:ext cx="8596668" cy="4713305"/>
          </a:xfrm>
        </p:spPr>
        <p:txBody>
          <a:bodyPr>
            <a:normAutofit lnSpcReduction="10000"/>
          </a:bodyPr>
          <a:lstStyle/>
          <a:p>
            <a:pPr marL="0" indent="0">
              <a:buNone/>
            </a:pPr>
            <a:r>
              <a:rPr lang="en-US" dirty="0"/>
              <a:t>Ex</a:t>
            </a:r>
            <a:r>
              <a:rPr lang="en-IN" dirty="0"/>
              <a:t>.</a:t>
            </a:r>
            <a:endParaRPr lang="en-US" dirty="0"/>
          </a:p>
          <a:p>
            <a:pPr marL="0" indent="0">
              <a:buNone/>
            </a:pPr>
            <a:r>
              <a:rPr lang="en-US" dirty="0"/>
              <a:t>Hello.java</a:t>
            </a:r>
          </a:p>
          <a:p>
            <a:pPr marL="631825" indent="-631825">
              <a:buNone/>
            </a:pPr>
            <a:r>
              <a:rPr lang="en-IN" dirty="0"/>
              <a:t>	/* Author: </a:t>
            </a:r>
            <a:r>
              <a:rPr lang="en-IN" dirty="0" err="1"/>
              <a:t>Senthil</a:t>
            </a:r>
            <a:r>
              <a:rPr lang="en-IN" dirty="0"/>
              <a:t> </a:t>
            </a:r>
          </a:p>
          <a:p>
            <a:pPr marL="631825" indent="-631825">
              <a:buNone/>
            </a:pPr>
            <a:r>
              <a:rPr lang="en-IN" dirty="0"/>
              <a:t>		Date: 202-01-07 </a:t>
            </a:r>
          </a:p>
          <a:p>
            <a:pPr marL="631825" indent="-631825">
              <a:buNone/>
            </a:pPr>
            <a:r>
              <a:rPr lang="en-IN" dirty="0"/>
              <a:t>		Description: Writes the words "Hello Java" on the screen */ </a:t>
            </a:r>
          </a:p>
          <a:p>
            <a:pPr marL="631825" indent="-631825">
              <a:buNone/>
            </a:pPr>
            <a:r>
              <a:rPr lang="en-IN" dirty="0"/>
              <a:t>public class Hello </a:t>
            </a:r>
          </a:p>
          <a:p>
            <a:pPr marL="631825" indent="-631825">
              <a:buNone/>
            </a:pPr>
            <a:r>
              <a:rPr lang="en-IN" dirty="0"/>
              <a:t>{</a:t>
            </a:r>
          </a:p>
          <a:p>
            <a:pPr marL="631825" indent="-631825">
              <a:buNone/>
            </a:pPr>
            <a:r>
              <a:rPr lang="en-IN" dirty="0"/>
              <a:t>	public static void main(String[] </a:t>
            </a:r>
            <a:r>
              <a:rPr lang="en-IN" dirty="0" err="1"/>
              <a:t>args</a:t>
            </a:r>
            <a:r>
              <a:rPr lang="en-IN" dirty="0"/>
              <a:t>) </a:t>
            </a:r>
          </a:p>
          <a:p>
            <a:pPr marL="631825" indent="-631825">
              <a:buNone/>
            </a:pPr>
            <a:r>
              <a:rPr lang="en-IN" dirty="0"/>
              <a:t>		{</a:t>
            </a:r>
          </a:p>
          <a:p>
            <a:pPr marL="631825" indent="-631825">
              <a:buNone/>
            </a:pPr>
            <a:r>
              <a:rPr lang="en-IN" dirty="0"/>
              <a:t>			 </a:t>
            </a:r>
            <a:r>
              <a:rPr lang="en-IN" dirty="0" err="1"/>
              <a:t>System.out.println</a:t>
            </a:r>
            <a:r>
              <a:rPr lang="en-IN" dirty="0"/>
              <a:t>("Hello Java"); </a:t>
            </a:r>
          </a:p>
          <a:p>
            <a:pPr marL="631825" indent="-631825">
              <a:buNone/>
            </a:pPr>
            <a:r>
              <a:rPr lang="en-IN" dirty="0"/>
              <a:t>		}</a:t>
            </a:r>
          </a:p>
          <a:p>
            <a:pPr marL="631825" indent="-631825">
              <a:buNone/>
            </a:pPr>
            <a:r>
              <a:rPr lang="en-IN" dirty="0"/>
              <a:t> }</a:t>
            </a:r>
            <a:endParaRPr lang="en-US" dirty="0"/>
          </a:p>
        </p:txBody>
      </p:sp>
    </p:spTree>
    <p:extLst>
      <p:ext uri="{BB962C8B-B14F-4D97-AF65-F5344CB8AC3E}">
        <p14:creationId xmlns:p14="http://schemas.microsoft.com/office/powerpoint/2010/main" val="644625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7545967-0F2F-C78E-0743-1542C77CAD22}"/>
              </a:ext>
            </a:extLst>
          </p:cNvPr>
          <p:cNvPicPr>
            <a:picLocks noGrp="1" noChangeAspect="1"/>
          </p:cNvPicPr>
          <p:nvPr>
            <p:ph idx="1"/>
          </p:nvPr>
        </p:nvPicPr>
        <p:blipFill>
          <a:blip r:embed="rId2"/>
          <a:stretch>
            <a:fillRect/>
          </a:stretch>
        </p:blipFill>
        <p:spPr>
          <a:xfrm>
            <a:off x="1183027" y="782438"/>
            <a:ext cx="8193889" cy="5811401"/>
          </a:xfrm>
        </p:spPr>
      </p:pic>
      <p:sp>
        <p:nvSpPr>
          <p:cNvPr id="6" name="Title 1">
            <a:extLst>
              <a:ext uri="{FF2B5EF4-FFF2-40B4-BE49-F238E27FC236}">
                <a16:creationId xmlns:a16="http://schemas.microsoft.com/office/drawing/2014/main" id="{D2175FF4-BFEB-8D27-FE1D-2E5858A2AABF}"/>
              </a:ext>
            </a:extLst>
          </p:cNvPr>
          <p:cNvSpPr txBox="1">
            <a:spLocks/>
          </p:cNvSpPr>
          <p:nvPr/>
        </p:nvSpPr>
        <p:spPr>
          <a:xfrm>
            <a:off x="514774" y="91440"/>
            <a:ext cx="8596668" cy="71845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Data Types</a:t>
            </a:r>
            <a:endParaRPr lang="en-IN" dirty="0"/>
          </a:p>
        </p:txBody>
      </p:sp>
    </p:spTree>
    <p:extLst>
      <p:ext uri="{BB962C8B-B14F-4D97-AF65-F5344CB8AC3E}">
        <p14:creationId xmlns:p14="http://schemas.microsoft.com/office/powerpoint/2010/main" val="433352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609B84-DFBE-C184-C87C-0918A9E5C69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B209309-7AD0-07A7-5F4C-E7110E827568}"/>
              </a:ext>
            </a:extLst>
          </p:cNvPr>
          <p:cNvPicPr>
            <a:picLocks noChangeAspect="1"/>
          </p:cNvPicPr>
          <p:nvPr/>
        </p:nvPicPr>
        <p:blipFill>
          <a:blip r:embed="rId2"/>
          <a:stretch>
            <a:fillRect/>
          </a:stretch>
        </p:blipFill>
        <p:spPr>
          <a:xfrm>
            <a:off x="556684" y="816638"/>
            <a:ext cx="10175197" cy="5929602"/>
          </a:xfrm>
          <a:prstGeom prst="rect">
            <a:avLst/>
          </a:prstGeom>
        </p:spPr>
      </p:pic>
    </p:spTree>
    <p:extLst>
      <p:ext uri="{BB962C8B-B14F-4D97-AF65-F5344CB8AC3E}">
        <p14:creationId xmlns:p14="http://schemas.microsoft.com/office/powerpoint/2010/main" val="2602308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0791B-264D-46FD-BB31-2AB9D5F01123}"/>
              </a:ext>
            </a:extLst>
          </p:cNvPr>
          <p:cNvSpPr>
            <a:spLocks noGrp="1"/>
          </p:cNvSpPr>
          <p:nvPr>
            <p:ph type="title"/>
          </p:nvPr>
        </p:nvSpPr>
        <p:spPr>
          <a:xfrm>
            <a:off x="677334" y="609600"/>
            <a:ext cx="8596668" cy="702365"/>
          </a:xfrm>
        </p:spPr>
        <p:txBody>
          <a:bodyPr/>
          <a:lstStyle/>
          <a:p>
            <a:r>
              <a:rPr lang="en-IN" dirty="0"/>
              <a:t>Type Casting</a:t>
            </a:r>
          </a:p>
        </p:txBody>
      </p:sp>
      <p:pic>
        <p:nvPicPr>
          <p:cNvPr id="1026" name="Picture 2" descr="Typecasting in Java - Simple Snippets">
            <a:extLst>
              <a:ext uri="{FF2B5EF4-FFF2-40B4-BE49-F238E27FC236}">
                <a16:creationId xmlns:a16="http://schemas.microsoft.com/office/drawing/2014/main" id="{DB52C801-7FFB-41DF-9D19-70499BC46E5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2574" y="1549437"/>
            <a:ext cx="8061428" cy="4716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7927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Java Naming Conventions</a:t>
            </a:r>
            <a:endParaRPr lang="en-IN" dirty="0"/>
          </a:p>
        </p:txBody>
      </p:sp>
      <p:sp>
        <p:nvSpPr>
          <p:cNvPr id="3" name="Content Placeholder 2"/>
          <p:cNvSpPr>
            <a:spLocks noGrp="1"/>
          </p:cNvSpPr>
          <p:nvPr>
            <p:ph idx="1"/>
          </p:nvPr>
        </p:nvSpPr>
        <p:spPr>
          <a:xfrm>
            <a:off x="677334" y="1328057"/>
            <a:ext cx="8596668" cy="4713305"/>
          </a:xfrm>
        </p:spPr>
        <p:txBody>
          <a:bodyPr>
            <a:normAutofit/>
          </a:bodyPr>
          <a:lstStyle/>
          <a:p>
            <a:pPr marL="0" indent="0">
              <a:buNone/>
            </a:pPr>
            <a:r>
              <a:rPr lang="en-IN" sz="2600" b="1" dirty="0"/>
              <a:t>Class</a:t>
            </a:r>
            <a:endParaRPr lang="en-IN" b="1" dirty="0"/>
          </a:p>
          <a:p>
            <a:pPr marL="0" indent="0">
              <a:buNone/>
            </a:pPr>
            <a:r>
              <a:rPr lang="en-IN" dirty="0"/>
              <a:t>It should start with the uppercase letter. In case of more than one words first letter of each word should be capital letter.</a:t>
            </a:r>
          </a:p>
          <a:p>
            <a:pPr marL="0" indent="0">
              <a:buNone/>
            </a:pPr>
            <a:r>
              <a:rPr lang="en-IN" dirty="0"/>
              <a:t>It should be a noun such as </a:t>
            </a:r>
            <a:r>
              <a:rPr lang="en-IN" dirty="0" err="1"/>
              <a:t>Color</a:t>
            </a:r>
            <a:r>
              <a:rPr lang="en-IN" dirty="0"/>
              <a:t>, Button, System, Thread, etc.</a:t>
            </a:r>
          </a:p>
          <a:p>
            <a:pPr marL="0" indent="0">
              <a:buNone/>
            </a:pPr>
            <a:r>
              <a:rPr lang="en-IN" dirty="0"/>
              <a:t>Use appropriate words, instead of acronyms.</a:t>
            </a:r>
          </a:p>
          <a:p>
            <a:pPr marL="0" indent="0">
              <a:buNone/>
            </a:pPr>
            <a:r>
              <a:rPr lang="en-IN" b="1" dirty="0"/>
              <a:t>Example: -</a:t>
            </a:r>
            <a:endParaRPr lang="en-IN" dirty="0"/>
          </a:p>
          <a:p>
            <a:pPr marL="0" indent="0">
              <a:buNone/>
            </a:pPr>
            <a:r>
              <a:rPr lang="en-IN" b="1" dirty="0"/>
              <a:t>public</a:t>
            </a:r>
            <a:r>
              <a:rPr lang="en-IN" dirty="0"/>
              <a:t> </a:t>
            </a:r>
            <a:r>
              <a:rPr lang="en-IN" b="1" dirty="0"/>
              <a:t>class</a:t>
            </a:r>
            <a:r>
              <a:rPr lang="en-IN" dirty="0"/>
              <a:t> </a:t>
            </a:r>
            <a:r>
              <a:rPr lang="en-IN" dirty="0" err="1"/>
              <a:t>EmployeeDetails</a:t>
            </a:r>
            <a:r>
              <a:rPr lang="en-IN" dirty="0"/>
              <a:t> </a:t>
            </a:r>
          </a:p>
          <a:p>
            <a:pPr marL="0" indent="0">
              <a:buNone/>
            </a:pPr>
            <a:r>
              <a:rPr lang="en-IN" dirty="0"/>
              <a:t>{  </a:t>
            </a:r>
          </a:p>
          <a:p>
            <a:pPr marL="0" indent="0">
              <a:buNone/>
            </a:pPr>
            <a:r>
              <a:rPr lang="en-IN" dirty="0"/>
              <a:t>//code snippet  </a:t>
            </a:r>
          </a:p>
          <a:p>
            <a:pPr marL="0" indent="0">
              <a:buNone/>
            </a:pPr>
            <a:r>
              <a:rPr lang="en-IN" dirty="0"/>
              <a:t>}  </a:t>
            </a:r>
          </a:p>
          <a:p>
            <a:pPr marL="0" indent="0">
              <a:buNone/>
            </a:pPr>
            <a:endParaRPr lang="en-US" dirty="0"/>
          </a:p>
        </p:txBody>
      </p:sp>
    </p:spTree>
    <p:extLst>
      <p:ext uri="{BB962C8B-B14F-4D97-AF65-F5344CB8AC3E}">
        <p14:creationId xmlns:p14="http://schemas.microsoft.com/office/powerpoint/2010/main" val="3688740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Java Naming Conventions</a:t>
            </a:r>
            <a:endParaRPr lang="en-IN" dirty="0"/>
          </a:p>
        </p:txBody>
      </p:sp>
      <p:sp>
        <p:nvSpPr>
          <p:cNvPr id="3" name="Content Placeholder 2"/>
          <p:cNvSpPr>
            <a:spLocks noGrp="1"/>
          </p:cNvSpPr>
          <p:nvPr>
            <p:ph idx="1"/>
          </p:nvPr>
        </p:nvSpPr>
        <p:spPr>
          <a:xfrm>
            <a:off x="677334" y="1328057"/>
            <a:ext cx="8596668" cy="4713305"/>
          </a:xfrm>
        </p:spPr>
        <p:txBody>
          <a:bodyPr>
            <a:normAutofit fontScale="85000" lnSpcReduction="20000"/>
          </a:bodyPr>
          <a:lstStyle/>
          <a:p>
            <a:pPr marL="0" indent="0">
              <a:buNone/>
            </a:pPr>
            <a:r>
              <a:rPr lang="en-IN" sz="2600" b="1" dirty="0"/>
              <a:t>Variable</a:t>
            </a:r>
            <a:endParaRPr lang="en-IN" b="1" dirty="0"/>
          </a:p>
          <a:p>
            <a:pPr marL="0" indent="0">
              <a:buNone/>
            </a:pPr>
            <a:r>
              <a:rPr lang="en-IN" dirty="0"/>
              <a:t>It should start with a lowercase letter such as id, name.</a:t>
            </a:r>
          </a:p>
          <a:p>
            <a:pPr marL="0" indent="0">
              <a:buNone/>
            </a:pPr>
            <a:r>
              <a:rPr lang="en-IN" dirty="0"/>
              <a:t>It can start with only two special characters $ (dollar) and _ (underscore), other special characters are not allowed.</a:t>
            </a:r>
          </a:p>
          <a:p>
            <a:pPr marL="0" indent="0">
              <a:buNone/>
            </a:pPr>
            <a:r>
              <a:rPr lang="en-IN" dirty="0"/>
              <a:t>If the name contains multiple words, </a:t>
            </a:r>
            <a:r>
              <a:rPr lang="en-IN" b="1" dirty="0"/>
              <a:t>first letter of first word should be small case </a:t>
            </a:r>
            <a:r>
              <a:rPr lang="en-IN" dirty="0"/>
              <a:t>and first letter of remaining words should be </a:t>
            </a:r>
            <a:r>
              <a:rPr lang="en-IN" b="1" dirty="0"/>
              <a:t>upper case </a:t>
            </a:r>
            <a:r>
              <a:rPr lang="en-IN" dirty="0"/>
              <a:t>such as </a:t>
            </a:r>
            <a:r>
              <a:rPr lang="en-IN" dirty="0" err="1"/>
              <a:t>firstName</a:t>
            </a:r>
            <a:r>
              <a:rPr lang="en-IN" dirty="0"/>
              <a:t>, </a:t>
            </a:r>
            <a:r>
              <a:rPr lang="en-IN" dirty="0" err="1"/>
              <a:t>lastName</a:t>
            </a:r>
            <a:r>
              <a:rPr lang="en-IN" dirty="0"/>
              <a:t>.</a:t>
            </a:r>
          </a:p>
          <a:p>
            <a:pPr marL="0" indent="0">
              <a:buNone/>
            </a:pPr>
            <a:r>
              <a:rPr lang="en-IN" dirty="0"/>
              <a:t>Avoid using one-character variables such as x, y, z.</a:t>
            </a:r>
          </a:p>
          <a:p>
            <a:pPr marL="0" indent="0">
              <a:buNone/>
            </a:pPr>
            <a:r>
              <a:rPr lang="en-IN" b="1" dirty="0"/>
              <a:t>Example :-</a:t>
            </a:r>
            <a:endParaRPr lang="en-IN" dirty="0"/>
          </a:p>
          <a:p>
            <a:pPr marL="0" indent="0">
              <a:buNone/>
            </a:pPr>
            <a:r>
              <a:rPr lang="en-IN" dirty="0"/>
              <a:t>  </a:t>
            </a:r>
            <a:r>
              <a:rPr lang="en-IN" b="1" dirty="0"/>
              <a:t>class</a:t>
            </a:r>
            <a:r>
              <a:rPr lang="en-IN" dirty="0"/>
              <a:t> Employee  </a:t>
            </a:r>
          </a:p>
          <a:p>
            <a:pPr marL="0" indent="0">
              <a:buNone/>
            </a:pPr>
            <a:r>
              <a:rPr lang="en-IN" dirty="0"/>
              <a:t>{  </a:t>
            </a:r>
          </a:p>
          <a:p>
            <a:pPr marL="0" indent="0">
              <a:buNone/>
            </a:pPr>
            <a:r>
              <a:rPr lang="en-IN" dirty="0"/>
              <a:t>//variable  </a:t>
            </a:r>
          </a:p>
          <a:p>
            <a:pPr marL="0" indent="0">
              <a:buNone/>
            </a:pPr>
            <a:r>
              <a:rPr lang="en-IN" b="1" dirty="0"/>
              <a:t>int</a:t>
            </a:r>
            <a:r>
              <a:rPr lang="en-IN" dirty="0"/>
              <a:t> id;  </a:t>
            </a:r>
          </a:p>
          <a:p>
            <a:pPr marL="0" indent="0">
              <a:buNone/>
            </a:pPr>
            <a:r>
              <a:rPr lang="en-IN" dirty="0"/>
              <a:t>Int </a:t>
            </a:r>
            <a:r>
              <a:rPr lang="en-IN" dirty="0" err="1"/>
              <a:t>empNo</a:t>
            </a:r>
            <a:r>
              <a:rPr lang="en-IN" dirty="0"/>
              <a:t>;</a:t>
            </a:r>
          </a:p>
          <a:p>
            <a:pPr marL="0" indent="0">
              <a:buNone/>
            </a:pPr>
            <a:r>
              <a:rPr lang="en-IN" dirty="0"/>
              <a:t>//code snippet  </a:t>
            </a:r>
          </a:p>
          <a:p>
            <a:pPr marL="0" indent="0">
              <a:buNone/>
            </a:pPr>
            <a:r>
              <a:rPr lang="en-IN" dirty="0"/>
              <a:t>}  </a:t>
            </a:r>
          </a:p>
          <a:p>
            <a:pPr marL="0" indent="0">
              <a:buNone/>
            </a:pPr>
            <a:endParaRPr lang="en-US" dirty="0"/>
          </a:p>
        </p:txBody>
      </p:sp>
    </p:spTree>
    <p:extLst>
      <p:ext uri="{BB962C8B-B14F-4D97-AF65-F5344CB8AC3E}">
        <p14:creationId xmlns:p14="http://schemas.microsoft.com/office/powerpoint/2010/main" val="2624480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Java Naming Conventions</a:t>
            </a:r>
            <a:endParaRPr lang="en-IN" dirty="0"/>
          </a:p>
        </p:txBody>
      </p:sp>
      <p:sp>
        <p:nvSpPr>
          <p:cNvPr id="3" name="Content Placeholder 2"/>
          <p:cNvSpPr>
            <a:spLocks noGrp="1"/>
          </p:cNvSpPr>
          <p:nvPr>
            <p:ph idx="1"/>
          </p:nvPr>
        </p:nvSpPr>
        <p:spPr>
          <a:xfrm>
            <a:off x="677334" y="1328057"/>
            <a:ext cx="8596668" cy="4713305"/>
          </a:xfrm>
        </p:spPr>
        <p:txBody>
          <a:bodyPr>
            <a:normAutofit fontScale="85000" lnSpcReduction="20000"/>
          </a:bodyPr>
          <a:lstStyle/>
          <a:p>
            <a:pPr marL="0" indent="0">
              <a:buNone/>
            </a:pPr>
            <a:r>
              <a:rPr lang="en-IN" sz="2600" b="1" dirty="0"/>
              <a:t>Method</a:t>
            </a:r>
            <a:endParaRPr lang="en-IN" b="1" dirty="0"/>
          </a:p>
          <a:p>
            <a:pPr marL="0" indent="0">
              <a:buNone/>
            </a:pPr>
            <a:r>
              <a:rPr lang="en-IN" dirty="0"/>
              <a:t>It should start with lowercase letter.</a:t>
            </a:r>
          </a:p>
          <a:p>
            <a:pPr marL="0" indent="0">
              <a:buNone/>
            </a:pPr>
            <a:r>
              <a:rPr lang="en-IN" dirty="0"/>
              <a:t>It should be a verb form such as main(), print(), </a:t>
            </a:r>
            <a:r>
              <a:rPr lang="en-IN" dirty="0" err="1"/>
              <a:t>println</a:t>
            </a:r>
            <a:r>
              <a:rPr lang="en-IN" dirty="0"/>
              <a:t>().</a:t>
            </a:r>
          </a:p>
          <a:p>
            <a:pPr marL="0" indent="0">
              <a:buNone/>
            </a:pPr>
            <a:r>
              <a:rPr lang="en-IN" dirty="0"/>
              <a:t>If method name is multiple words, first letter of the first word should be in small case and first letter of the remaining words should be upper case.</a:t>
            </a:r>
          </a:p>
          <a:p>
            <a:pPr marL="0" indent="0">
              <a:buNone/>
            </a:pPr>
            <a:r>
              <a:rPr lang="en-IN" dirty="0" err="1"/>
              <a:t>e.x</a:t>
            </a:r>
            <a:r>
              <a:rPr lang="en-IN" dirty="0"/>
              <a:t>: </a:t>
            </a:r>
            <a:r>
              <a:rPr lang="en-IN" dirty="0" err="1"/>
              <a:t>actionPerformed</a:t>
            </a:r>
            <a:r>
              <a:rPr lang="en-IN" dirty="0"/>
              <a:t>().</a:t>
            </a:r>
          </a:p>
          <a:p>
            <a:pPr marL="0" indent="0">
              <a:buNone/>
            </a:pPr>
            <a:r>
              <a:rPr lang="en-IN" b="1" dirty="0"/>
              <a:t>Example:-</a:t>
            </a:r>
            <a:endParaRPr lang="en-IN" dirty="0"/>
          </a:p>
          <a:p>
            <a:pPr marL="0" indent="0">
              <a:buNone/>
            </a:pPr>
            <a:r>
              <a:rPr lang="en-IN" dirty="0"/>
              <a:t> </a:t>
            </a:r>
            <a:r>
              <a:rPr lang="en-IN" b="1" dirty="0"/>
              <a:t>class</a:t>
            </a:r>
            <a:r>
              <a:rPr lang="en-IN" dirty="0"/>
              <a:t> Employee  </a:t>
            </a:r>
          </a:p>
          <a:p>
            <a:pPr marL="0" indent="0">
              <a:buNone/>
            </a:pPr>
            <a:r>
              <a:rPr lang="en-IN" dirty="0"/>
              <a:t>{  </a:t>
            </a:r>
          </a:p>
          <a:p>
            <a:pPr marL="0" indent="0">
              <a:buNone/>
            </a:pPr>
            <a:r>
              <a:rPr lang="en-IN" dirty="0"/>
              <a:t>//method  </a:t>
            </a:r>
          </a:p>
          <a:p>
            <a:pPr marL="0" indent="0">
              <a:buNone/>
            </a:pPr>
            <a:r>
              <a:rPr lang="en-IN" b="1" dirty="0"/>
              <a:t>void</a:t>
            </a:r>
            <a:r>
              <a:rPr lang="en-IN" dirty="0"/>
              <a:t> draw()  </a:t>
            </a:r>
          </a:p>
          <a:p>
            <a:pPr marL="0" indent="0">
              <a:buNone/>
            </a:pPr>
            <a:r>
              <a:rPr lang="en-IN" dirty="0"/>
              <a:t>{  </a:t>
            </a:r>
          </a:p>
          <a:p>
            <a:pPr marL="0" indent="0">
              <a:buNone/>
            </a:pPr>
            <a:r>
              <a:rPr lang="en-IN" dirty="0"/>
              <a:t>//code snippet  </a:t>
            </a:r>
          </a:p>
          <a:p>
            <a:pPr marL="0" indent="0">
              <a:buNone/>
            </a:pPr>
            <a:r>
              <a:rPr lang="en-IN" dirty="0"/>
              <a:t>}  </a:t>
            </a:r>
          </a:p>
          <a:p>
            <a:pPr marL="0" indent="0">
              <a:buNone/>
            </a:pPr>
            <a:r>
              <a:rPr lang="en-IN" dirty="0"/>
              <a:t>}  </a:t>
            </a:r>
          </a:p>
          <a:p>
            <a:pPr marL="0" indent="0">
              <a:buNone/>
            </a:pPr>
            <a:endParaRPr lang="en-US" dirty="0"/>
          </a:p>
        </p:txBody>
      </p:sp>
    </p:spTree>
    <p:extLst>
      <p:ext uri="{BB962C8B-B14F-4D97-AF65-F5344CB8AC3E}">
        <p14:creationId xmlns:p14="http://schemas.microsoft.com/office/powerpoint/2010/main" val="38106911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Java Naming Conventions</a:t>
            </a:r>
            <a:endParaRPr lang="en-IN" dirty="0"/>
          </a:p>
        </p:txBody>
      </p:sp>
      <p:sp>
        <p:nvSpPr>
          <p:cNvPr id="3" name="Content Placeholder 2"/>
          <p:cNvSpPr>
            <a:spLocks noGrp="1"/>
          </p:cNvSpPr>
          <p:nvPr>
            <p:ph idx="1"/>
          </p:nvPr>
        </p:nvSpPr>
        <p:spPr>
          <a:xfrm>
            <a:off x="677334" y="1328057"/>
            <a:ext cx="8596668" cy="4713305"/>
          </a:xfrm>
        </p:spPr>
        <p:txBody>
          <a:bodyPr>
            <a:normAutofit lnSpcReduction="10000"/>
          </a:bodyPr>
          <a:lstStyle/>
          <a:p>
            <a:pPr marL="0" indent="0">
              <a:buNone/>
            </a:pPr>
            <a:r>
              <a:rPr lang="en-IN" sz="2400" b="1" dirty="0"/>
              <a:t>Constant</a:t>
            </a:r>
            <a:endParaRPr lang="en-IN" b="1" dirty="0"/>
          </a:p>
          <a:p>
            <a:pPr marL="0" indent="0">
              <a:buNone/>
            </a:pPr>
            <a:r>
              <a:rPr lang="en-IN" dirty="0"/>
              <a:t>It should be in uppercase letters such as RED, YELLOW.</a:t>
            </a:r>
          </a:p>
          <a:p>
            <a:pPr marL="0" indent="0">
              <a:buNone/>
            </a:pPr>
            <a:r>
              <a:rPr lang="en-IN" dirty="0"/>
              <a:t>If the name contains multiple words, it should be separated by an underscore(_) such as MAX_PRIORITY.</a:t>
            </a:r>
          </a:p>
          <a:p>
            <a:pPr marL="0" indent="0">
              <a:buNone/>
            </a:pPr>
            <a:r>
              <a:rPr lang="en-IN" dirty="0"/>
              <a:t>It may contain digits but not as the first letter.</a:t>
            </a:r>
          </a:p>
          <a:p>
            <a:pPr marL="0" indent="0">
              <a:buNone/>
            </a:pPr>
            <a:r>
              <a:rPr lang="en-IN" b="1" dirty="0"/>
              <a:t>Example :-</a:t>
            </a:r>
            <a:endParaRPr lang="en-IN" dirty="0"/>
          </a:p>
          <a:p>
            <a:pPr marL="0" indent="0">
              <a:buNone/>
            </a:pPr>
            <a:r>
              <a:rPr lang="en-IN" b="1" dirty="0"/>
              <a:t>class</a:t>
            </a:r>
            <a:r>
              <a:rPr lang="en-IN" dirty="0"/>
              <a:t> Employee  </a:t>
            </a:r>
          </a:p>
          <a:p>
            <a:pPr marL="0" indent="0">
              <a:buNone/>
            </a:pPr>
            <a:r>
              <a:rPr lang="en-IN" dirty="0"/>
              <a:t>{  </a:t>
            </a:r>
          </a:p>
          <a:p>
            <a:pPr marL="0" indent="0">
              <a:buNone/>
            </a:pPr>
            <a:r>
              <a:rPr lang="en-IN" dirty="0"/>
              <a:t>//constant  </a:t>
            </a:r>
          </a:p>
          <a:p>
            <a:pPr marL="0" indent="0">
              <a:buNone/>
            </a:pPr>
            <a:r>
              <a:rPr lang="en-IN" dirty="0"/>
              <a:t> </a:t>
            </a:r>
            <a:r>
              <a:rPr lang="en-IN" b="1" dirty="0"/>
              <a:t>static</a:t>
            </a:r>
            <a:r>
              <a:rPr lang="en-IN" dirty="0"/>
              <a:t> </a:t>
            </a:r>
            <a:r>
              <a:rPr lang="en-IN" b="1" dirty="0"/>
              <a:t>final</a:t>
            </a:r>
            <a:r>
              <a:rPr lang="en-IN" dirty="0"/>
              <a:t> </a:t>
            </a:r>
            <a:r>
              <a:rPr lang="en-IN" b="1" dirty="0" err="1"/>
              <a:t>int</a:t>
            </a:r>
            <a:r>
              <a:rPr lang="en-IN" dirty="0"/>
              <a:t> MIN_AGE = 18;  </a:t>
            </a:r>
          </a:p>
          <a:p>
            <a:pPr marL="0" indent="0">
              <a:buNone/>
            </a:pPr>
            <a:r>
              <a:rPr lang="en-IN" dirty="0"/>
              <a:t>//code snippet  </a:t>
            </a:r>
          </a:p>
          <a:p>
            <a:pPr marL="0" indent="0">
              <a:buNone/>
            </a:pPr>
            <a:r>
              <a:rPr lang="en-IN" dirty="0"/>
              <a:t>}  </a:t>
            </a:r>
          </a:p>
          <a:p>
            <a:pPr marL="0" indent="0">
              <a:buNone/>
            </a:pPr>
            <a:endParaRPr lang="en-US" dirty="0"/>
          </a:p>
        </p:txBody>
      </p:sp>
    </p:spTree>
    <p:extLst>
      <p:ext uri="{BB962C8B-B14F-4D97-AF65-F5344CB8AC3E}">
        <p14:creationId xmlns:p14="http://schemas.microsoft.com/office/powerpoint/2010/main" val="1643393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Java Naming Conventions</a:t>
            </a:r>
            <a:endParaRPr lang="en-IN" dirty="0"/>
          </a:p>
        </p:txBody>
      </p:sp>
      <p:sp>
        <p:nvSpPr>
          <p:cNvPr id="3" name="Content Placeholder 2"/>
          <p:cNvSpPr>
            <a:spLocks noGrp="1"/>
          </p:cNvSpPr>
          <p:nvPr>
            <p:ph idx="1"/>
          </p:nvPr>
        </p:nvSpPr>
        <p:spPr>
          <a:xfrm>
            <a:off x="677334" y="1328057"/>
            <a:ext cx="8596668" cy="4713305"/>
          </a:xfrm>
        </p:spPr>
        <p:txBody>
          <a:bodyPr>
            <a:normAutofit/>
          </a:bodyPr>
          <a:lstStyle/>
          <a:p>
            <a:pPr marL="0" indent="0">
              <a:buNone/>
            </a:pPr>
            <a:r>
              <a:rPr lang="en-IN" sz="2400" b="1" dirty="0"/>
              <a:t>Interface</a:t>
            </a:r>
            <a:endParaRPr lang="en-IN" b="1" dirty="0"/>
          </a:p>
          <a:p>
            <a:pPr marL="0" indent="0">
              <a:buNone/>
            </a:pPr>
            <a:r>
              <a:rPr lang="en-IN" dirty="0"/>
              <a:t>It should start with the uppercase letter.</a:t>
            </a:r>
          </a:p>
          <a:p>
            <a:pPr marL="0" indent="0">
              <a:buNone/>
            </a:pPr>
            <a:r>
              <a:rPr lang="en-IN" dirty="0"/>
              <a:t>It should be an adjective such as Runnable, Remote, </a:t>
            </a:r>
            <a:r>
              <a:rPr lang="en-IN" dirty="0" err="1"/>
              <a:t>ActionListener</a:t>
            </a:r>
            <a:r>
              <a:rPr lang="en-IN" dirty="0"/>
              <a:t>.</a:t>
            </a:r>
          </a:p>
          <a:p>
            <a:pPr marL="0" indent="0">
              <a:buNone/>
            </a:pPr>
            <a:r>
              <a:rPr lang="en-IN" dirty="0"/>
              <a:t>Use appropriate words, instead of acronyms.</a:t>
            </a:r>
          </a:p>
          <a:p>
            <a:pPr marL="0" indent="0">
              <a:buNone/>
            </a:pPr>
            <a:r>
              <a:rPr lang="en-IN" b="1" dirty="0"/>
              <a:t>Example: -</a:t>
            </a:r>
            <a:endParaRPr lang="en-IN" dirty="0"/>
          </a:p>
          <a:p>
            <a:pPr marL="0" indent="0">
              <a:buNone/>
            </a:pPr>
            <a:r>
              <a:rPr lang="en-IN" b="1" dirty="0"/>
              <a:t>interface</a:t>
            </a:r>
            <a:r>
              <a:rPr lang="en-IN" dirty="0"/>
              <a:t> Printable  </a:t>
            </a:r>
          </a:p>
          <a:p>
            <a:pPr marL="0" indent="0">
              <a:buNone/>
            </a:pPr>
            <a:r>
              <a:rPr lang="en-IN" dirty="0"/>
              <a:t>{  </a:t>
            </a:r>
          </a:p>
          <a:p>
            <a:pPr marL="0" indent="0">
              <a:buNone/>
            </a:pPr>
            <a:r>
              <a:rPr lang="en-IN" dirty="0"/>
              <a:t>//code snippet  </a:t>
            </a:r>
          </a:p>
          <a:p>
            <a:pPr marL="0" indent="0">
              <a:buNone/>
            </a:pPr>
            <a:r>
              <a:rPr lang="en-IN" dirty="0"/>
              <a:t>}  </a:t>
            </a:r>
          </a:p>
          <a:p>
            <a:pPr marL="0" indent="0">
              <a:buNone/>
            </a:pPr>
            <a:endParaRPr lang="en-US" dirty="0"/>
          </a:p>
        </p:txBody>
      </p:sp>
    </p:spTree>
    <p:extLst>
      <p:ext uri="{BB962C8B-B14F-4D97-AF65-F5344CB8AC3E}">
        <p14:creationId xmlns:p14="http://schemas.microsoft.com/office/powerpoint/2010/main" val="39701093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Java Naming Conventions</a:t>
            </a:r>
            <a:endParaRPr lang="en-IN" dirty="0"/>
          </a:p>
        </p:txBody>
      </p:sp>
      <p:sp>
        <p:nvSpPr>
          <p:cNvPr id="3" name="Content Placeholder 2"/>
          <p:cNvSpPr>
            <a:spLocks noGrp="1"/>
          </p:cNvSpPr>
          <p:nvPr>
            <p:ph idx="1"/>
          </p:nvPr>
        </p:nvSpPr>
        <p:spPr>
          <a:xfrm>
            <a:off x="677334" y="1328057"/>
            <a:ext cx="8596668" cy="4713305"/>
          </a:xfrm>
        </p:spPr>
        <p:txBody>
          <a:bodyPr>
            <a:normAutofit/>
          </a:bodyPr>
          <a:lstStyle/>
          <a:p>
            <a:pPr marL="0" indent="0">
              <a:buNone/>
            </a:pPr>
            <a:r>
              <a:rPr lang="en-IN" sz="2400" b="1" dirty="0"/>
              <a:t>Package</a:t>
            </a:r>
            <a:endParaRPr lang="en-IN" b="1" dirty="0"/>
          </a:p>
          <a:p>
            <a:pPr marL="0" indent="0">
              <a:buNone/>
            </a:pPr>
            <a:r>
              <a:rPr lang="en-IN" dirty="0"/>
              <a:t>It should be a lowercase letter such as java, lang.</a:t>
            </a:r>
          </a:p>
          <a:p>
            <a:pPr marL="0" indent="0">
              <a:buNone/>
            </a:pPr>
            <a:r>
              <a:rPr lang="en-IN" dirty="0"/>
              <a:t>If the name contains multiple words, it should be separated by dots (.) such as </a:t>
            </a:r>
            <a:r>
              <a:rPr lang="en-IN" dirty="0" err="1"/>
              <a:t>java.util</a:t>
            </a:r>
            <a:r>
              <a:rPr lang="en-IN" dirty="0"/>
              <a:t>, </a:t>
            </a:r>
            <a:r>
              <a:rPr lang="en-IN" dirty="0" err="1"/>
              <a:t>java.lang</a:t>
            </a:r>
            <a:r>
              <a:rPr lang="en-IN" dirty="0"/>
              <a:t>, </a:t>
            </a:r>
            <a:r>
              <a:rPr lang="en-IN" dirty="0" err="1"/>
              <a:t>com.demo</a:t>
            </a:r>
            <a:endParaRPr lang="en-IN" dirty="0"/>
          </a:p>
          <a:p>
            <a:pPr marL="0" indent="0">
              <a:buNone/>
            </a:pPr>
            <a:r>
              <a:rPr lang="en-IN" b="1" dirty="0"/>
              <a:t>Example :-</a:t>
            </a:r>
            <a:endParaRPr lang="en-IN" dirty="0"/>
          </a:p>
          <a:p>
            <a:pPr marL="0" indent="0">
              <a:buNone/>
            </a:pPr>
            <a:r>
              <a:rPr lang="en-IN" b="1" dirty="0"/>
              <a:t>package</a:t>
            </a:r>
            <a:r>
              <a:rPr lang="en-IN" dirty="0"/>
              <a:t> </a:t>
            </a:r>
            <a:r>
              <a:rPr lang="en-IN" dirty="0" err="1"/>
              <a:t>com.javatpoint</a:t>
            </a:r>
            <a:r>
              <a:rPr lang="en-IN" dirty="0"/>
              <a:t>; //package  </a:t>
            </a:r>
          </a:p>
          <a:p>
            <a:pPr marL="0" indent="0">
              <a:buNone/>
            </a:pPr>
            <a:r>
              <a:rPr lang="en-IN" b="1" dirty="0"/>
              <a:t>class</a:t>
            </a:r>
            <a:r>
              <a:rPr lang="en-IN" dirty="0"/>
              <a:t> Employee  </a:t>
            </a:r>
          </a:p>
          <a:p>
            <a:pPr marL="0" indent="0">
              <a:buNone/>
            </a:pPr>
            <a:r>
              <a:rPr lang="en-IN" dirty="0"/>
              <a:t>{  </a:t>
            </a:r>
          </a:p>
          <a:p>
            <a:pPr marL="0" indent="0">
              <a:buNone/>
            </a:pPr>
            <a:r>
              <a:rPr lang="en-IN" dirty="0"/>
              <a:t>//code snippet  </a:t>
            </a:r>
          </a:p>
          <a:p>
            <a:pPr marL="0" indent="0">
              <a:buNone/>
            </a:pPr>
            <a:r>
              <a:rPr lang="en-IN" dirty="0"/>
              <a:t>}  </a:t>
            </a:r>
          </a:p>
          <a:p>
            <a:pPr marL="0" indent="0">
              <a:buNone/>
            </a:pPr>
            <a:endParaRPr lang="en-US" dirty="0"/>
          </a:p>
        </p:txBody>
      </p:sp>
    </p:spTree>
    <p:extLst>
      <p:ext uri="{BB962C8B-B14F-4D97-AF65-F5344CB8AC3E}">
        <p14:creationId xmlns:p14="http://schemas.microsoft.com/office/powerpoint/2010/main" val="2915400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Java Naming Conventions</a:t>
            </a:r>
            <a:endParaRPr lang="en-IN" dirty="0"/>
          </a:p>
        </p:txBody>
      </p:sp>
      <p:sp>
        <p:nvSpPr>
          <p:cNvPr id="3" name="Content Placeholder 2"/>
          <p:cNvSpPr>
            <a:spLocks noGrp="1"/>
          </p:cNvSpPr>
          <p:nvPr>
            <p:ph idx="1"/>
          </p:nvPr>
        </p:nvSpPr>
        <p:spPr>
          <a:xfrm>
            <a:off x="677334" y="1328057"/>
            <a:ext cx="8596668" cy="4713305"/>
          </a:xfrm>
        </p:spPr>
        <p:txBody>
          <a:bodyPr>
            <a:normAutofit/>
          </a:bodyPr>
          <a:lstStyle/>
          <a:p>
            <a:pPr marL="0" indent="0">
              <a:buNone/>
            </a:pPr>
            <a:r>
              <a:rPr lang="en-IN" sz="2000" b="1" dirty="0" err="1"/>
              <a:t>CamelCase</a:t>
            </a:r>
            <a:r>
              <a:rPr lang="en-IN" sz="2000" dirty="0"/>
              <a:t> </a:t>
            </a:r>
            <a:r>
              <a:rPr lang="en-IN" dirty="0"/>
              <a:t>in java naming conventions</a:t>
            </a:r>
          </a:p>
          <a:p>
            <a:pPr marL="0" indent="0">
              <a:buNone/>
            </a:pPr>
            <a:r>
              <a:rPr lang="en-IN" dirty="0"/>
              <a:t>Java follows camel-case syntax for naming the class, interface, method, and variable.</a:t>
            </a:r>
          </a:p>
          <a:p>
            <a:pPr marL="0" indent="0">
              <a:buNone/>
            </a:pPr>
            <a:r>
              <a:rPr lang="en-IN" dirty="0"/>
              <a:t>If the name is combined with two words, the second word will start with uppercase letter always such as </a:t>
            </a:r>
            <a:r>
              <a:rPr lang="en-IN" dirty="0" err="1"/>
              <a:t>actionPerformed</a:t>
            </a:r>
            <a:r>
              <a:rPr lang="en-IN" dirty="0"/>
              <a:t>(), </a:t>
            </a:r>
            <a:r>
              <a:rPr lang="en-IN" dirty="0" err="1"/>
              <a:t>firstName</a:t>
            </a:r>
            <a:r>
              <a:rPr lang="en-IN" dirty="0"/>
              <a:t>, </a:t>
            </a:r>
            <a:r>
              <a:rPr lang="en-IN" dirty="0" err="1"/>
              <a:t>ActionEvent</a:t>
            </a:r>
            <a:r>
              <a:rPr lang="en-IN" dirty="0"/>
              <a:t>, </a:t>
            </a:r>
            <a:r>
              <a:rPr lang="en-IN" dirty="0" err="1"/>
              <a:t>ActionListener</a:t>
            </a:r>
            <a:r>
              <a:rPr lang="en-IN" dirty="0"/>
              <a:t>, etc.</a:t>
            </a:r>
          </a:p>
          <a:p>
            <a:pPr marL="0" indent="0">
              <a:buNone/>
            </a:pPr>
            <a:endParaRPr lang="en-US" dirty="0"/>
          </a:p>
        </p:txBody>
      </p:sp>
    </p:spTree>
    <p:extLst>
      <p:ext uri="{BB962C8B-B14F-4D97-AF65-F5344CB8AC3E}">
        <p14:creationId xmlns:p14="http://schemas.microsoft.com/office/powerpoint/2010/main" val="33297651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AFD37-2307-ADB6-BC1C-AE864DEE2411}"/>
              </a:ext>
            </a:extLst>
          </p:cNvPr>
          <p:cNvSpPr>
            <a:spLocks noGrp="1"/>
          </p:cNvSpPr>
          <p:nvPr>
            <p:ph type="title"/>
          </p:nvPr>
        </p:nvSpPr>
        <p:spPr/>
        <p:txBody>
          <a:bodyPr/>
          <a:lstStyle/>
          <a:p>
            <a:r>
              <a:rPr lang="en-IN" dirty="0"/>
              <a:t>Operators Precedence</a:t>
            </a:r>
          </a:p>
        </p:txBody>
      </p:sp>
      <p:pic>
        <p:nvPicPr>
          <p:cNvPr id="1026" name="Picture 2" descr="Java Operator Precedence">
            <a:extLst>
              <a:ext uri="{FF2B5EF4-FFF2-40B4-BE49-F238E27FC236}">
                <a16:creationId xmlns:a16="http://schemas.microsoft.com/office/drawing/2014/main" id="{451AF11C-33C3-A83D-142E-480427E3FAF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45444" y="1930400"/>
            <a:ext cx="7904956" cy="4067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6593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6D05C-34A6-44FC-975C-A391ABEDD590}"/>
              </a:ext>
            </a:extLst>
          </p:cNvPr>
          <p:cNvSpPr>
            <a:spLocks noGrp="1"/>
          </p:cNvSpPr>
          <p:nvPr>
            <p:ph type="title"/>
          </p:nvPr>
        </p:nvSpPr>
        <p:spPr>
          <a:xfrm>
            <a:off x="677334" y="609600"/>
            <a:ext cx="8596668" cy="569205"/>
          </a:xfrm>
        </p:spPr>
        <p:txBody>
          <a:bodyPr>
            <a:normAutofit fontScale="90000"/>
          </a:bodyPr>
          <a:lstStyle/>
          <a:p>
            <a:r>
              <a:rPr lang="en-US" dirty="0"/>
              <a:t>Operators</a:t>
            </a:r>
            <a:endParaRPr lang="en-IN" dirty="0"/>
          </a:p>
        </p:txBody>
      </p:sp>
      <p:graphicFrame>
        <p:nvGraphicFramePr>
          <p:cNvPr id="8" name="Table 8">
            <a:extLst>
              <a:ext uri="{FF2B5EF4-FFF2-40B4-BE49-F238E27FC236}">
                <a16:creationId xmlns:a16="http://schemas.microsoft.com/office/drawing/2014/main" id="{94A24311-8D20-49FA-A4D0-2F0B0EC34A3F}"/>
              </a:ext>
            </a:extLst>
          </p:cNvPr>
          <p:cNvGraphicFramePr>
            <a:graphicFrameLocks noGrp="1"/>
          </p:cNvGraphicFramePr>
          <p:nvPr>
            <p:ph idx="1"/>
            <p:extLst>
              <p:ext uri="{D42A27DB-BD31-4B8C-83A1-F6EECF244321}">
                <p14:modId xmlns:p14="http://schemas.microsoft.com/office/powerpoint/2010/main" val="2660265521"/>
              </p:ext>
            </p:extLst>
          </p:nvPr>
        </p:nvGraphicFramePr>
        <p:xfrm>
          <a:off x="754981" y="1178805"/>
          <a:ext cx="8596311" cy="6210588"/>
        </p:xfrm>
        <a:graphic>
          <a:graphicData uri="http://schemas.openxmlformats.org/drawingml/2006/table">
            <a:tbl>
              <a:tblPr firstRow="1" bandRow="1">
                <a:tableStyleId>{5C22544A-7EE6-4342-B048-85BDC9FD1C3A}</a:tableStyleId>
              </a:tblPr>
              <a:tblGrid>
                <a:gridCol w="2865437">
                  <a:extLst>
                    <a:ext uri="{9D8B030D-6E8A-4147-A177-3AD203B41FA5}">
                      <a16:colId xmlns:a16="http://schemas.microsoft.com/office/drawing/2014/main" val="3151410888"/>
                    </a:ext>
                  </a:extLst>
                </a:gridCol>
                <a:gridCol w="1854965">
                  <a:extLst>
                    <a:ext uri="{9D8B030D-6E8A-4147-A177-3AD203B41FA5}">
                      <a16:colId xmlns:a16="http://schemas.microsoft.com/office/drawing/2014/main" val="1286898586"/>
                    </a:ext>
                  </a:extLst>
                </a:gridCol>
                <a:gridCol w="3875909">
                  <a:extLst>
                    <a:ext uri="{9D8B030D-6E8A-4147-A177-3AD203B41FA5}">
                      <a16:colId xmlns:a16="http://schemas.microsoft.com/office/drawing/2014/main" val="397296547"/>
                    </a:ext>
                  </a:extLst>
                </a:gridCol>
              </a:tblGrid>
              <a:tr h="418014">
                <a:tc>
                  <a:txBody>
                    <a:bodyPr/>
                    <a:lstStyle/>
                    <a:p>
                      <a:r>
                        <a:rPr lang="en-US" sz="1600" dirty="0"/>
                        <a:t>Operator Type</a:t>
                      </a:r>
                      <a:endParaRPr lang="en-IN" sz="1600" dirty="0"/>
                    </a:p>
                  </a:txBody>
                  <a:tcPr/>
                </a:tc>
                <a:tc>
                  <a:txBody>
                    <a:bodyPr/>
                    <a:lstStyle/>
                    <a:p>
                      <a:r>
                        <a:rPr lang="en-US" sz="1600" dirty="0"/>
                        <a:t>Category</a:t>
                      </a:r>
                      <a:endParaRPr lang="en-IN" sz="1600" dirty="0"/>
                    </a:p>
                  </a:txBody>
                  <a:tcPr/>
                </a:tc>
                <a:tc>
                  <a:txBody>
                    <a:bodyPr/>
                    <a:lstStyle/>
                    <a:p>
                      <a:r>
                        <a:rPr lang="en-US" sz="1600" dirty="0"/>
                        <a:t>Precedence</a:t>
                      </a:r>
                      <a:endParaRPr lang="en-IN" sz="1600" dirty="0"/>
                    </a:p>
                  </a:txBody>
                  <a:tcPr/>
                </a:tc>
                <a:extLst>
                  <a:ext uri="{0D108BD9-81ED-4DB2-BD59-A6C34878D82A}">
                    <a16:rowId xmlns:a16="http://schemas.microsoft.com/office/drawing/2014/main" val="1620885578"/>
                  </a:ext>
                </a:extLst>
              </a:tr>
              <a:tr h="321960">
                <a:tc>
                  <a:txBody>
                    <a:bodyPr/>
                    <a:lstStyle/>
                    <a:p>
                      <a:r>
                        <a:rPr lang="en-US" sz="1600" dirty="0"/>
                        <a:t>1. Arithmetic</a:t>
                      </a:r>
                      <a:endParaRPr lang="en-IN" sz="1600" dirty="0"/>
                    </a:p>
                  </a:txBody>
                  <a:tcPr/>
                </a:tc>
                <a:tc>
                  <a:txBody>
                    <a:bodyPr/>
                    <a:lstStyle/>
                    <a:p>
                      <a:r>
                        <a:rPr lang="en-US" sz="1600" dirty="0"/>
                        <a:t>Multiplicative</a:t>
                      </a:r>
                      <a:endParaRPr lang="en-IN" sz="1600" dirty="0"/>
                    </a:p>
                  </a:txBody>
                  <a:tcPr/>
                </a:tc>
                <a:tc>
                  <a:txBody>
                    <a:bodyPr/>
                    <a:lstStyle/>
                    <a:p>
                      <a:r>
                        <a:rPr lang="en-US" sz="1600" dirty="0"/>
                        <a:t>*, /, %</a:t>
                      </a:r>
                      <a:endParaRPr lang="en-IN" sz="1600" dirty="0"/>
                    </a:p>
                  </a:txBody>
                  <a:tcPr/>
                </a:tc>
                <a:extLst>
                  <a:ext uri="{0D108BD9-81ED-4DB2-BD59-A6C34878D82A}">
                    <a16:rowId xmlns:a16="http://schemas.microsoft.com/office/drawing/2014/main" val="3014440330"/>
                  </a:ext>
                </a:extLst>
              </a:tr>
              <a:tr h="321960">
                <a:tc>
                  <a:txBody>
                    <a:bodyPr/>
                    <a:lstStyle/>
                    <a:p>
                      <a:endParaRPr lang="en-IN" sz="1600" dirty="0"/>
                    </a:p>
                  </a:txBody>
                  <a:tcPr/>
                </a:tc>
                <a:tc>
                  <a:txBody>
                    <a:bodyPr/>
                    <a:lstStyle/>
                    <a:p>
                      <a:r>
                        <a:rPr lang="en-US" sz="1600" dirty="0"/>
                        <a:t>Addictive</a:t>
                      </a:r>
                      <a:endParaRPr lang="en-IN" sz="1600" dirty="0"/>
                    </a:p>
                  </a:txBody>
                  <a:tcPr/>
                </a:tc>
                <a:tc>
                  <a:txBody>
                    <a:bodyPr/>
                    <a:lstStyle/>
                    <a:p>
                      <a:r>
                        <a:rPr lang="en-US" sz="1600" dirty="0"/>
                        <a:t>+, -</a:t>
                      </a:r>
                      <a:endParaRPr lang="en-IN" sz="1600" dirty="0"/>
                    </a:p>
                  </a:txBody>
                  <a:tcPr/>
                </a:tc>
                <a:extLst>
                  <a:ext uri="{0D108BD9-81ED-4DB2-BD59-A6C34878D82A}">
                    <a16:rowId xmlns:a16="http://schemas.microsoft.com/office/drawing/2014/main" val="1128793210"/>
                  </a:ext>
                </a:extLst>
              </a:tr>
              <a:tr h="321960">
                <a:tc>
                  <a:txBody>
                    <a:bodyPr/>
                    <a:lstStyle/>
                    <a:p>
                      <a:r>
                        <a:rPr lang="en-US" sz="1600" dirty="0"/>
                        <a:t>2. Relational</a:t>
                      </a:r>
                      <a:endParaRPr lang="en-IN" sz="1600" dirty="0"/>
                    </a:p>
                  </a:txBody>
                  <a:tcPr/>
                </a:tc>
                <a:tc>
                  <a:txBody>
                    <a:bodyPr/>
                    <a:lstStyle/>
                    <a:p>
                      <a:r>
                        <a:rPr lang="en-US" sz="1600" dirty="0"/>
                        <a:t>Comparison</a:t>
                      </a:r>
                      <a:endParaRPr lang="en-IN" sz="1600" dirty="0"/>
                    </a:p>
                  </a:txBody>
                  <a:tcPr/>
                </a:tc>
                <a:tc>
                  <a:txBody>
                    <a:bodyPr/>
                    <a:lstStyle/>
                    <a:p>
                      <a:r>
                        <a:rPr lang="en-US" sz="1600" dirty="0"/>
                        <a:t>&lt;, &lt;=, &gt;, &gt;=</a:t>
                      </a:r>
                      <a:endParaRPr lang="en-IN" sz="1600" dirty="0"/>
                    </a:p>
                  </a:txBody>
                  <a:tcPr/>
                </a:tc>
                <a:extLst>
                  <a:ext uri="{0D108BD9-81ED-4DB2-BD59-A6C34878D82A}">
                    <a16:rowId xmlns:a16="http://schemas.microsoft.com/office/drawing/2014/main" val="1320189976"/>
                  </a:ext>
                </a:extLst>
              </a:tr>
              <a:tr h="321960">
                <a:tc>
                  <a:txBody>
                    <a:bodyPr/>
                    <a:lstStyle/>
                    <a:p>
                      <a:endParaRPr lang="en-IN" sz="1600"/>
                    </a:p>
                  </a:txBody>
                  <a:tcPr/>
                </a:tc>
                <a:tc>
                  <a:txBody>
                    <a:bodyPr/>
                    <a:lstStyle/>
                    <a:p>
                      <a:r>
                        <a:rPr lang="en-US" sz="1600" dirty="0"/>
                        <a:t>Equality</a:t>
                      </a:r>
                      <a:endParaRPr lang="en-IN" sz="1600" dirty="0"/>
                    </a:p>
                  </a:txBody>
                  <a:tcPr/>
                </a:tc>
                <a:tc>
                  <a:txBody>
                    <a:bodyPr/>
                    <a:lstStyle/>
                    <a:p>
                      <a:r>
                        <a:rPr lang="en-US" sz="1600" dirty="0"/>
                        <a:t>==, !=</a:t>
                      </a:r>
                      <a:endParaRPr lang="en-IN" sz="1600" dirty="0"/>
                    </a:p>
                  </a:txBody>
                  <a:tcPr/>
                </a:tc>
                <a:extLst>
                  <a:ext uri="{0D108BD9-81ED-4DB2-BD59-A6C34878D82A}">
                    <a16:rowId xmlns:a16="http://schemas.microsoft.com/office/drawing/2014/main" val="2802340313"/>
                  </a:ext>
                </a:extLst>
              </a:tr>
              <a:tr h="321960">
                <a:tc>
                  <a:txBody>
                    <a:bodyPr/>
                    <a:lstStyle/>
                    <a:p>
                      <a:r>
                        <a:rPr lang="en-US" sz="1600" dirty="0"/>
                        <a:t>3. Logical</a:t>
                      </a:r>
                      <a:endParaRPr lang="en-IN" sz="1600" dirty="0"/>
                    </a:p>
                  </a:txBody>
                  <a:tcPr/>
                </a:tc>
                <a:tc>
                  <a:txBody>
                    <a:bodyPr/>
                    <a:lstStyle/>
                    <a:p>
                      <a:r>
                        <a:rPr lang="en-US" sz="1600" dirty="0"/>
                        <a:t>And</a:t>
                      </a:r>
                      <a:endParaRPr lang="en-IN" sz="1600" dirty="0"/>
                    </a:p>
                  </a:txBody>
                  <a:tcPr/>
                </a:tc>
                <a:tc>
                  <a:txBody>
                    <a:bodyPr/>
                    <a:lstStyle/>
                    <a:p>
                      <a:r>
                        <a:rPr lang="en-US" sz="1600" dirty="0"/>
                        <a:t>&amp;&amp;</a:t>
                      </a:r>
                      <a:endParaRPr lang="en-IN" sz="1600" dirty="0"/>
                    </a:p>
                  </a:txBody>
                  <a:tcPr/>
                </a:tc>
                <a:extLst>
                  <a:ext uri="{0D108BD9-81ED-4DB2-BD59-A6C34878D82A}">
                    <a16:rowId xmlns:a16="http://schemas.microsoft.com/office/drawing/2014/main" val="3257568014"/>
                  </a:ext>
                </a:extLst>
              </a:tr>
              <a:tr h="321960">
                <a:tc>
                  <a:txBody>
                    <a:bodyPr/>
                    <a:lstStyle/>
                    <a:p>
                      <a:endParaRPr lang="en-IN" sz="1600" dirty="0"/>
                    </a:p>
                  </a:txBody>
                  <a:tcPr/>
                </a:tc>
                <a:tc>
                  <a:txBody>
                    <a:bodyPr/>
                    <a:lstStyle/>
                    <a:p>
                      <a:r>
                        <a:rPr lang="en-US" sz="1600" dirty="0"/>
                        <a:t>Or</a:t>
                      </a:r>
                      <a:endParaRPr lang="en-IN" sz="1600" dirty="0"/>
                    </a:p>
                  </a:txBody>
                  <a:tcPr/>
                </a:tc>
                <a:tc>
                  <a:txBody>
                    <a:bodyPr/>
                    <a:lstStyle/>
                    <a:p>
                      <a:r>
                        <a:rPr lang="en-US" sz="1600" dirty="0"/>
                        <a:t>||</a:t>
                      </a:r>
                      <a:endParaRPr lang="en-IN" sz="1600" dirty="0"/>
                    </a:p>
                  </a:txBody>
                  <a:tcPr/>
                </a:tc>
                <a:extLst>
                  <a:ext uri="{0D108BD9-81ED-4DB2-BD59-A6C34878D82A}">
                    <a16:rowId xmlns:a16="http://schemas.microsoft.com/office/drawing/2014/main" val="163164161"/>
                  </a:ext>
                </a:extLst>
              </a:tr>
              <a:tr h="321960">
                <a:tc>
                  <a:txBody>
                    <a:bodyPr/>
                    <a:lstStyle/>
                    <a:p>
                      <a:endParaRPr lang="en-IN" sz="1600" dirty="0"/>
                    </a:p>
                  </a:txBody>
                  <a:tcPr/>
                </a:tc>
                <a:tc>
                  <a:txBody>
                    <a:bodyPr/>
                    <a:lstStyle/>
                    <a:p>
                      <a:r>
                        <a:rPr lang="en-US" sz="1600" dirty="0"/>
                        <a:t>Not</a:t>
                      </a:r>
                      <a:endParaRPr lang="en-IN" sz="1600" dirty="0"/>
                    </a:p>
                  </a:txBody>
                  <a:tcPr/>
                </a:tc>
                <a:tc>
                  <a:txBody>
                    <a:bodyPr/>
                    <a:lstStyle/>
                    <a:p>
                      <a:r>
                        <a:rPr lang="en-US" sz="1600" dirty="0"/>
                        <a:t>!</a:t>
                      </a:r>
                      <a:endParaRPr lang="en-IN" sz="1600" dirty="0"/>
                    </a:p>
                  </a:txBody>
                  <a:tcPr/>
                </a:tc>
                <a:extLst>
                  <a:ext uri="{0D108BD9-81ED-4DB2-BD59-A6C34878D82A}">
                    <a16:rowId xmlns:a16="http://schemas.microsoft.com/office/drawing/2014/main" val="4002755484"/>
                  </a:ext>
                </a:extLst>
              </a:tr>
              <a:tr h="321960">
                <a:tc>
                  <a:txBody>
                    <a:bodyPr/>
                    <a:lstStyle/>
                    <a:p>
                      <a:r>
                        <a:rPr lang="en-US" sz="1600" dirty="0"/>
                        <a:t>4. Unary</a:t>
                      </a:r>
                      <a:endParaRPr lang="en-IN" sz="1600" dirty="0"/>
                    </a:p>
                  </a:txBody>
                  <a:tcPr/>
                </a:tc>
                <a:tc>
                  <a:txBody>
                    <a:bodyPr/>
                    <a:lstStyle/>
                    <a:p>
                      <a:r>
                        <a:rPr lang="en-US" sz="1600" dirty="0"/>
                        <a:t>Postfix</a:t>
                      </a:r>
                      <a:endParaRPr lang="en-IN" sz="1600" dirty="0"/>
                    </a:p>
                  </a:txBody>
                  <a:tcPr/>
                </a:tc>
                <a:tc>
                  <a:txBody>
                    <a:bodyPr/>
                    <a:lstStyle/>
                    <a:p>
                      <a:r>
                        <a:rPr lang="en-US" sz="1600" dirty="0"/>
                        <a:t>expr++, expr– Ex. </a:t>
                      </a:r>
                      <a:r>
                        <a:rPr lang="en-US" sz="1600" dirty="0" err="1"/>
                        <a:t>i</a:t>
                      </a:r>
                      <a:r>
                        <a:rPr lang="en-US" sz="1600" dirty="0"/>
                        <a:t>++, j--</a:t>
                      </a:r>
                      <a:endParaRPr lang="en-IN" sz="1600" dirty="0"/>
                    </a:p>
                  </a:txBody>
                  <a:tcPr/>
                </a:tc>
                <a:extLst>
                  <a:ext uri="{0D108BD9-81ED-4DB2-BD59-A6C34878D82A}">
                    <a16:rowId xmlns:a16="http://schemas.microsoft.com/office/drawing/2014/main" val="4127326351"/>
                  </a:ext>
                </a:extLst>
              </a:tr>
              <a:tr h="321960">
                <a:tc>
                  <a:txBody>
                    <a:bodyPr/>
                    <a:lstStyle/>
                    <a:p>
                      <a:endParaRPr lang="en-IN" sz="1600" dirty="0"/>
                    </a:p>
                  </a:txBody>
                  <a:tcPr/>
                </a:tc>
                <a:tc>
                  <a:txBody>
                    <a:bodyPr/>
                    <a:lstStyle/>
                    <a:p>
                      <a:r>
                        <a:rPr lang="en-US" sz="1600" dirty="0"/>
                        <a:t>Prefix</a:t>
                      </a:r>
                      <a:endParaRPr lang="en-IN" sz="1600" dirty="0"/>
                    </a:p>
                  </a:txBody>
                  <a:tcPr/>
                </a:tc>
                <a:tc>
                  <a:txBody>
                    <a:bodyPr/>
                    <a:lstStyle/>
                    <a:p>
                      <a:r>
                        <a:rPr lang="en-US" sz="1600" dirty="0"/>
                        <a:t>++expr, --expr Ex. --</a:t>
                      </a:r>
                      <a:r>
                        <a:rPr lang="en-US" sz="1600" dirty="0" err="1"/>
                        <a:t>i</a:t>
                      </a:r>
                      <a:r>
                        <a:rPr lang="en-US" sz="1600" dirty="0"/>
                        <a:t>, --j </a:t>
                      </a:r>
                      <a:endParaRPr lang="en-IN" sz="1600" dirty="0"/>
                    </a:p>
                  </a:txBody>
                  <a:tcPr/>
                </a:tc>
                <a:extLst>
                  <a:ext uri="{0D108BD9-81ED-4DB2-BD59-A6C34878D82A}">
                    <a16:rowId xmlns:a16="http://schemas.microsoft.com/office/drawing/2014/main" val="2109956184"/>
                  </a:ext>
                </a:extLst>
              </a:tr>
              <a:tr h="321960">
                <a:tc>
                  <a:txBody>
                    <a:bodyPr/>
                    <a:lstStyle/>
                    <a:p>
                      <a:r>
                        <a:rPr lang="en-US" sz="1600" dirty="0"/>
                        <a:t>5. Ternary</a:t>
                      </a:r>
                      <a:endParaRPr lang="en-IN" sz="1600" dirty="0"/>
                    </a:p>
                  </a:txBody>
                  <a:tcPr/>
                </a:tc>
                <a:tc>
                  <a:txBody>
                    <a:bodyPr/>
                    <a:lstStyle/>
                    <a:p>
                      <a:endParaRPr lang="en-IN" sz="1600" dirty="0"/>
                    </a:p>
                  </a:txBody>
                  <a:tcPr/>
                </a:tc>
                <a:tc>
                  <a:txBody>
                    <a:bodyPr/>
                    <a:lstStyle/>
                    <a:p>
                      <a:r>
                        <a:rPr lang="en-US" sz="1600" dirty="0"/>
                        <a:t>(condition)? </a:t>
                      </a:r>
                      <a:r>
                        <a:rPr lang="en-US" sz="1600" dirty="0" err="1"/>
                        <a:t>Stt</a:t>
                      </a:r>
                      <a:r>
                        <a:rPr lang="en-US" sz="1600" dirty="0"/>
                        <a:t> : </a:t>
                      </a:r>
                      <a:r>
                        <a:rPr lang="en-US" sz="1600" dirty="0" err="1"/>
                        <a:t>Stt</a:t>
                      </a:r>
                      <a:endParaRPr lang="en-IN" sz="1600" dirty="0"/>
                    </a:p>
                  </a:txBody>
                  <a:tcPr/>
                </a:tc>
                <a:extLst>
                  <a:ext uri="{0D108BD9-81ED-4DB2-BD59-A6C34878D82A}">
                    <a16:rowId xmlns:a16="http://schemas.microsoft.com/office/drawing/2014/main" val="2686893933"/>
                  </a:ext>
                </a:extLst>
              </a:tr>
              <a:tr h="321960">
                <a:tc>
                  <a:txBody>
                    <a:bodyPr/>
                    <a:lstStyle/>
                    <a:p>
                      <a:r>
                        <a:rPr lang="en-US" sz="1600" dirty="0"/>
                        <a:t>6. Bitwise </a:t>
                      </a:r>
                      <a:endParaRPr lang="en-IN" sz="1600" dirty="0"/>
                    </a:p>
                  </a:txBody>
                  <a:tcPr/>
                </a:tc>
                <a:tc>
                  <a:txBody>
                    <a:bodyPr/>
                    <a:lstStyle/>
                    <a:p>
                      <a:r>
                        <a:rPr lang="en-US" sz="1600" dirty="0"/>
                        <a:t>Bitwise And</a:t>
                      </a:r>
                      <a:endParaRPr lang="en-IN" sz="1600" dirty="0"/>
                    </a:p>
                  </a:txBody>
                  <a:tcPr/>
                </a:tc>
                <a:tc>
                  <a:txBody>
                    <a:bodyPr/>
                    <a:lstStyle/>
                    <a:p>
                      <a:r>
                        <a:rPr lang="en-US" sz="1600" dirty="0"/>
                        <a:t>&amp;</a:t>
                      </a:r>
                      <a:endParaRPr lang="en-IN" sz="1600" dirty="0"/>
                    </a:p>
                  </a:txBody>
                  <a:tcPr/>
                </a:tc>
                <a:extLst>
                  <a:ext uri="{0D108BD9-81ED-4DB2-BD59-A6C34878D82A}">
                    <a16:rowId xmlns:a16="http://schemas.microsoft.com/office/drawing/2014/main" val="3186731686"/>
                  </a:ext>
                </a:extLst>
              </a:tr>
              <a:tr h="321960">
                <a:tc>
                  <a:txBody>
                    <a:bodyPr/>
                    <a:lstStyle/>
                    <a:p>
                      <a:endParaRPr lang="en-IN" sz="1600" dirty="0"/>
                    </a:p>
                  </a:txBody>
                  <a:tcPr/>
                </a:tc>
                <a:tc>
                  <a:txBody>
                    <a:bodyPr/>
                    <a:lstStyle/>
                    <a:p>
                      <a:r>
                        <a:rPr lang="en-US" sz="1600" dirty="0"/>
                        <a:t>Bitwise Or</a:t>
                      </a:r>
                      <a:endParaRPr lang="en-IN" sz="1600" dirty="0"/>
                    </a:p>
                  </a:txBody>
                  <a:tcPr/>
                </a:tc>
                <a:tc>
                  <a:txBody>
                    <a:bodyPr/>
                    <a:lstStyle/>
                    <a:p>
                      <a:r>
                        <a:rPr lang="en-US" sz="1600" dirty="0"/>
                        <a:t>|</a:t>
                      </a:r>
                      <a:endParaRPr lang="en-IN" sz="1600" dirty="0"/>
                    </a:p>
                  </a:txBody>
                  <a:tcPr/>
                </a:tc>
                <a:extLst>
                  <a:ext uri="{0D108BD9-81ED-4DB2-BD59-A6C34878D82A}">
                    <a16:rowId xmlns:a16="http://schemas.microsoft.com/office/drawing/2014/main" val="1901142201"/>
                  </a:ext>
                </a:extLst>
              </a:tr>
              <a:tr h="556112">
                <a:tc>
                  <a:txBody>
                    <a:bodyPr/>
                    <a:lstStyle/>
                    <a:p>
                      <a:endParaRPr lang="en-IN" sz="1600" dirty="0"/>
                    </a:p>
                  </a:txBody>
                  <a:tcPr/>
                </a:tc>
                <a:tc>
                  <a:txBody>
                    <a:bodyPr/>
                    <a:lstStyle/>
                    <a:p>
                      <a:r>
                        <a:rPr lang="en-US" sz="1600" dirty="0"/>
                        <a:t>Bitwise Exclusive Or</a:t>
                      </a:r>
                      <a:endParaRPr lang="en-IN" sz="1600" dirty="0"/>
                    </a:p>
                  </a:txBody>
                  <a:tcPr/>
                </a:tc>
                <a:tc>
                  <a:txBody>
                    <a:bodyPr/>
                    <a:lstStyle/>
                    <a:p>
                      <a:r>
                        <a:rPr lang="en-US" sz="1600" dirty="0"/>
                        <a:t>^</a:t>
                      </a:r>
                      <a:endParaRPr lang="en-IN" sz="1600" dirty="0"/>
                    </a:p>
                  </a:txBody>
                  <a:tcPr/>
                </a:tc>
                <a:extLst>
                  <a:ext uri="{0D108BD9-81ED-4DB2-BD59-A6C34878D82A}">
                    <a16:rowId xmlns:a16="http://schemas.microsoft.com/office/drawing/2014/main" val="1430899344"/>
                  </a:ext>
                </a:extLst>
              </a:tr>
              <a:tr h="321960">
                <a:tc>
                  <a:txBody>
                    <a:bodyPr/>
                    <a:lstStyle/>
                    <a:p>
                      <a:r>
                        <a:rPr lang="en-US" sz="1600" dirty="0"/>
                        <a:t>7. Shift</a:t>
                      </a:r>
                      <a:endParaRPr lang="en-IN" sz="1600" dirty="0"/>
                    </a:p>
                  </a:txBody>
                  <a:tcPr/>
                </a:tc>
                <a:tc>
                  <a:txBody>
                    <a:bodyPr/>
                    <a:lstStyle/>
                    <a:p>
                      <a:endParaRPr lang="en-IN" sz="1600" dirty="0"/>
                    </a:p>
                  </a:txBody>
                  <a:tcPr/>
                </a:tc>
                <a:tc>
                  <a:txBody>
                    <a:bodyPr/>
                    <a:lstStyle/>
                    <a:p>
                      <a:r>
                        <a:rPr lang="en-US" sz="1600" dirty="0"/>
                        <a:t>&lt;&lt;, &gt;&gt;</a:t>
                      </a:r>
                      <a:endParaRPr lang="en-IN" sz="1600" dirty="0"/>
                    </a:p>
                  </a:txBody>
                  <a:tcPr/>
                </a:tc>
                <a:extLst>
                  <a:ext uri="{0D108BD9-81ED-4DB2-BD59-A6C34878D82A}">
                    <a16:rowId xmlns:a16="http://schemas.microsoft.com/office/drawing/2014/main" val="2007133830"/>
                  </a:ext>
                </a:extLst>
              </a:tr>
              <a:tr h="519534">
                <a:tc>
                  <a:txBody>
                    <a:bodyPr/>
                    <a:lstStyle/>
                    <a:p>
                      <a:r>
                        <a:rPr lang="en-US" sz="1600" dirty="0"/>
                        <a:t>8. Assignment </a:t>
                      </a:r>
                      <a:endParaRPr lang="en-IN" sz="1600" dirty="0"/>
                    </a:p>
                  </a:txBody>
                  <a:tcPr/>
                </a:tc>
                <a:tc>
                  <a:txBody>
                    <a:bodyPr/>
                    <a:lstStyle/>
                    <a:p>
                      <a:endParaRPr lang="en-IN" sz="1600" dirty="0"/>
                    </a:p>
                  </a:txBody>
                  <a:tcPr/>
                </a:tc>
                <a:tc>
                  <a:txBody>
                    <a:bodyPr/>
                    <a:lstStyle/>
                    <a:p>
                      <a:r>
                        <a:rPr lang="en-US" sz="1600" dirty="0"/>
                        <a:t>=, +=,-+,*=,/+,%=, &amp;=, !=, ^=, &lt;&lt;=, &gt;&gt;=</a:t>
                      </a:r>
                      <a:endParaRPr lang="en-IN" sz="1600" dirty="0"/>
                    </a:p>
                  </a:txBody>
                  <a:tcPr/>
                </a:tc>
                <a:extLst>
                  <a:ext uri="{0D108BD9-81ED-4DB2-BD59-A6C34878D82A}">
                    <a16:rowId xmlns:a16="http://schemas.microsoft.com/office/drawing/2014/main" val="3020579340"/>
                  </a:ext>
                </a:extLst>
              </a:tr>
              <a:tr h="321960">
                <a:tc>
                  <a:txBody>
                    <a:bodyPr/>
                    <a:lstStyle/>
                    <a:p>
                      <a:endParaRPr lang="en-IN" sz="1600" dirty="0"/>
                    </a:p>
                  </a:txBody>
                  <a:tcPr/>
                </a:tc>
                <a:tc>
                  <a:txBody>
                    <a:bodyPr/>
                    <a:lstStyle/>
                    <a:p>
                      <a:endParaRPr lang="en-IN" sz="1600" dirty="0"/>
                    </a:p>
                  </a:txBody>
                  <a:tcPr/>
                </a:tc>
                <a:tc>
                  <a:txBody>
                    <a:bodyPr/>
                    <a:lstStyle/>
                    <a:p>
                      <a:endParaRPr lang="en-IN" sz="1600" dirty="0"/>
                    </a:p>
                  </a:txBody>
                  <a:tcPr/>
                </a:tc>
                <a:extLst>
                  <a:ext uri="{0D108BD9-81ED-4DB2-BD59-A6C34878D82A}">
                    <a16:rowId xmlns:a16="http://schemas.microsoft.com/office/drawing/2014/main" val="1899758137"/>
                  </a:ext>
                </a:extLst>
              </a:tr>
            </a:tbl>
          </a:graphicData>
        </a:graphic>
      </p:graphicFrame>
    </p:spTree>
    <p:extLst>
      <p:ext uri="{BB962C8B-B14F-4D97-AF65-F5344CB8AC3E}">
        <p14:creationId xmlns:p14="http://schemas.microsoft.com/office/powerpoint/2010/main" val="11769141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176CF2ED-EEE9-D768-5C48-771EC5DE6A2B}"/>
              </a:ext>
            </a:extLst>
          </p:cNvPr>
          <p:cNvGraphicFramePr>
            <a:graphicFrameLocks noGrp="1"/>
          </p:cNvGraphicFramePr>
          <p:nvPr>
            <p:ph idx="1"/>
            <p:extLst>
              <p:ext uri="{D42A27DB-BD31-4B8C-83A1-F6EECF244321}">
                <p14:modId xmlns:p14="http://schemas.microsoft.com/office/powerpoint/2010/main" val="1715220405"/>
              </p:ext>
            </p:extLst>
          </p:nvPr>
        </p:nvGraphicFramePr>
        <p:xfrm>
          <a:off x="637579" y="543560"/>
          <a:ext cx="8596312" cy="5770880"/>
        </p:xfrm>
        <a:graphic>
          <a:graphicData uri="http://schemas.openxmlformats.org/drawingml/2006/table">
            <a:tbl>
              <a:tblPr firstRow="1" bandRow="1">
                <a:tableStyleId>{5C22544A-7EE6-4342-B048-85BDC9FD1C3A}</a:tableStyleId>
              </a:tblPr>
              <a:tblGrid>
                <a:gridCol w="2149078">
                  <a:extLst>
                    <a:ext uri="{9D8B030D-6E8A-4147-A177-3AD203B41FA5}">
                      <a16:colId xmlns:a16="http://schemas.microsoft.com/office/drawing/2014/main" val="2814230100"/>
                    </a:ext>
                  </a:extLst>
                </a:gridCol>
                <a:gridCol w="2149078">
                  <a:extLst>
                    <a:ext uri="{9D8B030D-6E8A-4147-A177-3AD203B41FA5}">
                      <a16:colId xmlns:a16="http://schemas.microsoft.com/office/drawing/2014/main" val="1060904954"/>
                    </a:ext>
                  </a:extLst>
                </a:gridCol>
                <a:gridCol w="2149078">
                  <a:extLst>
                    <a:ext uri="{9D8B030D-6E8A-4147-A177-3AD203B41FA5}">
                      <a16:colId xmlns:a16="http://schemas.microsoft.com/office/drawing/2014/main" val="915130041"/>
                    </a:ext>
                  </a:extLst>
                </a:gridCol>
                <a:gridCol w="2149078">
                  <a:extLst>
                    <a:ext uri="{9D8B030D-6E8A-4147-A177-3AD203B41FA5}">
                      <a16:colId xmlns:a16="http://schemas.microsoft.com/office/drawing/2014/main" val="2484600704"/>
                    </a:ext>
                  </a:extLst>
                </a:gridCol>
              </a:tblGrid>
              <a:tr h="370840">
                <a:tc>
                  <a:txBody>
                    <a:bodyPr/>
                    <a:lstStyle/>
                    <a:p>
                      <a:pPr algn="l" fontAlgn="t"/>
                      <a:r>
                        <a:rPr lang="en-IN" dirty="0">
                          <a:solidFill>
                            <a:srgbClr val="000000"/>
                          </a:solidFill>
                          <a:effectLst/>
                          <a:latin typeface="times new roman" panose="02020603050405020304" pitchFamily="18" charset="0"/>
                        </a:rPr>
                        <a:t>Precedence</a:t>
                      </a:r>
                    </a:p>
                  </a:txBody>
                  <a:tcPr marL="76200" marR="76200" marT="76200" marB="76200"/>
                </a:tc>
                <a:tc>
                  <a:txBody>
                    <a:bodyPr/>
                    <a:lstStyle/>
                    <a:p>
                      <a:pPr algn="l" fontAlgn="t"/>
                      <a:r>
                        <a:rPr lang="en-IN">
                          <a:solidFill>
                            <a:srgbClr val="000000"/>
                          </a:solidFill>
                          <a:effectLst/>
                          <a:latin typeface="times new roman" panose="02020603050405020304" pitchFamily="18" charset="0"/>
                        </a:rPr>
                        <a:t>Operator</a:t>
                      </a:r>
                    </a:p>
                  </a:txBody>
                  <a:tcPr marL="76200" marR="76200" marT="76200" marB="76200"/>
                </a:tc>
                <a:tc>
                  <a:txBody>
                    <a:bodyPr/>
                    <a:lstStyle/>
                    <a:p>
                      <a:pPr algn="l" fontAlgn="t"/>
                      <a:r>
                        <a:rPr lang="en-IN">
                          <a:solidFill>
                            <a:srgbClr val="000000"/>
                          </a:solidFill>
                          <a:effectLst/>
                          <a:latin typeface="times new roman" panose="02020603050405020304" pitchFamily="18" charset="0"/>
                        </a:rPr>
                        <a:t>Type</a:t>
                      </a:r>
                    </a:p>
                  </a:txBody>
                  <a:tcPr marL="76200" marR="76200" marT="76200" marB="76200"/>
                </a:tc>
                <a:tc>
                  <a:txBody>
                    <a:bodyPr/>
                    <a:lstStyle/>
                    <a:p>
                      <a:pPr algn="l" fontAlgn="t"/>
                      <a:r>
                        <a:rPr lang="en-IN">
                          <a:solidFill>
                            <a:srgbClr val="000000"/>
                          </a:solidFill>
                          <a:effectLst/>
                          <a:latin typeface="times new roman" panose="02020603050405020304" pitchFamily="18" charset="0"/>
                        </a:rPr>
                        <a:t>Associativity</a:t>
                      </a:r>
                    </a:p>
                  </a:txBody>
                  <a:tcPr marL="76200" marR="76200" marT="76200" marB="76200"/>
                </a:tc>
                <a:extLst>
                  <a:ext uri="{0D108BD9-81ED-4DB2-BD59-A6C34878D82A}">
                    <a16:rowId xmlns:a16="http://schemas.microsoft.com/office/drawing/2014/main" val="1091014180"/>
                  </a:ext>
                </a:extLst>
              </a:tr>
              <a:tr h="370840">
                <a:tc>
                  <a:txBody>
                    <a:bodyPr/>
                    <a:lstStyle/>
                    <a:p>
                      <a:pPr algn="just" fontAlgn="t"/>
                      <a:r>
                        <a:rPr lang="en-IN" dirty="0">
                          <a:solidFill>
                            <a:srgbClr val="333333"/>
                          </a:solidFill>
                          <a:effectLst/>
                          <a:latin typeface="inter-regular"/>
                        </a:rPr>
                        <a:t>15</a:t>
                      </a:r>
                    </a:p>
                  </a:txBody>
                  <a:tcPr marL="50800" marR="50800" marT="50800" marB="50800"/>
                </a:tc>
                <a:tc>
                  <a:txBody>
                    <a:bodyPr/>
                    <a:lstStyle/>
                    <a:p>
                      <a:pPr algn="just" fontAlgn="t"/>
                      <a:r>
                        <a:rPr lang="en-IN" dirty="0">
                          <a:solidFill>
                            <a:srgbClr val="333333"/>
                          </a:solidFill>
                          <a:effectLst/>
                          <a:latin typeface="inter-regular"/>
                        </a:rPr>
                        <a:t>()</a:t>
                      </a:r>
                      <a:br>
                        <a:rPr lang="en-IN" dirty="0">
                          <a:solidFill>
                            <a:srgbClr val="333333"/>
                          </a:solidFill>
                          <a:effectLst/>
                          <a:latin typeface="inter-regular"/>
                        </a:rPr>
                      </a:br>
                      <a:r>
                        <a:rPr lang="en-IN" dirty="0">
                          <a:solidFill>
                            <a:srgbClr val="333333"/>
                          </a:solidFill>
                          <a:effectLst/>
                          <a:latin typeface="inter-regular"/>
                        </a:rPr>
                        <a:t>[]</a:t>
                      </a:r>
                      <a:br>
                        <a:rPr lang="en-IN" dirty="0">
                          <a:solidFill>
                            <a:srgbClr val="333333"/>
                          </a:solidFill>
                          <a:effectLst/>
                          <a:latin typeface="inter-regular"/>
                        </a:rPr>
                      </a:br>
                      <a:r>
                        <a:rPr lang="en-IN" dirty="0">
                          <a:solidFill>
                            <a:srgbClr val="333333"/>
                          </a:solidFill>
                          <a:effectLst/>
                          <a:latin typeface="inter-regular"/>
                        </a:rPr>
                        <a:t>·</a:t>
                      </a:r>
                    </a:p>
                  </a:txBody>
                  <a:tcPr marL="50800" marR="50800" marT="50800" marB="50800"/>
                </a:tc>
                <a:tc>
                  <a:txBody>
                    <a:bodyPr/>
                    <a:lstStyle/>
                    <a:p>
                      <a:pPr algn="just" fontAlgn="t"/>
                      <a:r>
                        <a:rPr lang="en-US">
                          <a:solidFill>
                            <a:srgbClr val="333333"/>
                          </a:solidFill>
                          <a:effectLst/>
                          <a:latin typeface="inter-regular"/>
                        </a:rPr>
                        <a:t>Parentheses</a:t>
                      </a:r>
                      <a:br>
                        <a:rPr lang="en-US">
                          <a:solidFill>
                            <a:srgbClr val="333333"/>
                          </a:solidFill>
                          <a:effectLst/>
                          <a:latin typeface="inter-regular"/>
                        </a:rPr>
                      </a:br>
                      <a:r>
                        <a:rPr lang="en-US">
                          <a:solidFill>
                            <a:srgbClr val="333333"/>
                          </a:solidFill>
                          <a:effectLst/>
                          <a:latin typeface="inter-regular"/>
                        </a:rPr>
                        <a:t>Array subscript</a:t>
                      </a:r>
                      <a:br>
                        <a:rPr lang="en-US">
                          <a:solidFill>
                            <a:srgbClr val="333333"/>
                          </a:solidFill>
                          <a:effectLst/>
                          <a:latin typeface="inter-regular"/>
                        </a:rPr>
                      </a:br>
                      <a:r>
                        <a:rPr lang="en-US">
                          <a:solidFill>
                            <a:srgbClr val="333333"/>
                          </a:solidFill>
                          <a:effectLst/>
                          <a:latin typeface="inter-regular"/>
                        </a:rPr>
                        <a:t>Member selection</a:t>
                      </a:r>
                    </a:p>
                  </a:txBody>
                  <a:tcPr marL="50800" marR="50800" marT="50800" marB="50800"/>
                </a:tc>
                <a:tc>
                  <a:txBody>
                    <a:bodyPr/>
                    <a:lstStyle/>
                    <a:p>
                      <a:pPr algn="just" fontAlgn="t"/>
                      <a:r>
                        <a:rPr lang="en-IN">
                          <a:solidFill>
                            <a:srgbClr val="333333"/>
                          </a:solidFill>
                          <a:effectLst/>
                          <a:latin typeface="inter-regular"/>
                        </a:rPr>
                        <a:t>Left to Right</a:t>
                      </a:r>
                    </a:p>
                  </a:txBody>
                  <a:tcPr marL="50800" marR="50800" marT="50800" marB="50800"/>
                </a:tc>
                <a:extLst>
                  <a:ext uri="{0D108BD9-81ED-4DB2-BD59-A6C34878D82A}">
                    <a16:rowId xmlns:a16="http://schemas.microsoft.com/office/drawing/2014/main" val="3732597261"/>
                  </a:ext>
                </a:extLst>
              </a:tr>
              <a:tr h="370840">
                <a:tc>
                  <a:txBody>
                    <a:bodyPr/>
                    <a:lstStyle/>
                    <a:p>
                      <a:pPr algn="just" fontAlgn="t"/>
                      <a:r>
                        <a:rPr lang="en-IN">
                          <a:solidFill>
                            <a:srgbClr val="333333"/>
                          </a:solidFill>
                          <a:effectLst/>
                          <a:latin typeface="inter-regular"/>
                        </a:rPr>
                        <a:t>14</a:t>
                      </a:r>
                    </a:p>
                  </a:txBody>
                  <a:tcPr marL="50800" marR="50800" marT="50800" marB="50800"/>
                </a:tc>
                <a:tc>
                  <a:txBody>
                    <a:bodyPr/>
                    <a:lstStyle/>
                    <a:p>
                      <a:pPr algn="just" fontAlgn="t"/>
                      <a:r>
                        <a:rPr lang="en-IN" dirty="0">
                          <a:solidFill>
                            <a:srgbClr val="333333"/>
                          </a:solidFill>
                          <a:effectLst/>
                          <a:latin typeface="inter-regular"/>
                        </a:rPr>
                        <a:t>++</a:t>
                      </a:r>
                      <a:br>
                        <a:rPr lang="en-IN" dirty="0">
                          <a:solidFill>
                            <a:srgbClr val="333333"/>
                          </a:solidFill>
                          <a:effectLst/>
                          <a:latin typeface="inter-regular"/>
                        </a:rPr>
                      </a:br>
                      <a:r>
                        <a:rPr lang="en-IN" dirty="0">
                          <a:solidFill>
                            <a:srgbClr val="333333"/>
                          </a:solidFill>
                          <a:effectLst/>
                          <a:latin typeface="inter-regular"/>
                        </a:rPr>
                        <a:t>--</a:t>
                      </a:r>
                    </a:p>
                  </a:txBody>
                  <a:tcPr marL="50800" marR="50800" marT="50800" marB="50800"/>
                </a:tc>
                <a:tc>
                  <a:txBody>
                    <a:bodyPr/>
                    <a:lstStyle/>
                    <a:p>
                      <a:pPr algn="just" fontAlgn="t"/>
                      <a:r>
                        <a:rPr lang="en-IN">
                          <a:solidFill>
                            <a:srgbClr val="333333"/>
                          </a:solidFill>
                          <a:effectLst/>
                          <a:latin typeface="inter-regular"/>
                        </a:rPr>
                        <a:t>Unary post-increment</a:t>
                      </a:r>
                      <a:br>
                        <a:rPr lang="en-IN">
                          <a:solidFill>
                            <a:srgbClr val="333333"/>
                          </a:solidFill>
                          <a:effectLst/>
                          <a:latin typeface="inter-regular"/>
                        </a:rPr>
                      </a:br>
                      <a:r>
                        <a:rPr lang="en-IN">
                          <a:solidFill>
                            <a:srgbClr val="333333"/>
                          </a:solidFill>
                          <a:effectLst/>
                          <a:latin typeface="inter-regular"/>
                        </a:rPr>
                        <a:t>Unary post-decrement</a:t>
                      </a:r>
                    </a:p>
                  </a:txBody>
                  <a:tcPr marL="50800" marR="50800" marT="50800" marB="50800"/>
                </a:tc>
                <a:tc>
                  <a:txBody>
                    <a:bodyPr/>
                    <a:lstStyle/>
                    <a:p>
                      <a:pPr algn="just" fontAlgn="t"/>
                      <a:r>
                        <a:rPr lang="en-IN">
                          <a:solidFill>
                            <a:srgbClr val="333333"/>
                          </a:solidFill>
                          <a:effectLst/>
                          <a:latin typeface="inter-regular"/>
                        </a:rPr>
                        <a:t>Right to left</a:t>
                      </a:r>
                    </a:p>
                  </a:txBody>
                  <a:tcPr marL="50800" marR="50800" marT="50800" marB="50800"/>
                </a:tc>
                <a:extLst>
                  <a:ext uri="{0D108BD9-81ED-4DB2-BD59-A6C34878D82A}">
                    <a16:rowId xmlns:a16="http://schemas.microsoft.com/office/drawing/2014/main" val="3276284195"/>
                  </a:ext>
                </a:extLst>
              </a:tr>
              <a:tr h="370840">
                <a:tc>
                  <a:txBody>
                    <a:bodyPr/>
                    <a:lstStyle/>
                    <a:p>
                      <a:pPr algn="just" fontAlgn="t"/>
                      <a:r>
                        <a:rPr lang="en-IN">
                          <a:solidFill>
                            <a:srgbClr val="333333"/>
                          </a:solidFill>
                          <a:effectLst/>
                          <a:latin typeface="inter-regular"/>
                        </a:rPr>
                        <a:t>13</a:t>
                      </a:r>
                    </a:p>
                  </a:txBody>
                  <a:tcPr marL="50800" marR="50800" marT="50800" marB="50800"/>
                </a:tc>
                <a:tc>
                  <a:txBody>
                    <a:bodyPr/>
                    <a:lstStyle/>
                    <a:p>
                      <a:pPr algn="just" fontAlgn="t"/>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(type)</a:t>
                      </a:r>
                    </a:p>
                  </a:txBody>
                  <a:tcPr marL="50800" marR="50800" marT="50800" marB="50800"/>
                </a:tc>
                <a:tc>
                  <a:txBody>
                    <a:bodyPr/>
                    <a:lstStyle/>
                    <a:p>
                      <a:pPr algn="just" fontAlgn="t"/>
                      <a:r>
                        <a:rPr lang="en-US">
                          <a:solidFill>
                            <a:srgbClr val="333333"/>
                          </a:solidFill>
                          <a:effectLst/>
                          <a:latin typeface="inter-regular"/>
                        </a:rPr>
                        <a:t>Unary pre-increment</a:t>
                      </a:r>
                      <a:br>
                        <a:rPr lang="en-US">
                          <a:solidFill>
                            <a:srgbClr val="333333"/>
                          </a:solidFill>
                          <a:effectLst/>
                          <a:latin typeface="inter-regular"/>
                        </a:rPr>
                      </a:br>
                      <a:r>
                        <a:rPr lang="en-US">
                          <a:solidFill>
                            <a:srgbClr val="333333"/>
                          </a:solidFill>
                          <a:effectLst/>
                          <a:latin typeface="inter-regular"/>
                        </a:rPr>
                        <a:t>Unary pre-decrement</a:t>
                      </a:r>
                      <a:br>
                        <a:rPr lang="en-US">
                          <a:solidFill>
                            <a:srgbClr val="333333"/>
                          </a:solidFill>
                          <a:effectLst/>
                          <a:latin typeface="inter-regular"/>
                        </a:rPr>
                      </a:br>
                      <a:r>
                        <a:rPr lang="en-US">
                          <a:solidFill>
                            <a:srgbClr val="333333"/>
                          </a:solidFill>
                          <a:effectLst/>
                          <a:latin typeface="inter-regular"/>
                        </a:rPr>
                        <a:t>Unary plus</a:t>
                      </a:r>
                      <a:br>
                        <a:rPr lang="en-US">
                          <a:solidFill>
                            <a:srgbClr val="333333"/>
                          </a:solidFill>
                          <a:effectLst/>
                          <a:latin typeface="inter-regular"/>
                        </a:rPr>
                      </a:br>
                      <a:r>
                        <a:rPr lang="en-US">
                          <a:solidFill>
                            <a:srgbClr val="333333"/>
                          </a:solidFill>
                          <a:effectLst/>
                          <a:latin typeface="inter-regular"/>
                        </a:rPr>
                        <a:t>Unary minus</a:t>
                      </a:r>
                      <a:br>
                        <a:rPr lang="en-US">
                          <a:solidFill>
                            <a:srgbClr val="333333"/>
                          </a:solidFill>
                          <a:effectLst/>
                          <a:latin typeface="inter-regular"/>
                        </a:rPr>
                      </a:br>
                      <a:r>
                        <a:rPr lang="en-US">
                          <a:solidFill>
                            <a:srgbClr val="333333"/>
                          </a:solidFill>
                          <a:effectLst/>
                          <a:latin typeface="inter-regular"/>
                        </a:rPr>
                        <a:t>Unary logical negation</a:t>
                      </a:r>
                      <a:br>
                        <a:rPr lang="en-US">
                          <a:solidFill>
                            <a:srgbClr val="333333"/>
                          </a:solidFill>
                          <a:effectLst/>
                          <a:latin typeface="inter-regular"/>
                        </a:rPr>
                      </a:br>
                      <a:r>
                        <a:rPr lang="en-US">
                          <a:solidFill>
                            <a:srgbClr val="333333"/>
                          </a:solidFill>
                          <a:effectLst/>
                          <a:latin typeface="inter-regular"/>
                        </a:rPr>
                        <a:t>Unary bitwise complement</a:t>
                      </a:r>
                      <a:br>
                        <a:rPr lang="en-US">
                          <a:solidFill>
                            <a:srgbClr val="333333"/>
                          </a:solidFill>
                          <a:effectLst/>
                          <a:latin typeface="inter-regular"/>
                        </a:rPr>
                      </a:br>
                      <a:r>
                        <a:rPr lang="en-US">
                          <a:solidFill>
                            <a:srgbClr val="333333"/>
                          </a:solidFill>
                          <a:effectLst/>
                          <a:latin typeface="inter-regular"/>
                        </a:rPr>
                        <a:t>Unary type cast</a:t>
                      </a:r>
                    </a:p>
                  </a:txBody>
                  <a:tcPr marL="50800" marR="50800" marT="50800" marB="50800"/>
                </a:tc>
                <a:tc>
                  <a:txBody>
                    <a:bodyPr/>
                    <a:lstStyle/>
                    <a:p>
                      <a:pPr algn="just" fontAlgn="t"/>
                      <a:r>
                        <a:rPr lang="en-IN">
                          <a:solidFill>
                            <a:srgbClr val="333333"/>
                          </a:solidFill>
                          <a:effectLst/>
                          <a:latin typeface="inter-regular"/>
                        </a:rPr>
                        <a:t>Right to left</a:t>
                      </a:r>
                    </a:p>
                  </a:txBody>
                  <a:tcPr marL="50800" marR="50800" marT="50800" marB="50800"/>
                </a:tc>
                <a:extLst>
                  <a:ext uri="{0D108BD9-81ED-4DB2-BD59-A6C34878D82A}">
                    <a16:rowId xmlns:a16="http://schemas.microsoft.com/office/drawing/2014/main" val="4238943601"/>
                  </a:ext>
                </a:extLst>
              </a:tr>
              <a:tr h="370840">
                <a:tc>
                  <a:txBody>
                    <a:bodyPr/>
                    <a:lstStyle/>
                    <a:p>
                      <a:pPr algn="just" fontAlgn="t"/>
                      <a:r>
                        <a:rPr lang="en-IN">
                          <a:solidFill>
                            <a:srgbClr val="333333"/>
                          </a:solidFill>
                          <a:effectLst/>
                          <a:latin typeface="inter-regular"/>
                        </a:rPr>
                        <a:t>12</a:t>
                      </a:r>
                    </a:p>
                  </a:txBody>
                  <a:tcPr marL="50800" marR="50800" marT="50800" marB="50800"/>
                </a:tc>
                <a:tc>
                  <a:txBody>
                    <a:bodyPr/>
                    <a:lstStyle/>
                    <a:p>
                      <a:pPr algn="just" fontAlgn="t"/>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p>
                  </a:txBody>
                  <a:tcPr marL="50800" marR="50800" marT="50800" marB="50800"/>
                </a:tc>
                <a:tc>
                  <a:txBody>
                    <a:bodyPr/>
                    <a:lstStyle/>
                    <a:p>
                      <a:pPr algn="just" fontAlgn="t"/>
                      <a:r>
                        <a:rPr lang="en-IN">
                          <a:solidFill>
                            <a:srgbClr val="333333"/>
                          </a:solidFill>
                          <a:effectLst/>
                          <a:latin typeface="inter-regular"/>
                        </a:rPr>
                        <a:t>Multiplication</a:t>
                      </a:r>
                      <a:br>
                        <a:rPr lang="en-IN">
                          <a:solidFill>
                            <a:srgbClr val="333333"/>
                          </a:solidFill>
                          <a:effectLst/>
                          <a:latin typeface="inter-regular"/>
                        </a:rPr>
                      </a:br>
                      <a:r>
                        <a:rPr lang="en-IN">
                          <a:solidFill>
                            <a:srgbClr val="333333"/>
                          </a:solidFill>
                          <a:effectLst/>
                          <a:latin typeface="inter-regular"/>
                        </a:rPr>
                        <a:t>Division</a:t>
                      </a:r>
                      <a:br>
                        <a:rPr lang="en-IN">
                          <a:solidFill>
                            <a:srgbClr val="333333"/>
                          </a:solidFill>
                          <a:effectLst/>
                          <a:latin typeface="inter-regular"/>
                        </a:rPr>
                      </a:br>
                      <a:r>
                        <a:rPr lang="en-IN">
                          <a:solidFill>
                            <a:srgbClr val="333333"/>
                          </a:solidFill>
                          <a:effectLst/>
                          <a:latin typeface="inter-regular"/>
                        </a:rPr>
                        <a:t>Modulus</a:t>
                      </a:r>
                    </a:p>
                  </a:txBody>
                  <a:tcPr marL="50800" marR="50800" marT="50800" marB="50800"/>
                </a:tc>
                <a:tc>
                  <a:txBody>
                    <a:bodyPr/>
                    <a:lstStyle/>
                    <a:p>
                      <a:pPr algn="just" fontAlgn="t"/>
                      <a:r>
                        <a:rPr lang="en-IN" dirty="0">
                          <a:solidFill>
                            <a:srgbClr val="333333"/>
                          </a:solidFill>
                          <a:effectLst/>
                          <a:latin typeface="inter-regular"/>
                        </a:rPr>
                        <a:t>Left to right</a:t>
                      </a:r>
                    </a:p>
                  </a:txBody>
                  <a:tcPr marL="50800" marR="50800" marT="50800" marB="50800"/>
                </a:tc>
                <a:extLst>
                  <a:ext uri="{0D108BD9-81ED-4DB2-BD59-A6C34878D82A}">
                    <a16:rowId xmlns:a16="http://schemas.microsoft.com/office/drawing/2014/main" val="3851179235"/>
                  </a:ext>
                </a:extLst>
              </a:tr>
            </a:tbl>
          </a:graphicData>
        </a:graphic>
      </p:graphicFrame>
    </p:spTree>
    <p:extLst>
      <p:ext uri="{BB962C8B-B14F-4D97-AF65-F5344CB8AC3E}">
        <p14:creationId xmlns:p14="http://schemas.microsoft.com/office/powerpoint/2010/main" val="24540459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B5AE2-D8C3-4F7C-2422-A2EB9E2FEB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50DFB5-BC5A-4853-65B3-8BF74F1B8BDF}"/>
              </a:ext>
            </a:extLst>
          </p:cNvPr>
          <p:cNvSpPr>
            <a:spLocks noGrp="1"/>
          </p:cNvSpPr>
          <p:nvPr>
            <p:ph type="title"/>
          </p:nvPr>
        </p:nvSpPr>
        <p:spPr>
          <a:xfrm>
            <a:off x="677863" y="223520"/>
            <a:ext cx="8596668" cy="762000"/>
          </a:xfrm>
        </p:spPr>
        <p:txBody>
          <a:bodyPr/>
          <a:lstStyle/>
          <a:p>
            <a:endParaRPr lang="en-IN" dirty="0"/>
          </a:p>
        </p:txBody>
      </p:sp>
      <p:graphicFrame>
        <p:nvGraphicFramePr>
          <p:cNvPr id="7" name="Content Placeholder 6">
            <a:extLst>
              <a:ext uri="{FF2B5EF4-FFF2-40B4-BE49-F238E27FC236}">
                <a16:creationId xmlns:a16="http://schemas.microsoft.com/office/drawing/2014/main" id="{987CEF5C-A4E8-A7A8-5663-ECD2147149C1}"/>
              </a:ext>
            </a:extLst>
          </p:cNvPr>
          <p:cNvGraphicFramePr>
            <a:graphicFrameLocks noGrp="1"/>
          </p:cNvGraphicFramePr>
          <p:nvPr>
            <p:ph idx="1"/>
            <p:extLst>
              <p:ext uri="{D42A27DB-BD31-4B8C-83A1-F6EECF244321}">
                <p14:modId xmlns:p14="http://schemas.microsoft.com/office/powerpoint/2010/main" val="3387071415"/>
              </p:ext>
            </p:extLst>
          </p:nvPr>
        </p:nvGraphicFramePr>
        <p:xfrm>
          <a:off x="678219" y="1276668"/>
          <a:ext cx="8596312" cy="6045200"/>
        </p:xfrm>
        <a:graphic>
          <a:graphicData uri="http://schemas.openxmlformats.org/drawingml/2006/table">
            <a:tbl>
              <a:tblPr firstRow="1" bandRow="1">
                <a:tableStyleId>{5C22544A-7EE6-4342-B048-85BDC9FD1C3A}</a:tableStyleId>
              </a:tblPr>
              <a:tblGrid>
                <a:gridCol w="2149078">
                  <a:extLst>
                    <a:ext uri="{9D8B030D-6E8A-4147-A177-3AD203B41FA5}">
                      <a16:colId xmlns:a16="http://schemas.microsoft.com/office/drawing/2014/main" val="2814230100"/>
                    </a:ext>
                  </a:extLst>
                </a:gridCol>
                <a:gridCol w="2149078">
                  <a:extLst>
                    <a:ext uri="{9D8B030D-6E8A-4147-A177-3AD203B41FA5}">
                      <a16:colId xmlns:a16="http://schemas.microsoft.com/office/drawing/2014/main" val="1060904954"/>
                    </a:ext>
                  </a:extLst>
                </a:gridCol>
                <a:gridCol w="2149078">
                  <a:extLst>
                    <a:ext uri="{9D8B030D-6E8A-4147-A177-3AD203B41FA5}">
                      <a16:colId xmlns:a16="http://schemas.microsoft.com/office/drawing/2014/main" val="915130041"/>
                    </a:ext>
                  </a:extLst>
                </a:gridCol>
                <a:gridCol w="2149078">
                  <a:extLst>
                    <a:ext uri="{9D8B030D-6E8A-4147-A177-3AD203B41FA5}">
                      <a16:colId xmlns:a16="http://schemas.microsoft.com/office/drawing/2014/main" val="2484600704"/>
                    </a:ext>
                  </a:extLst>
                </a:gridCol>
              </a:tblGrid>
              <a:tr h="370840">
                <a:tc>
                  <a:txBody>
                    <a:bodyPr/>
                    <a:lstStyle/>
                    <a:p>
                      <a:pPr algn="l" fontAlgn="t"/>
                      <a:r>
                        <a:rPr lang="en-IN" dirty="0">
                          <a:solidFill>
                            <a:srgbClr val="000000"/>
                          </a:solidFill>
                          <a:effectLst/>
                          <a:latin typeface="times new roman" panose="02020603050405020304" pitchFamily="18" charset="0"/>
                        </a:rPr>
                        <a:t>Precedence</a:t>
                      </a:r>
                    </a:p>
                  </a:txBody>
                  <a:tcPr marL="76200" marR="76200" marT="76200" marB="76200"/>
                </a:tc>
                <a:tc>
                  <a:txBody>
                    <a:bodyPr/>
                    <a:lstStyle/>
                    <a:p>
                      <a:pPr algn="l" fontAlgn="t"/>
                      <a:r>
                        <a:rPr lang="en-IN">
                          <a:solidFill>
                            <a:srgbClr val="000000"/>
                          </a:solidFill>
                          <a:effectLst/>
                          <a:latin typeface="times new roman" panose="02020603050405020304" pitchFamily="18" charset="0"/>
                        </a:rPr>
                        <a:t>Operator</a:t>
                      </a:r>
                    </a:p>
                  </a:txBody>
                  <a:tcPr marL="76200" marR="76200" marT="76200" marB="76200"/>
                </a:tc>
                <a:tc>
                  <a:txBody>
                    <a:bodyPr/>
                    <a:lstStyle/>
                    <a:p>
                      <a:pPr algn="l" fontAlgn="t"/>
                      <a:r>
                        <a:rPr lang="en-IN">
                          <a:solidFill>
                            <a:srgbClr val="000000"/>
                          </a:solidFill>
                          <a:effectLst/>
                          <a:latin typeface="times new roman" panose="02020603050405020304" pitchFamily="18" charset="0"/>
                        </a:rPr>
                        <a:t>Type</a:t>
                      </a:r>
                    </a:p>
                  </a:txBody>
                  <a:tcPr marL="76200" marR="76200" marT="76200" marB="76200"/>
                </a:tc>
                <a:tc>
                  <a:txBody>
                    <a:bodyPr/>
                    <a:lstStyle/>
                    <a:p>
                      <a:pPr algn="l" fontAlgn="t"/>
                      <a:r>
                        <a:rPr lang="en-IN">
                          <a:solidFill>
                            <a:srgbClr val="000000"/>
                          </a:solidFill>
                          <a:effectLst/>
                          <a:latin typeface="times new roman" panose="02020603050405020304" pitchFamily="18" charset="0"/>
                        </a:rPr>
                        <a:t>Associativity</a:t>
                      </a:r>
                    </a:p>
                  </a:txBody>
                  <a:tcPr marL="76200" marR="76200" marT="76200" marB="76200"/>
                </a:tc>
                <a:extLst>
                  <a:ext uri="{0D108BD9-81ED-4DB2-BD59-A6C34878D82A}">
                    <a16:rowId xmlns:a16="http://schemas.microsoft.com/office/drawing/2014/main" val="1091014180"/>
                  </a:ext>
                </a:extLst>
              </a:tr>
              <a:tr h="370840">
                <a:tc>
                  <a:txBody>
                    <a:bodyPr/>
                    <a:lstStyle/>
                    <a:p>
                      <a:pPr algn="just" fontAlgn="t"/>
                      <a:r>
                        <a:rPr lang="en-IN" dirty="0">
                          <a:solidFill>
                            <a:srgbClr val="333333"/>
                          </a:solidFill>
                          <a:effectLst/>
                          <a:latin typeface="inter-regular"/>
                        </a:rPr>
                        <a:t>11</a:t>
                      </a:r>
                    </a:p>
                  </a:txBody>
                  <a:tcPr marL="50800" marR="50800" marT="50800" marB="50800"/>
                </a:tc>
                <a:tc>
                  <a:txBody>
                    <a:bodyPr/>
                    <a:lstStyle/>
                    <a:p>
                      <a:pPr algn="just" fontAlgn="t"/>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p>
                  </a:txBody>
                  <a:tcPr marL="50800" marR="50800" marT="50800" marB="50800"/>
                </a:tc>
                <a:tc>
                  <a:txBody>
                    <a:bodyPr/>
                    <a:lstStyle/>
                    <a:p>
                      <a:pPr algn="l" fontAlgn="t"/>
                      <a:r>
                        <a:rPr lang="en-IN" dirty="0">
                          <a:solidFill>
                            <a:srgbClr val="333333"/>
                          </a:solidFill>
                          <a:effectLst/>
                          <a:latin typeface="inter-regular"/>
                        </a:rPr>
                        <a:t>Addition</a:t>
                      </a:r>
                      <a:br>
                        <a:rPr lang="en-IN" dirty="0">
                          <a:solidFill>
                            <a:srgbClr val="333333"/>
                          </a:solidFill>
                          <a:effectLst/>
                          <a:latin typeface="inter-regular"/>
                        </a:rPr>
                      </a:br>
                      <a:r>
                        <a:rPr lang="en-IN" dirty="0">
                          <a:solidFill>
                            <a:srgbClr val="333333"/>
                          </a:solidFill>
                          <a:effectLst/>
                          <a:latin typeface="inter-regular"/>
                        </a:rPr>
                        <a:t>Subtraction</a:t>
                      </a:r>
                    </a:p>
                  </a:txBody>
                  <a:tcPr marL="50800" marR="50800" marT="50800" marB="50800"/>
                </a:tc>
                <a:tc>
                  <a:txBody>
                    <a:bodyPr/>
                    <a:lstStyle/>
                    <a:p>
                      <a:pPr algn="just" fontAlgn="t"/>
                      <a:r>
                        <a:rPr lang="en-IN">
                          <a:solidFill>
                            <a:srgbClr val="333333"/>
                          </a:solidFill>
                          <a:effectLst/>
                          <a:latin typeface="inter-regular"/>
                        </a:rPr>
                        <a:t>Left to right</a:t>
                      </a:r>
                    </a:p>
                  </a:txBody>
                  <a:tcPr marL="50800" marR="50800" marT="50800" marB="50800"/>
                </a:tc>
                <a:extLst>
                  <a:ext uri="{0D108BD9-81ED-4DB2-BD59-A6C34878D82A}">
                    <a16:rowId xmlns:a16="http://schemas.microsoft.com/office/drawing/2014/main" val="3732597261"/>
                  </a:ext>
                </a:extLst>
              </a:tr>
              <a:tr h="370840">
                <a:tc>
                  <a:txBody>
                    <a:bodyPr/>
                    <a:lstStyle/>
                    <a:p>
                      <a:pPr algn="just" fontAlgn="t"/>
                      <a:r>
                        <a:rPr lang="en-IN">
                          <a:solidFill>
                            <a:srgbClr val="333333"/>
                          </a:solidFill>
                          <a:effectLst/>
                          <a:latin typeface="inter-regular"/>
                        </a:rPr>
                        <a:t>10</a:t>
                      </a:r>
                    </a:p>
                  </a:txBody>
                  <a:tcPr marL="50800" marR="50800" marT="50800" marB="50800"/>
                </a:tc>
                <a:tc>
                  <a:txBody>
                    <a:bodyPr/>
                    <a:lstStyle/>
                    <a:p>
                      <a:pPr algn="just" fontAlgn="t"/>
                      <a:r>
                        <a:rPr lang="en-IN">
                          <a:solidFill>
                            <a:srgbClr val="333333"/>
                          </a:solidFill>
                          <a:effectLst/>
                          <a:latin typeface="inter-regular"/>
                        </a:rPr>
                        <a:t>&lt;&lt;</a:t>
                      </a:r>
                      <a:br>
                        <a:rPr lang="en-IN">
                          <a:solidFill>
                            <a:srgbClr val="333333"/>
                          </a:solidFill>
                          <a:effectLst/>
                          <a:latin typeface="inter-regular"/>
                        </a:rPr>
                      </a:br>
                      <a:r>
                        <a:rPr lang="en-IN">
                          <a:solidFill>
                            <a:srgbClr val="333333"/>
                          </a:solidFill>
                          <a:effectLst/>
                          <a:latin typeface="inter-regular"/>
                        </a:rPr>
                        <a:t>&gt;&gt;</a:t>
                      </a:r>
                      <a:br>
                        <a:rPr lang="en-IN">
                          <a:solidFill>
                            <a:srgbClr val="333333"/>
                          </a:solidFill>
                          <a:effectLst/>
                          <a:latin typeface="inter-regular"/>
                        </a:rPr>
                      </a:br>
                      <a:r>
                        <a:rPr lang="en-IN">
                          <a:solidFill>
                            <a:srgbClr val="333333"/>
                          </a:solidFill>
                          <a:effectLst/>
                          <a:latin typeface="inter-regular"/>
                        </a:rPr>
                        <a:t>&gt;&gt;&gt;</a:t>
                      </a:r>
                    </a:p>
                  </a:txBody>
                  <a:tcPr marL="50800" marR="50800" marT="50800" marB="50800"/>
                </a:tc>
                <a:tc>
                  <a:txBody>
                    <a:bodyPr/>
                    <a:lstStyle/>
                    <a:p>
                      <a:pPr algn="l" fontAlgn="t"/>
                      <a:r>
                        <a:rPr lang="en-US" dirty="0">
                          <a:solidFill>
                            <a:srgbClr val="333333"/>
                          </a:solidFill>
                          <a:effectLst/>
                          <a:latin typeface="inter-regular"/>
                        </a:rPr>
                        <a:t>Bitwise left shift</a:t>
                      </a:r>
                      <a:br>
                        <a:rPr lang="en-US" dirty="0">
                          <a:solidFill>
                            <a:srgbClr val="333333"/>
                          </a:solidFill>
                          <a:effectLst/>
                          <a:latin typeface="inter-regular"/>
                        </a:rPr>
                      </a:br>
                      <a:r>
                        <a:rPr lang="en-US" dirty="0">
                          <a:solidFill>
                            <a:srgbClr val="333333"/>
                          </a:solidFill>
                          <a:effectLst/>
                          <a:latin typeface="inter-regular"/>
                        </a:rPr>
                        <a:t>Bitwise right shift with sign extension</a:t>
                      </a:r>
                      <a:br>
                        <a:rPr lang="en-US" dirty="0">
                          <a:solidFill>
                            <a:srgbClr val="333333"/>
                          </a:solidFill>
                          <a:effectLst/>
                          <a:latin typeface="inter-regular"/>
                        </a:rPr>
                      </a:br>
                      <a:r>
                        <a:rPr lang="en-US" dirty="0">
                          <a:solidFill>
                            <a:srgbClr val="333333"/>
                          </a:solidFill>
                          <a:effectLst/>
                          <a:latin typeface="inter-regular"/>
                        </a:rPr>
                        <a:t>Bitwise right shift with zero extension</a:t>
                      </a:r>
                    </a:p>
                  </a:txBody>
                  <a:tcPr marL="50800" marR="50800" marT="50800" marB="50800"/>
                </a:tc>
                <a:tc>
                  <a:txBody>
                    <a:bodyPr/>
                    <a:lstStyle/>
                    <a:p>
                      <a:pPr algn="just" fontAlgn="t"/>
                      <a:r>
                        <a:rPr lang="en-IN">
                          <a:solidFill>
                            <a:srgbClr val="333333"/>
                          </a:solidFill>
                          <a:effectLst/>
                          <a:latin typeface="inter-regular"/>
                        </a:rPr>
                        <a:t>Left to right</a:t>
                      </a:r>
                    </a:p>
                  </a:txBody>
                  <a:tcPr marL="50800" marR="50800" marT="50800" marB="50800"/>
                </a:tc>
                <a:extLst>
                  <a:ext uri="{0D108BD9-81ED-4DB2-BD59-A6C34878D82A}">
                    <a16:rowId xmlns:a16="http://schemas.microsoft.com/office/drawing/2014/main" val="3276284195"/>
                  </a:ext>
                </a:extLst>
              </a:tr>
              <a:tr h="370840">
                <a:tc>
                  <a:txBody>
                    <a:bodyPr/>
                    <a:lstStyle/>
                    <a:p>
                      <a:pPr algn="just" fontAlgn="t"/>
                      <a:r>
                        <a:rPr lang="en-IN">
                          <a:solidFill>
                            <a:srgbClr val="333333"/>
                          </a:solidFill>
                          <a:effectLst/>
                          <a:latin typeface="inter-regular"/>
                        </a:rPr>
                        <a:t>9</a:t>
                      </a:r>
                    </a:p>
                  </a:txBody>
                  <a:tcPr marL="50800" marR="50800" marT="50800" marB="50800"/>
                </a:tc>
                <a:tc>
                  <a:txBody>
                    <a:bodyPr/>
                    <a:lstStyle/>
                    <a:p>
                      <a:pPr algn="just" fontAlgn="t"/>
                      <a:r>
                        <a:rPr lang="en-IN">
                          <a:solidFill>
                            <a:srgbClr val="333333"/>
                          </a:solidFill>
                          <a:effectLst/>
                          <a:latin typeface="inter-regular"/>
                        </a:rPr>
                        <a:t>&lt;</a:t>
                      </a:r>
                      <a:br>
                        <a:rPr lang="en-IN">
                          <a:solidFill>
                            <a:srgbClr val="333333"/>
                          </a:solidFill>
                          <a:effectLst/>
                          <a:latin typeface="inter-regular"/>
                        </a:rPr>
                      </a:br>
                      <a:r>
                        <a:rPr lang="en-IN">
                          <a:solidFill>
                            <a:srgbClr val="333333"/>
                          </a:solidFill>
                          <a:effectLst/>
                          <a:latin typeface="inter-regular"/>
                        </a:rPr>
                        <a:t>&lt;=</a:t>
                      </a:r>
                      <a:br>
                        <a:rPr lang="en-IN">
                          <a:solidFill>
                            <a:srgbClr val="333333"/>
                          </a:solidFill>
                          <a:effectLst/>
                          <a:latin typeface="inter-regular"/>
                        </a:rPr>
                      </a:br>
                      <a:r>
                        <a:rPr lang="en-IN">
                          <a:solidFill>
                            <a:srgbClr val="333333"/>
                          </a:solidFill>
                          <a:effectLst/>
                          <a:latin typeface="inter-regular"/>
                        </a:rPr>
                        <a:t>&gt;</a:t>
                      </a:r>
                      <a:br>
                        <a:rPr lang="en-IN">
                          <a:solidFill>
                            <a:srgbClr val="333333"/>
                          </a:solidFill>
                          <a:effectLst/>
                          <a:latin typeface="inter-regular"/>
                        </a:rPr>
                      </a:br>
                      <a:r>
                        <a:rPr lang="en-IN">
                          <a:solidFill>
                            <a:srgbClr val="333333"/>
                          </a:solidFill>
                          <a:effectLst/>
                          <a:latin typeface="inter-regular"/>
                        </a:rPr>
                        <a:t>&gt;=</a:t>
                      </a:r>
                      <a:br>
                        <a:rPr lang="en-IN">
                          <a:solidFill>
                            <a:srgbClr val="333333"/>
                          </a:solidFill>
                          <a:effectLst/>
                          <a:latin typeface="inter-regular"/>
                        </a:rPr>
                      </a:br>
                      <a:r>
                        <a:rPr lang="en-IN">
                          <a:solidFill>
                            <a:srgbClr val="333333"/>
                          </a:solidFill>
                          <a:effectLst/>
                          <a:latin typeface="inter-regular"/>
                        </a:rPr>
                        <a:t>instanceof</a:t>
                      </a:r>
                    </a:p>
                  </a:txBody>
                  <a:tcPr marL="50800" marR="50800" marT="50800" marB="50800"/>
                </a:tc>
                <a:tc>
                  <a:txBody>
                    <a:bodyPr/>
                    <a:lstStyle/>
                    <a:p>
                      <a:pPr algn="l" fontAlgn="t"/>
                      <a:r>
                        <a:rPr lang="en-US" dirty="0">
                          <a:solidFill>
                            <a:srgbClr val="333333"/>
                          </a:solidFill>
                          <a:effectLst/>
                          <a:latin typeface="inter-regular"/>
                        </a:rPr>
                        <a:t>Relational less than</a:t>
                      </a:r>
                      <a:br>
                        <a:rPr lang="en-US" dirty="0">
                          <a:solidFill>
                            <a:srgbClr val="333333"/>
                          </a:solidFill>
                          <a:effectLst/>
                          <a:latin typeface="inter-regular"/>
                        </a:rPr>
                      </a:br>
                      <a:r>
                        <a:rPr lang="en-US" dirty="0">
                          <a:solidFill>
                            <a:srgbClr val="333333"/>
                          </a:solidFill>
                          <a:effectLst/>
                          <a:latin typeface="inter-regular"/>
                        </a:rPr>
                        <a:t>Relational less than or equal</a:t>
                      </a:r>
                      <a:br>
                        <a:rPr lang="en-US" dirty="0">
                          <a:solidFill>
                            <a:srgbClr val="333333"/>
                          </a:solidFill>
                          <a:effectLst/>
                          <a:latin typeface="inter-regular"/>
                        </a:rPr>
                      </a:br>
                      <a:r>
                        <a:rPr lang="en-US" dirty="0">
                          <a:solidFill>
                            <a:srgbClr val="333333"/>
                          </a:solidFill>
                          <a:effectLst/>
                          <a:latin typeface="inter-regular"/>
                        </a:rPr>
                        <a:t>Relational greater than</a:t>
                      </a:r>
                      <a:br>
                        <a:rPr lang="en-US" dirty="0">
                          <a:solidFill>
                            <a:srgbClr val="333333"/>
                          </a:solidFill>
                          <a:effectLst/>
                          <a:latin typeface="inter-regular"/>
                        </a:rPr>
                      </a:br>
                      <a:r>
                        <a:rPr lang="en-US" dirty="0">
                          <a:solidFill>
                            <a:srgbClr val="333333"/>
                          </a:solidFill>
                          <a:effectLst/>
                          <a:latin typeface="inter-regular"/>
                        </a:rPr>
                        <a:t>Relational greater than or equal</a:t>
                      </a:r>
                      <a:br>
                        <a:rPr lang="en-US" dirty="0">
                          <a:solidFill>
                            <a:srgbClr val="333333"/>
                          </a:solidFill>
                          <a:effectLst/>
                          <a:latin typeface="inter-regular"/>
                        </a:rPr>
                      </a:br>
                      <a:r>
                        <a:rPr lang="en-US" dirty="0">
                          <a:solidFill>
                            <a:srgbClr val="333333"/>
                          </a:solidFill>
                          <a:effectLst/>
                          <a:latin typeface="inter-regular"/>
                        </a:rPr>
                        <a:t>Type comparison (objects only)</a:t>
                      </a:r>
                    </a:p>
                  </a:txBody>
                  <a:tcPr marL="50800" marR="50800" marT="50800" marB="50800"/>
                </a:tc>
                <a:tc>
                  <a:txBody>
                    <a:bodyPr/>
                    <a:lstStyle/>
                    <a:p>
                      <a:pPr algn="just" fontAlgn="t"/>
                      <a:r>
                        <a:rPr lang="en-IN">
                          <a:solidFill>
                            <a:srgbClr val="333333"/>
                          </a:solidFill>
                          <a:effectLst/>
                          <a:latin typeface="inter-regular"/>
                        </a:rPr>
                        <a:t>Left to right</a:t>
                      </a:r>
                    </a:p>
                  </a:txBody>
                  <a:tcPr marL="50800" marR="50800" marT="50800" marB="50800"/>
                </a:tc>
                <a:extLst>
                  <a:ext uri="{0D108BD9-81ED-4DB2-BD59-A6C34878D82A}">
                    <a16:rowId xmlns:a16="http://schemas.microsoft.com/office/drawing/2014/main" val="4238943601"/>
                  </a:ext>
                </a:extLst>
              </a:tr>
              <a:tr h="370840">
                <a:tc>
                  <a:txBody>
                    <a:bodyPr/>
                    <a:lstStyle/>
                    <a:p>
                      <a:pPr algn="just" fontAlgn="t"/>
                      <a:r>
                        <a:rPr lang="en-IN">
                          <a:solidFill>
                            <a:srgbClr val="333333"/>
                          </a:solidFill>
                          <a:effectLst/>
                          <a:latin typeface="inter-regular"/>
                        </a:rPr>
                        <a:t>8</a:t>
                      </a:r>
                    </a:p>
                  </a:txBody>
                  <a:tcPr marL="50800" marR="50800" marT="50800" marB="50800"/>
                </a:tc>
                <a:tc>
                  <a:txBody>
                    <a:bodyPr/>
                    <a:lstStyle/>
                    <a:p>
                      <a:pPr algn="just" fontAlgn="t"/>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p>
                  </a:txBody>
                  <a:tcPr marL="50800" marR="50800" marT="50800" marB="50800"/>
                </a:tc>
                <a:tc>
                  <a:txBody>
                    <a:bodyPr/>
                    <a:lstStyle/>
                    <a:p>
                      <a:pPr algn="l" fontAlgn="t"/>
                      <a:r>
                        <a:rPr lang="en-US" dirty="0">
                          <a:solidFill>
                            <a:srgbClr val="333333"/>
                          </a:solidFill>
                          <a:effectLst/>
                          <a:latin typeface="inter-regular"/>
                        </a:rPr>
                        <a:t>Relational is equal to</a:t>
                      </a:r>
                      <a:br>
                        <a:rPr lang="en-US" dirty="0">
                          <a:solidFill>
                            <a:srgbClr val="333333"/>
                          </a:solidFill>
                          <a:effectLst/>
                          <a:latin typeface="inter-regular"/>
                        </a:rPr>
                      </a:br>
                      <a:r>
                        <a:rPr lang="en-US" dirty="0">
                          <a:solidFill>
                            <a:srgbClr val="333333"/>
                          </a:solidFill>
                          <a:effectLst/>
                          <a:latin typeface="inter-regular"/>
                        </a:rPr>
                        <a:t>Relational is not equal to</a:t>
                      </a:r>
                    </a:p>
                  </a:txBody>
                  <a:tcPr marL="50800" marR="50800" marT="50800" marB="50800"/>
                </a:tc>
                <a:tc>
                  <a:txBody>
                    <a:bodyPr/>
                    <a:lstStyle/>
                    <a:p>
                      <a:pPr algn="just" fontAlgn="t"/>
                      <a:r>
                        <a:rPr lang="en-IN" dirty="0">
                          <a:solidFill>
                            <a:srgbClr val="333333"/>
                          </a:solidFill>
                          <a:effectLst/>
                          <a:latin typeface="inter-regular"/>
                        </a:rPr>
                        <a:t>Left to right</a:t>
                      </a:r>
                    </a:p>
                  </a:txBody>
                  <a:tcPr marL="50800" marR="50800" marT="50800" marB="50800"/>
                </a:tc>
                <a:extLst>
                  <a:ext uri="{0D108BD9-81ED-4DB2-BD59-A6C34878D82A}">
                    <a16:rowId xmlns:a16="http://schemas.microsoft.com/office/drawing/2014/main" val="3851179235"/>
                  </a:ext>
                </a:extLst>
              </a:tr>
            </a:tbl>
          </a:graphicData>
        </a:graphic>
      </p:graphicFrame>
    </p:spTree>
    <p:extLst>
      <p:ext uri="{BB962C8B-B14F-4D97-AF65-F5344CB8AC3E}">
        <p14:creationId xmlns:p14="http://schemas.microsoft.com/office/powerpoint/2010/main" val="31620853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9125A-1084-56BC-8B64-43530C8171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4C3FE0-34B1-6B28-9175-AAFF0C1AB5DE}"/>
              </a:ext>
            </a:extLst>
          </p:cNvPr>
          <p:cNvSpPr>
            <a:spLocks noGrp="1"/>
          </p:cNvSpPr>
          <p:nvPr>
            <p:ph type="title"/>
          </p:nvPr>
        </p:nvSpPr>
        <p:spPr>
          <a:xfrm>
            <a:off x="677863" y="223520"/>
            <a:ext cx="8596668" cy="762000"/>
          </a:xfrm>
        </p:spPr>
        <p:txBody>
          <a:bodyPr/>
          <a:lstStyle/>
          <a:p>
            <a:endParaRPr lang="en-IN" dirty="0"/>
          </a:p>
        </p:txBody>
      </p:sp>
      <p:graphicFrame>
        <p:nvGraphicFramePr>
          <p:cNvPr id="7" name="Content Placeholder 6">
            <a:extLst>
              <a:ext uri="{FF2B5EF4-FFF2-40B4-BE49-F238E27FC236}">
                <a16:creationId xmlns:a16="http://schemas.microsoft.com/office/drawing/2014/main" id="{8F6BD354-DA67-0DD9-5D17-AA043BC131A1}"/>
              </a:ext>
            </a:extLst>
          </p:cNvPr>
          <p:cNvGraphicFramePr>
            <a:graphicFrameLocks noGrp="1"/>
          </p:cNvGraphicFramePr>
          <p:nvPr>
            <p:ph idx="1"/>
            <p:extLst>
              <p:ext uri="{D42A27DB-BD31-4B8C-83A1-F6EECF244321}">
                <p14:modId xmlns:p14="http://schemas.microsoft.com/office/powerpoint/2010/main" val="1220548349"/>
              </p:ext>
            </p:extLst>
          </p:nvPr>
        </p:nvGraphicFramePr>
        <p:xfrm>
          <a:off x="678219" y="1276668"/>
          <a:ext cx="8596312" cy="4978400"/>
        </p:xfrm>
        <a:graphic>
          <a:graphicData uri="http://schemas.openxmlformats.org/drawingml/2006/table">
            <a:tbl>
              <a:tblPr firstRow="1" bandRow="1">
                <a:tableStyleId>{5C22544A-7EE6-4342-B048-85BDC9FD1C3A}</a:tableStyleId>
              </a:tblPr>
              <a:tblGrid>
                <a:gridCol w="2149078">
                  <a:extLst>
                    <a:ext uri="{9D8B030D-6E8A-4147-A177-3AD203B41FA5}">
                      <a16:colId xmlns:a16="http://schemas.microsoft.com/office/drawing/2014/main" val="2814230100"/>
                    </a:ext>
                  </a:extLst>
                </a:gridCol>
                <a:gridCol w="2149078">
                  <a:extLst>
                    <a:ext uri="{9D8B030D-6E8A-4147-A177-3AD203B41FA5}">
                      <a16:colId xmlns:a16="http://schemas.microsoft.com/office/drawing/2014/main" val="1060904954"/>
                    </a:ext>
                  </a:extLst>
                </a:gridCol>
                <a:gridCol w="2149078">
                  <a:extLst>
                    <a:ext uri="{9D8B030D-6E8A-4147-A177-3AD203B41FA5}">
                      <a16:colId xmlns:a16="http://schemas.microsoft.com/office/drawing/2014/main" val="915130041"/>
                    </a:ext>
                  </a:extLst>
                </a:gridCol>
                <a:gridCol w="2149078">
                  <a:extLst>
                    <a:ext uri="{9D8B030D-6E8A-4147-A177-3AD203B41FA5}">
                      <a16:colId xmlns:a16="http://schemas.microsoft.com/office/drawing/2014/main" val="2484600704"/>
                    </a:ext>
                  </a:extLst>
                </a:gridCol>
              </a:tblGrid>
              <a:tr h="370840">
                <a:tc>
                  <a:txBody>
                    <a:bodyPr/>
                    <a:lstStyle/>
                    <a:p>
                      <a:pPr algn="l" fontAlgn="t"/>
                      <a:r>
                        <a:rPr lang="en-IN" dirty="0">
                          <a:solidFill>
                            <a:srgbClr val="000000"/>
                          </a:solidFill>
                          <a:effectLst/>
                          <a:latin typeface="times new roman" panose="02020603050405020304" pitchFamily="18" charset="0"/>
                        </a:rPr>
                        <a:t>Precedence</a:t>
                      </a:r>
                    </a:p>
                  </a:txBody>
                  <a:tcPr marL="76200" marR="76200" marT="76200" marB="76200"/>
                </a:tc>
                <a:tc>
                  <a:txBody>
                    <a:bodyPr/>
                    <a:lstStyle/>
                    <a:p>
                      <a:pPr algn="l" fontAlgn="t"/>
                      <a:r>
                        <a:rPr lang="en-IN">
                          <a:solidFill>
                            <a:srgbClr val="000000"/>
                          </a:solidFill>
                          <a:effectLst/>
                          <a:latin typeface="times new roman" panose="02020603050405020304" pitchFamily="18" charset="0"/>
                        </a:rPr>
                        <a:t>Operator</a:t>
                      </a:r>
                    </a:p>
                  </a:txBody>
                  <a:tcPr marL="76200" marR="76200" marT="76200" marB="76200"/>
                </a:tc>
                <a:tc>
                  <a:txBody>
                    <a:bodyPr/>
                    <a:lstStyle/>
                    <a:p>
                      <a:pPr algn="l" fontAlgn="t"/>
                      <a:r>
                        <a:rPr lang="en-IN">
                          <a:solidFill>
                            <a:srgbClr val="000000"/>
                          </a:solidFill>
                          <a:effectLst/>
                          <a:latin typeface="times new roman" panose="02020603050405020304" pitchFamily="18" charset="0"/>
                        </a:rPr>
                        <a:t>Type</a:t>
                      </a:r>
                    </a:p>
                  </a:txBody>
                  <a:tcPr marL="76200" marR="76200" marT="76200" marB="76200"/>
                </a:tc>
                <a:tc>
                  <a:txBody>
                    <a:bodyPr/>
                    <a:lstStyle/>
                    <a:p>
                      <a:pPr algn="l" fontAlgn="t"/>
                      <a:r>
                        <a:rPr lang="en-IN">
                          <a:solidFill>
                            <a:srgbClr val="000000"/>
                          </a:solidFill>
                          <a:effectLst/>
                          <a:latin typeface="times new roman" panose="02020603050405020304" pitchFamily="18" charset="0"/>
                        </a:rPr>
                        <a:t>Associativity</a:t>
                      </a:r>
                    </a:p>
                  </a:txBody>
                  <a:tcPr marL="76200" marR="76200" marT="76200" marB="76200"/>
                </a:tc>
                <a:extLst>
                  <a:ext uri="{0D108BD9-81ED-4DB2-BD59-A6C34878D82A}">
                    <a16:rowId xmlns:a16="http://schemas.microsoft.com/office/drawing/2014/main" val="1091014180"/>
                  </a:ext>
                </a:extLst>
              </a:tr>
              <a:tr h="370840">
                <a:tc>
                  <a:txBody>
                    <a:bodyPr/>
                    <a:lstStyle/>
                    <a:p>
                      <a:pPr algn="just" fontAlgn="t"/>
                      <a:r>
                        <a:rPr lang="en-IN" dirty="0">
                          <a:solidFill>
                            <a:srgbClr val="333333"/>
                          </a:solidFill>
                          <a:effectLst/>
                          <a:latin typeface="inter-regular"/>
                        </a:rPr>
                        <a:t>7</a:t>
                      </a:r>
                    </a:p>
                  </a:txBody>
                  <a:tcPr marL="50800" marR="50800" marT="50800" marB="50800"/>
                </a:tc>
                <a:tc>
                  <a:txBody>
                    <a:bodyPr/>
                    <a:lstStyle/>
                    <a:p>
                      <a:pPr algn="just" fontAlgn="t"/>
                      <a:r>
                        <a:rPr lang="en-IN">
                          <a:solidFill>
                            <a:srgbClr val="333333"/>
                          </a:solidFill>
                          <a:effectLst/>
                          <a:latin typeface="inter-regular"/>
                        </a:rPr>
                        <a:t>&amp;</a:t>
                      </a:r>
                    </a:p>
                  </a:txBody>
                  <a:tcPr marL="50800" marR="50800" marT="50800" marB="50800"/>
                </a:tc>
                <a:tc>
                  <a:txBody>
                    <a:bodyPr/>
                    <a:lstStyle/>
                    <a:p>
                      <a:pPr algn="l" fontAlgn="t"/>
                      <a:r>
                        <a:rPr lang="en-IN" dirty="0">
                          <a:solidFill>
                            <a:srgbClr val="333333"/>
                          </a:solidFill>
                          <a:effectLst/>
                          <a:latin typeface="inter-regular"/>
                        </a:rPr>
                        <a:t>Bitwise AND</a:t>
                      </a:r>
                    </a:p>
                  </a:txBody>
                  <a:tcPr marL="50800" marR="50800" marT="50800" marB="50800"/>
                </a:tc>
                <a:tc>
                  <a:txBody>
                    <a:bodyPr/>
                    <a:lstStyle/>
                    <a:p>
                      <a:pPr algn="just" fontAlgn="t"/>
                      <a:r>
                        <a:rPr lang="en-IN">
                          <a:solidFill>
                            <a:srgbClr val="333333"/>
                          </a:solidFill>
                          <a:effectLst/>
                          <a:latin typeface="inter-regular"/>
                        </a:rPr>
                        <a:t>Left to right</a:t>
                      </a:r>
                    </a:p>
                  </a:txBody>
                  <a:tcPr marL="50800" marR="50800" marT="50800" marB="50800"/>
                </a:tc>
                <a:extLst>
                  <a:ext uri="{0D108BD9-81ED-4DB2-BD59-A6C34878D82A}">
                    <a16:rowId xmlns:a16="http://schemas.microsoft.com/office/drawing/2014/main" val="3732597261"/>
                  </a:ext>
                </a:extLst>
              </a:tr>
              <a:tr h="370840">
                <a:tc>
                  <a:txBody>
                    <a:bodyPr/>
                    <a:lstStyle/>
                    <a:p>
                      <a:pPr algn="just" fontAlgn="t"/>
                      <a:r>
                        <a:rPr lang="en-IN">
                          <a:solidFill>
                            <a:srgbClr val="333333"/>
                          </a:solidFill>
                          <a:effectLst/>
                          <a:latin typeface="inter-regular"/>
                        </a:rPr>
                        <a:t>6</a:t>
                      </a:r>
                    </a:p>
                  </a:txBody>
                  <a:tcPr marL="50800" marR="50800" marT="50800" marB="50800"/>
                </a:tc>
                <a:tc>
                  <a:txBody>
                    <a:bodyPr/>
                    <a:lstStyle/>
                    <a:p>
                      <a:pPr algn="just" fontAlgn="t"/>
                      <a:r>
                        <a:rPr lang="en-IN">
                          <a:solidFill>
                            <a:srgbClr val="333333"/>
                          </a:solidFill>
                          <a:effectLst/>
                          <a:latin typeface="inter-regular"/>
                        </a:rPr>
                        <a:t>^</a:t>
                      </a:r>
                    </a:p>
                  </a:txBody>
                  <a:tcPr marL="50800" marR="50800" marT="50800" marB="50800"/>
                </a:tc>
                <a:tc>
                  <a:txBody>
                    <a:bodyPr/>
                    <a:lstStyle/>
                    <a:p>
                      <a:pPr algn="l" fontAlgn="t"/>
                      <a:r>
                        <a:rPr lang="en-IN" dirty="0">
                          <a:solidFill>
                            <a:srgbClr val="333333"/>
                          </a:solidFill>
                          <a:effectLst/>
                          <a:latin typeface="inter-regular"/>
                        </a:rPr>
                        <a:t>Bitwise exclusive OR</a:t>
                      </a:r>
                    </a:p>
                  </a:txBody>
                  <a:tcPr marL="50800" marR="50800" marT="50800" marB="50800"/>
                </a:tc>
                <a:tc>
                  <a:txBody>
                    <a:bodyPr/>
                    <a:lstStyle/>
                    <a:p>
                      <a:pPr algn="just" fontAlgn="t"/>
                      <a:r>
                        <a:rPr lang="en-IN">
                          <a:solidFill>
                            <a:srgbClr val="333333"/>
                          </a:solidFill>
                          <a:effectLst/>
                          <a:latin typeface="inter-regular"/>
                        </a:rPr>
                        <a:t>Left to right</a:t>
                      </a:r>
                    </a:p>
                  </a:txBody>
                  <a:tcPr marL="50800" marR="50800" marT="50800" marB="50800"/>
                </a:tc>
                <a:extLst>
                  <a:ext uri="{0D108BD9-81ED-4DB2-BD59-A6C34878D82A}">
                    <a16:rowId xmlns:a16="http://schemas.microsoft.com/office/drawing/2014/main" val="3140465735"/>
                  </a:ext>
                </a:extLst>
              </a:tr>
              <a:tr h="370840">
                <a:tc>
                  <a:txBody>
                    <a:bodyPr/>
                    <a:lstStyle/>
                    <a:p>
                      <a:pPr algn="just" fontAlgn="t"/>
                      <a:r>
                        <a:rPr lang="en-IN">
                          <a:solidFill>
                            <a:srgbClr val="333333"/>
                          </a:solidFill>
                          <a:effectLst/>
                          <a:latin typeface="inter-regular"/>
                        </a:rPr>
                        <a:t>5</a:t>
                      </a:r>
                    </a:p>
                  </a:txBody>
                  <a:tcPr marL="50800" marR="50800" marT="50800" marB="50800"/>
                </a:tc>
                <a:tc>
                  <a:txBody>
                    <a:bodyPr/>
                    <a:lstStyle/>
                    <a:p>
                      <a:pPr algn="just" fontAlgn="t"/>
                      <a:r>
                        <a:rPr lang="en-IN">
                          <a:solidFill>
                            <a:srgbClr val="333333"/>
                          </a:solidFill>
                          <a:effectLst/>
                          <a:latin typeface="inter-regular"/>
                        </a:rPr>
                        <a:t>|</a:t>
                      </a:r>
                    </a:p>
                  </a:txBody>
                  <a:tcPr marL="50800" marR="50800" marT="50800" marB="50800"/>
                </a:tc>
                <a:tc>
                  <a:txBody>
                    <a:bodyPr/>
                    <a:lstStyle/>
                    <a:p>
                      <a:pPr algn="l" fontAlgn="t"/>
                      <a:r>
                        <a:rPr lang="en-IN">
                          <a:solidFill>
                            <a:srgbClr val="333333"/>
                          </a:solidFill>
                          <a:effectLst/>
                          <a:latin typeface="inter-regular"/>
                        </a:rPr>
                        <a:t>Bitwise inclusive OR</a:t>
                      </a:r>
                    </a:p>
                  </a:txBody>
                  <a:tcPr marL="50800" marR="50800" marT="50800" marB="50800"/>
                </a:tc>
                <a:tc>
                  <a:txBody>
                    <a:bodyPr/>
                    <a:lstStyle/>
                    <a:p>
                      <a:pPr algn="just" fontAlgn="t"/>
                      <a:r>
                        <a:rPr lang="en-IN">
                          <a:solidFill>
                            <a:srgbClr val="333333"/>
                          </a:solidFill>
                          <a:effectLst/>
                          <a:latin typeface="inter-regular"/>
                        </a:rPr>
                        <a:t>Left to right</a:t>
                      </a:r>
                    </a:p>
                  </a:txBody>
                  <a:tcPr marL="50800" marR="50800" marT="50800" marB="50800"/>
                </a:tc>
                <a:extLst>
                  <a:ext uri="{0D108BD9-81ED-4DB2-BD59-A6C34878D82A}">
                    <a16:rowId xmlns:a16="http://schemas.microsoft.com/office/drawing/2014/main" val="4220954648"/>
                  </a:ext>
                </a:extLst>
              </a:tr>
              <a:tr h="370840">
                <a:tc>
                  <a:txBody>
                    <a:bodyPr/>
                    <a:lstStyle/>
                    <a:p>
                      <a:pPr algn="just" fontAlgn="t"/>
                      <a:r>
                        <a:rPr lang="en-IN">
                          <a:solidFill>
                            <a:srgbClr val="333333"/>
                          </a:solidFill>
                          <a:effectLst/>
                          <a:latin typeface="inter-regular"/>
                        </a:rPr>
                        <a:t>4</a:t>
                      </a:r>
                    </a:p>
                  </a:txBody>
                  <a:tcPr marL="50800" marR="50800" marT="50800" marB="50800"/>
                </a:tc>
                <a:tc>
                  <a:txBody>
                    <a:bodyPr/>
                    <a:lstStyle/>
                    <a:p>
                      <a:pPr algn="just" fontAlgn="t"/>
                      <a:r>
                        <a:rPr lang="en-IN">
                          <a:solidFill>
                            <a:srgbClr val="333333"/>
                          </a:solidFill>
                          <a:effectLst/>
                          <a:latin typeface="inter-regular"/>
                        </a:rPr>
                        <a:t>&amp;&amp;</a:t>
                      </a:r>
                    </a:p>
                  </a:txBody>
                  <a:tcPr marL="50800" marR="50800" marT="50800" marB="50800"/>
                </a:tc>
                <a:tc>
                  <a:txBody>
                    <a:bodyPr/>
                    <a:lstStyle/>
                    <a:p>
                      <a:pPr algn="l" fontAlgn="t"/>
                      <a:r>
                        <a:rPr lang="en-IN" dirty="0">
                          <a:solidFill>
                            <a:srgbClr val="333333"/>
                          </a:solidFill>
                          <a:effectLst/>
                          <a:latin typeface="inter-regular"/>
                        </a:rPr>
                        <a:t>Logical AND</a:t>
                      </a:r>
                    </a:p>
                  </a:txBody>
                  <a:tcPr marL="50800" marR="50800" marT="50800" marB="50800"/>
                </a:tc>
                <a:tc>
                  <a:txBody>
                    <a:bodyPr/>
                    <a:lstStyle/>
                    <a:p>
                      <a:pPr algn="just" fontAlgn="t"/>
                      <a:r>
                        <a:rPr lang="en-IN">
                          <a:solidFill>
                            <a:srgbClr val="333333"/>
                          </a:solidFill>
                          <a:effectLst/>
                          <a:latin typeface="inter-regular"/>
                        </a:rPr>
                        <a:t>Left to right</a:t>
                      </a:r>
                    </a:p>
                  </a:txBody>
                  <a:tcPr marL="50800" marR="50800" marT="50800" marB="50800"/>
                </a:tc>
                <a:extLst>
                  <a:ext uri="{0D108BD9-81ED-4DB2-BD59-A6C34878D82A}">
                    <a16:rowId xmlns:a16="http://schemas.microsoft.com/office/drawing/2014/main" val="699003152"/>
                  </a:ext>
                </a:extLst>
              </a:tr>
              <a:tr h="370840">
                <a:tc>
                  <a:txBody>
                    <a:bodyPr/>
                    <a:lstStyle/>
                    <a:p>
                      <a:pPr algn="just" fontAlgn="t"/>
                      <a:r>
                        <a:rPr lang="en-IN">
                          <a:solidFill>
                            <a:srgbClr val="333333"/>
                          </a:solidFill>
                          <a:effectLst/>
                          <a:latin typeface="inter-regular"/>
                        </a:rPr>
                        <a:t>3</a:t>
                      </a:r>
                    </a:p>
                  </a:txBody>
                  <a:tcPr marL="50800" marR="50800" marT="50800" marB="50800"/>
                </a:tc>
                <a:tc>
                  <a:txBody>
                    <a:bodyPr/>
                    <a:lstStyle/>
                    <a:p>
                      <a:pPr algn="just" fontAlgn="t"/>
                      <a:r>
                        <a:rPr lang="en-IN">
                          <a:solidFill>
                            <a:srgbClr val="333333"/>
                          </a:solidFill>
                          <a:effectLst/>
                          <a:latin typeface="inter-regular"/>
                        </a:rPr>
                        <a:t>||</a:t>
                      </a:r>
                    </a:p>
                  </a:txBody>
                  <a:tcPr marL="50800" marR="50800" marT="50800" marB="50800"/>
                </a:tc>
                <a:tc>
                  <a:txBody>
                    <a:bodyPr/>
                    <a:lstStyle/>
                    <a:p>
                      <a:pPr algn="l" fontAlgn="t"/>
                      <a:r>
                        <a:rPr lang="en-IN" dirty="0">
                          <a:solidFill>
                            <a:srgbClr val="333333"/>
                          </a:solidFill>
                          <a:effectLst/>
                          <a:latin typeface="inter-regular"/>
                        </a:rPr>
                        <a:t>Logical OR</a:t>
                      </a:r>
                    </a:p>
                  </a:txBody>
                  <a:tcPr marL="50800" marR="50800" marT="50800" marB="50800"/>
                </a:tc>
                <a:tc>
                  <a:txBody>
                    <a:bodyPr/>
                    <a:lstStyle/>
                    <a:p>
                      <a:pPr algn="just" fontAlgn="t"/>
                      <a:r>
                        <a:rPr lang="en-IN">
                          <a:solidFill>
                            <a:srgbClr val="333333"/>
                          </a:solidFill>
                          <a:effectLst/>
                          <a:latin typeface="inter-regular"/>
                        </a:rPr>
                        <a:t>Left to right</a:t>
                      </a:r>
                    </a:p>
                  </a:txBody>
                  <a:tcPr marL="50800" marR="50800" marT="50800" marB="50800"/>
                </a:tc>
                <a:extLst>
                  <a:ext uri="{0D108BD9-81ED-4DB2-BD59-A6C34878D82A}">
                    <a16:rowId xmlns:a16="http://schemas.microsoft.com/office/drawing/2014/main" val="3276284195"/>
                  </a:ext>
                </a:extLst>
              </a:tr>
              <a:tr h="370840">
                <a:tc>
                  <a:txBody>
                    <a:bodyPr/>
                    <a:lstStyle/>
                    <a:p>
                      <a:pPr algn="just" fontAlgn="t"/>
                      <a:r>
                        <a:rPr lang="en-IN">
                          <a:solidFill>
                            <a:srgbClr val="333333"/>
                          </a:solidFill>
                          <a:effectLst/>
                          <a:latin typeface="inter-regular"/>
                        </a:rPr>
                        <a:t>2</a:t>
                      </a:r>
                    </a:p>
                  </a:txBody>
                  <a:tcPr marL="50800" marR="50800" marT="50800" marB="50800"/>
                </a:tc>
                <a:tc>
                  <a:txBody>
                    <a:bodyPr/>
                    <a:lstStyle/>
                    <a:p>
                      <a:pPr algn="just" fontAlgn="t"/>
                      <a:r>
                        <a:rPr lang="en-IN">
                          <a:solidFill>
                            <a:srgbClr val="333333"/>
                          </a:solidFill>
                          <a:effectLst/>
                          <a:latin typeface="inter-regular"/>
                        </a:rPr>
                        <a:t>? :</a:t>
                      </a:r>
                    </a:p>
                  </a:txBody>
                  <a:tcPr marL="50800" marR="50800" marT="50800" marB="50800"/>
                </a:tc>
                <a:tc>
                  <a:txBody>
                    <a:bodyPr/>
                    <a:lstStyle/>
                    <a:p>
                      <a:pPr algn="l" fontAlgn="t"/>
                      <a:r>
                        <a:rPr lang="en-IN" dirty="0">
                          <a:solidFill>
                            <a:srgbClr val="333333"/>
                          </a:solidFill>
                          <a:effectLst/>
                          <a:latin typeface="inter-regular"/>
                        </a:rPr>
                        <a:t>Ternary conditional</a:t>
                      </a:r>
                    </a:p>
                  </a:txBody>
                  <a:tcPr marL="50800" marR="50800" marT="50800" marB="50800"/>
                </a:tc>
                <a:tc>
                  <a:txBody>
                    <a:bodyPr/>
                    <a:lstStyle/>
                    <a:p>
                      <a:pPr algn="just" fontAlgn="t"/>
                      <a:r>
                        <a:rPr lang="en-IN">
                          <a:solidFill>
                            <a:srgbClr val="333333"/>
                          </a:solidFill>
                          <a:effectLst/>
                          <a:latin typeface="inter-regular"/>
                        </a:rPr>
                        <a:t>Right to left</a:t>
                      </a:r>
                    </a:p>
                  </a:txBody>
                  <a:tcPr marL="50800" marR="50800" marT="50800" marB="50800"/>
                </a:tc>
                <a:extLst>
                  <a:ext uri="{0D108BD9-81ED-4DB2-BD59-A6C34878D82A}">
                    <a16:rowId xmlns:a16="http://schemas.microsoft.com/office/drawing/2014/main" val="4238943601"/>
                  </a:ext>
                </a:extLst>
              </a:tr>
              <a:tr h="370840">
                <a:tc>
                  <a:txBody>
                    <a:bodyPr/>
                    <a:lstStyle/>
                    <a:p>
                      <a:pPr algn="just" fontAlgn="t"/>
                      <a:r>
                        <a:rPr lang="en-IN" dirty="0">
                          <a:solidFill>
                            <a:srgbClr val="333333"/>
                          </a:solidFill>
                          <a:effectLst/>
                          <a:latin typeface="inter-regular"/>
                        </a:rPr>
                        <a:t>1</a:t>
                      </a:r>
                    </a:p>
                  </a:txBody>
                  <a:tcPr marL="50800" marR="50800" marT="50800" marB="50800"/>
                </a:tc>
                <a:tc>
                  <a:txBody>
                    <a:bodyPr/>
                    <a:lstStyle/>
                    <a:p>
                      <a:pPr algn="just" fontAlgn="t"/>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p>
                  </a:txBody>
                  <a:tcPr marL="50800" marR="50800" marT="50800" marB="50800"/>
                </a:tc>
                <a:tc>
                  <a:txBody>
                    <a:bodyPr/>
                    <a:lstStyle/>
                    <a:p>
                      <a:pPr algn="l" fontAlgn="t"/>
                      <a:r>
                        <a:rPr lang="en-IN" dirty="0">
                          <a:solidFill>
                            <a:srgbClr val="333333"/>
                          </a:solidFill>
                          <a:effectLst/>
                          <a:latin typeface="inter-regular"/>
                        </a:rPr>
                        <a:t>Assignment</a:t>
                      </a:r>
                      <a:br>
                        <a:rPr lang="en-IN" dirty="0">
                          <a:solidFill>
                            <a:srgbClr val="333333"/>
                          </a:solidFill>
                          <a:effectLst/>
                          <a:latin typeface="inter-regular"/>
                        </a:rPr>
                      </a:br>
                      <a:r>
                        <a:rPr lang="en-IN" dirty="0">
                          <a:solidFill>
                            <a:srgbClr val="333333"/>
                          </a:solidFill>
                          <a:effectLst/>
                          <a:latin typeface="inter-regular"/>
                        </a:rPr>
                        <a:t>Addition assignment</a:t>
                      </a:r>
                      <a:br>
                        <a:rPr lang="en-IN" dirty="0">
                          <a:solidFill>
                            <a:srgbClr val="333333"/>
                          </a:solidFill>
                          <a:effectLst/>
                          <a:latin typeface="inter-regular"/>
                        </a:rPr>
                      </a:br>
                      <a:r>
                        <a:rPr lang="en-IN" dirty="0">
                          <a:solidFill>
                            <a:srgbClr val="333333"/>
                          </a:solidFill>
                          <a:effectLst/>
                          <a:latin typeface="inter-regular"/>
                        </a:rPr>
                        <a:t>Subtraction assignment</a:t>
                      </a:r>
                      <a:br>
                        <a:rPr lang="en-IN" dirty="0">
                          <a:solidFill>
                            <a:srgbClr val="333333"/>
                          </a:solidFill>
                          <a:effectLst/>
                          <a:latin typeface="inter-regular"/>
                        </a:rPr>
                      </a:br>
                      <a:r>
                        <a:rPr lang="en-IN" dirty="0">
                          <a:solidFill>
                            <a:srgbClr val="333333"/>
                          </a:solidFill>
                          <a:effectLst/>
                          <a:latin typeface="inter-regular"/>
                        </a:rPr>
                        <a:t>Multiplication assignment</a:t>
                      </a:r>
                      <a:br>
                        <a:rPr lang="en-IN" dirty="0">
                          <a:solidFill>
                            <a:srgbClr val="333333"/>
                          </a:solidFill>
                          <a:effectLst/>
                          <a:latin typeface="inter-regular"/>
                        </a:rPr>
                      </a:br>
                      <a:r>
                        <a:rPr lang="en-IN" dirty="0">
                          <a:solidFill>
                            <a:srgbClr val="333333"/>
                          </a:solidFill>
                          <a:effectLst/>
                          <a:latin typeface="inter-regular"/>
                        </a:rPr>
                        <a:t>Division assignment</a:t>
                      </a:r>
                      <a:br>
                        <a:rPr lang="en-IN" dirty="0">
                          <a:solidFill>
                            <a:srgbClr val="333333"/>
                          </a:solidFill>
                          <a:effectLst/>
                          <a:latin typeface="inter-regular"/>
                        </a:rPr>
                      </a:br>
                      <a:r>
                        <a:rPr lang="en-IN" dirty="0">
                          <a:solidFill>
                            <a:srgbClr val="333333"/>
                          </a:solidFill>
                          <a:effectLst/>
                          <a:latin typeface="inter-regular"/>
                        </a:rPr>
                        <a:t>Modulus assignment</a:t>
                      </a:r>
                    </a:p>
                  </a:txBody>
                  <a:tcPr marL="50800" marR="50800" marT="50800" marB="50800"/>
                </a:tc>
                <a:tc>
                  <a:txBody>
                    <a:bodyPr/>
                    <a:lstStyle/>
                    <a:p>
                      <a:pPr algn="just" fontAlgn="t"/>
                      <a:r>
                        <a:rPr lang="en-IN" dirty="0">
                          <a:solidFill>
                            <a:srgbClr val="333333"/>
                          </a:solidFill>
                          <a:effectLst/>
                          <a:latin typeface="inter-regular"/>
                        </a:rPr>
                        <a:t>Right to left</a:t>
                      </a:r>
                    </a:p>
                  </a:txBody>
                  <a:tcPr marL="50800" marR="50800" marT="50800" marB="50800"/>
                </a:tc>
                <a:extLst>
                  <a:ext uri="{0D108BD9-81ED-4DB2-BD59-A6C34878D82A}">
                    <a16:rowId xmlns:a16="http://schemas.microsoft.com/office/drawing/2014/main" val="3851179235"/>
                  </a:ext>
                </a:extLst>
              </a:tr>
            </a:tbl>
          </a:graphicData>
        </a:graphic>
      </p:graphicFrame>
    </p:spTree>
    <p:extLst>
      <p:ext uri="{BB962C8B-B14F-4D97-AF65-F5344CB8AC3E}">
        <p14:creationId xmlns:p14="http://schemas.microsoft.com/office/powerpoint/2010/main" val="28752850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F1843-3D01-72CE-8DBD-2BB4879D23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C0A30-5978-B748-21ED-78FE650BD457}"/>
              </a:ext>
            </a:extLst>
          </p:cNvPr>
          <p:cNvSpPr>
            <a:spLocks noGrp="1"/>
          </p:cNvSpPr>
          <p:nvPr>
            <p:ph type="title"/>
          </p:nvPr>
        </p:nvSpPr>
        <p:spPr>
          <a:xfrm>
            <a:off x="677863" y="223520"/>
            <a:ext cx="8596668" cy="762000"/>
          </a:xfrm>
        </p:spPr>
        <p:txBody>
          <a:bodyPr/>
          <a:lstStyle/>
          <a:p>
            <a:endParaRPr lang="en-IN" dirty="0"/>
          </a:p>
        </p:txBody>
      </p:sp>
      <p:graphicFrame>
        <p:nvGraphicFramePr>
          <p:cNvPr id="7" name="Content Placeholder 6">
            <a:extLst>
              <a:ext uri="{FF2B5EF4-FFF2-40B4-BE49-F238E27FC236}">
                <a16:creationId xmlns:a16="http://schemas.microsoft.com/office/drawing/2014/main" id="{627A7A56-B513-8F7B-2158-34A6D659A50C}"/>
              </a:ext>
            </a:extLst>
          </p:cNvPr>
          <p:cNvGraphicFramePr>
            <a:graphicFrameLocks noGrp="1"/>
          </p:cNvGraphicFramePr>
          <p:nvPr>
            <p:ph idx="1"/>
            <p:extLst>
              <p:ext uri="{D42A27DB-BD31-4B8C-83A1-F6EECF244321}">
                <p14:modId xmlns:p14="http://schemas.microsoft.com/office/powerpoint/2010/main" val="163374576"/>
              </p:ext>
            </p:extLst>
          </p:nvPr>
        </p:nvGraphicFramePr>
        <p:xfrm>
          <a:off x="678219" y="1276668"/>
          <a:ext cx="8596312" cy="5770880"/>
        </p:xfrm>
        <a:graphic>
          <a:graphicData uri="http://schemas.openxmlformats.org/drawingml/2006/table">
            <a:tbl>
              <a:tblPr firstRow="1" bandRow="1">
                <a:tableStyleId>{5C22544A-7EE6-4342-B048-85BDC9FD1C3A}</a:tableStyleId>
              </a:tblPr>
              <a:tblGrid>
                <a:gridCol w="2149078">
                  <a:extLst>
                    <a:ext uri="{9D8B030D-6E8A-4147-A177-3AD203B41FA5}">
                      <a16:colId xmlns:a16="http://schemas.microsoft.com/office/drawing/2014/main" val="2814230100"/>
                    </a:ext>
                  </a:extLst>
                </a:gridCol>
                <a:gridCol w="2149078">
                  <a:extLst>
                    <a:ext uri="{9D8B030D-6E8A-4147-A177-3AD203B41FA5}">
                      <a16:colId xmlns:a16="http://schemas.microsoft.com/office/drawing/2014/main" val="1060904954"/>
                    </a:ext>
                  </a:extLst>
                </a:gridCol>
                <a:gridCol w="2149078">
                  <a:extLst>
                    <a:ext uri="{9D8B030D-6E8A-4147-A177-3AD203B41FA5}">
                      <a16:colId xmlns:a16="http://schemas.microsoft.com/office/drawing/2014/main" val="915130041"/>
                    </a:ext>
                  </a:extLst>
                </a:gridCol>
                <a:gridCol w="2149078">
                  <a:extLst>
                    <a:ext uri="{9D8B030D-6E8A-4147-A177-3AD203B41FA5}">
                      <a16:colId xmlns:a16="http://schemas.microsoft.com/office/drawing/2014/main" val="2484600704"/>
                    </a:ext>
                  </a:extLst>
                </a:gridCol>
              </a:tblGrid>
              <a:tr h="370840">
                <a:tc>
                  <a:txBody>
                    <a:bodyPr/>
                    <a:lstStyle/>
                    <a:p>
                      <a:pPr algn="l" fontAlgn="t"/>
                      <a:r>
                        <a:rPr lang="en-IN" dirty="0">
                          <a:solidFill>
                            <a:srgbClr val="000000"/>
                          </a:solidFill>
                          <a:effectLst/>
                          <a:latin typeface="times new roman" panose="02020603050405020304" pitchFamily="18" charset="0"/>
                        </a:rPr>
                        <a:t>Precedence</a:t>
                      </a:r>
                    </a:p>
                  </a:txBody>
                  <a:tcPr marL="76200" marR="76200" marT="76200" marB="76200"/>
                </a:tc>
                <a:tc>
                  <a:txBody>
                    <a:bodyPr/>
                    <a:lstStyle/>
                    <a:p>
                      <a:pPr algn="l" fontAlgn="t"/>
                      <a:r>
                        <a:rPr lang="en-IN">
                          <a:solidFill>
                            <a:srgbClr val="000000"/>
                          </a:solidFill>
                          <a:effectLst/>
                          <a:latin typeface="times new roman" panose="02020603050405020304" pitchFamily="18" charset="0"/>
                        </a:rPr>
                        <a:t>Operator</a:t>
                      </a:r>
                    </a:p>
                  </a:txBody>
                  <a:tcPr marL="76200" marR="76200" marT="76200" marB="76200"/>
                </a:tc>
                <a:tc>
                  <a:txBody>
                    <a:bodyPr/>
                    <a:lstStyle/>
                    <a:p>
                      <a:pPr algn="l" fontAlgn="t"/>
                      <a:r>
                        <a:rPr lang="en-IN">
                          <a:solidFill>
                            <a:srgbClr val="000000"/>
                          </a:solidFill>
                          <a:effectLst/>
                          <a:latin typeface="times new roman" panose="02020603050405020304" pitchFamily="18" charset="0"/>
                        </a:rPr>
                        <a:t>Type</a:t>
                      </a:r>
                    </a:p>
                  </a:txBody>
                  <a:tcPr marL="76200" marR="76200" marT="76200" marB="76200"/>
                </a:tc>
                <a:tc>
                  <a:txBody>
                    <a:bodyPr/>
                    <a:lstStyle/>
                    <a:p>
                      <a:pPr algn="l" fontAlgn="t"/>
                      <a:r>
                        <a:rPr lang="en-IN">
                          <a:solidFill>
                            <a:srgbClr val="000000"/>
                          </a:solidFill>
                          <a:effectLst/>
                          <a:latin typeface="times new roman" panose="02020603050405020304" pitchFamily="18" charset="0"/>
                        </a:rPr>
                        <a:t>Associativity</a:t>
                      </a:r>
                    </a:p>
                  </a:txBody>
                  <a:tcPr marL="76200" marR="76200" marT="76200" marB="76200"/>
                </a:tc>
                <a:extLst>
                  <a:ext uri="{0D108BD9-81ED-4DB2-BD59-A6C34878D82A}">
                    <a16:rowId xmlns:a16="http://schemas.microsoft.com/office/drawing/2014/main" val="1091014180"/>
                  </a:ext>
                </a:extLst>
              </a:tr>
              <a:tr h="370840">
                <a:tc>
                  <a:txBody>
                    <a:bodyPr/>
                    <a:lstStyle/>
                    <a:p>
                      <a:pPr algn="just" fontAlgn="t"/>
                      <a:r>
                        <a:rPr lang="en-IN" dirty="0">
                          <a:solidFill>
                            <a:srgbClr val="333333"/>
                          </a:solidFill>
                          <a:effectLst/>
                          <a:latin typeface="inter-regular"/>
                        </a:rPr>
                        <a:t>15</a:t>
                      </a:r>
                    </a:p>
                  </a:txBody>
                  <a:tcPr marL="50800" marR="50800" marT="50800" marB="50800"/>
                </a:tc>
                <a:tc>
                  <a:txBody>
                    <a:bodyPr/>
                    <a:lstStyle/>
                    <a:p>
                      <a:pPr algn="just" fontAlgn="t"/>
                      <a:r>
                        <a:rPr lang="en-IN" dirty="0">
                          <a:solidFill>
                            <a:srgbClr val="333333"/>
                          </a:solidFill>
                          <a:effectLst/>
                          <a:latin typeface="inter-regular"/>
                        </a:rPr>
                        <a:t>()</a:t>
                      </a:r>
                      <a:br>
                        <a:rPr lang="en-IN" dirty="0">
                          <a:solidFill>
                            <a:srgbClr val="333333"/>
                          </a:solidFill>
                          <a:effectLst/>
                          <a:latin typeface="inter-regular"/>
                        </a:rPr>
                      </a:br>
                      <a:r>
                        <a:rPr lang="en-IN" dirty="0">
                          <a:solidFill>
                            <a:srgbClr val="333333"/>
                          </a:solidFill>
                          <a:effectLst/>
                          <a:latin typeface="inter-regular"/>
                        </a:rPr>
                        <a:t>[]</a:t>
                      </a:r>
                      <a:br>
                        <a:rPr lang="en-IN" dirty="0">
                          <a:solidFill>
                            <a:srgbClr val="333333"/>
                          </a:solidFill>
                          <a:effectLst/>
                          <a:latin typeface="inter-regular"/>
                        </a:rPr>
                      </a:br>
                      <a:r>
                        <a:rPr lang="en-IN" dirty="0">
                          <a:solidFill>
                            <a:srgbClr val="333333"/>
                          </a:solidFill>
                          <a:effectLst/>
                          <a:latin typeface="inter-regular"/>
                        </a:rPr>
                        <a:t>·</a:t>
                      </a:r>
                    </a:p>
                  </a:txBody>
                  <a:tcPr marL="50800" marR="50800" marT="50800" marB="50800"/>
                </a:tc>
                <a:tc>
                  <a:txBody>
                    <a:bodyPr/>
                    <a:lstStyle/>
                    <a:p>
                      <a:pPr algn="l" fontAlgn="t"/>
                      <a:r>
                        <a:rPr lang="en-US" dirty="0">
                          <a:solidFill>
                            <a:srgbClr val="333333"/>
                          </a:solidFill>
                          <a:effectLst/>
                          <a:latin typeface="inter-regular"/>
                        </a:rPr>
                        <a:t>Parentheses</a:t>
                      </a:r>
                      <a:br>
                        <a:rPr lang="en-US" dirty="0">
                          <a:solidFill>
                            <a:srgbClr val="333333"/>
                          </a:solidFill>
                          <a:effectLst/>
                          <a:latin typeface="inter-regular"/>
                        </a:rPr>
                      </a:br>
                      <a:r>
                        <a:rPr lang="en-US" dirty="0">
                          <a:solidFill>
                            <a:srgbClr val="333333"/>
                          </a:solidFill>
                          <a:effectLst/>
                          <a:latin typeface="inter-regular"/>
                        </a:rPr>
                        <a:t>Array subscript</a:t>
                      </a:r>
                      <a:br>
                        <a:rPr lang="en-US" dirty="0">
                          <a:solidFill>
                            <a:srgbClr val="333333"/>
                          </a:solidFill>
                          <a:effectLst/>
                          <a:latin typeface="inter-regular"/>
                        </a:rPr>
                      </a:br>
                      <a:r>
                        <a:rPr lang="en-US" dirty="0">
                          <a:solidFill>
                            <a:srgbClr val="333333"/>
                          </a:solidFill>
                          <a:effectLst/>
                          <a:latin typeface="inter-regular"/>
                        </a:rPr>
                        <a:t>Member selection</a:t>
                      </a:r>
                    </a:p>
                  </a:txBody>
                  <a:tcPr marL="50800" marR="50800" marT="50800" marB="50800"/>
                </a:tc>
                <a:tc>
                  <a:txBody>
                    <a:bodyPr/>
                    <a:lstStyle/>
                    <a:p>
                      <a:pPr algn="just" fontAlgn="t"/>
                      <a:r>
                        <a:rPr lang="en-IN">
                          <a:solidFill>
                            <a:srgbClr val="333333"/>
                          </a:solidFill>
                          <a:effectLst/>
                          <a:latin typeface="inter-regular"/>
                        </a:rPr>
                        <a:t>Left to Right</a:t>
                      </a:r>
                    </a:p>
                  </a:txBody>
                  <a:tcPr marL="50800" marR="50800" marT="50800" marB="50800"/>
                </a:tc>
                <a:extLst>
                  <a:ext uri="{0D108BD9-81ED-4DB2-BD59-A6C34878D82A}">
                    <a16:rowId xmlns:a16="http://schemas.microsoft.com/office/drawing/2014/main" val="3732597261"/>
                  </a:ext>
                </a:extLst>
              </a:tr>
              <a:tr h="370840">
                <a:tc>
                  <a:txBody>
                    <a:bodyPr/>
                    <a:lstStyle/>
                    <a:p>
                      <a:pPr algn="just" fontAlgn="t"/>
                      <a:r>
                        <a:rPr lang="en-IN">
                          <a:solidFill>
                            <a:srgbClr val="333333"/>
                          </a:solidFill>
                          <a:effectLst/>
                          <a:latin typeface="inter-regular"/>
                        </a:rPr>
                        <a:t>14</a:t>
                      </a:r>
                    </a:p>
                  </a:txBody>
                  <a:tcPr marL="50800" marR="50800" marT="50800" marB="50800"/>
                </a:tc>
                <a:tc>
                  <a:txBody>
                    <a:bodyPr/>
                    <a:lstStyle/>
                    <a:p>
                      <a:pPr algn="just" fontAlgn="t"/>
                      <a:r>
                        <a:rPr lang="en-IN" dirty="0">
                          <a:solidFill>
                            <a:srgbClr val="333333"/>
                          </a:solidFill>
                          <a:effectLst/>
                          <a:latin typeface="inter-regular"/>
                        </a:rPr>
                        <a:t>++</a:t>
                      </a:r>
                      <a:br>
                        <a:rPr lang="en-IN" dirty="0">
                          <a:solidFill>
                            <a:srgbClr val="333333"/>
                          </a:solidFill>
                          <a:effectLst/>
                          <a:latin typeface="inter-regular"/>
                        </a:rPr>
                      </a:br>
                      <a:r>
                        <a:rPr lang="en-IN" dirty="0">
                          <a:solidFill>
                            <a:srgbClr val="333333"/>
                          </a:solidFill>
                          <a:effectLst/>
                          <a:latin typeface="inter-regular"/>
                        </a:rPr>
                        <a:t>--</a:t>
                      </a:r>
                    </a:p>
                  </a:txBody>
                  <a:tcPr marL="50800" marR="50800" marT="50800" marB="50800"/>
                </a:tc>
                <a:tc>
                  <a:txBody>
                    <a:bodyPr/>
                    <a:lstStyle/>
                    <a:p>
                      <a:pPr algn="l" fontAlgn="t"/>
                      <a:r>
                        <a:rPr lang="en-IN" dirty="0">
                          <a:solidFill>
                            <a:srgbClr val="333333"/>
                          </a:solidFill>
                          <a:effectLst/>
                          <a:latin typeface="inter-regular"/>
                        </a:rPr>
                        <a:t>Unary post-increment</a:t>
                      </a:r>
                      <a:br>
                        <a:rPr lang="en-IN" dirty="0">
                          <a:solidFill>
                            <a:srgbClr val="333333"/>
                          </a:solidFill>
                          <a:effectLst/>
                          <a:latin typeface="inter-regular"/>
                        </a:rPr>
                      </a:br>
                      <a:r>
                        <a:rPr lang="en-IN" dirty="0">
                          <a:solidFill>
                            <a:srgbClr val="333333"/>
                          </a:solidFill>
                          <a:effectLst/>
                          <a:latin typeface="inter-regular"/>
                        </a:rPr>
                        <a:t>Unary post-decrement</a:t>
                      </a:r>
                    </a:p>
                  </a:txBody>
                  <a:tcPr marL="50800" marR="50800" marT="50800" marB="50800"/>
                </a:tc>
                <a:tc>
                  <a:txBody>
                    <a:bodyPr/>
                    <a:lstStyle/>
                    <a:p>
                      <a:pPr algn="just" fontAlgn="t"/>
                      <a:r>
                        <a:rPr lang="en-IN">
                          <a:solidFill>
                            <a:srgbClr val="333333"/>
                          </a:solidFill>
                          <a:effectLst/>
                          <a:latin typeface="inter-regular"/>
                        </a:rPr>
                        <a:t>Right to left</a:t>
                      </a:r>
                    </a:p>
                  </a:txBody>
                  <a:tcPr marL="50800" marR="50800" marT="50800" marB="50800"/>
                </a:tc>
                <a:extLst>
                  <a:ext uri="{0D108BD9-81ED-4DB2-BD59-A6C34878D82A}">
                    <a16:rowId xmlns:a16="http://schemas.microsoft.com/office/drawing/2014/main" val="3276284195"/>
                  </a:ext>
                </a:extLst>
              </a:tr>
              <a:tr h="370840">
                <a:tc>
                  <a:txBody>
                    <a:bodyPr/>
                    <a:lstStyle/>
                    <a:p>
                      <a:pPr algn="just" fontAlgn="t"/>
                      <a:r>
                        <a:rPr lang="en-IN">
                          <a:solidFill>
                            <a:srgbClr val="333333"/>
                          </a:solidFill>
                          <a:effectLst/>
                          <a:latin typeface="inter-regular"/>
                        </a:rPr>
                        <a:t>13</a:t>
                      </a:r>
                    </a:p>
                  </a:txBody>
                  <a:tcPr marL="50800" marR="50800" marT="50800" marB="50800"/>
                </a:tc>
                <a:tc>
                  <a:txBody>
                    <a:bodyPr/>
                    <a:lstStyle/>
                    <a:p>
                      <a:pPr algn="just" fontAlgn="t"/>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(type)</a:t>
                      </a:r>
                    </a:p>
                  </a:txBody>
                  <a:tcPr marL="50800" marR="50800" marT="50800" marB="50800"/>
                </a:tc>
                <a:tc>
                  <a:txBody>
                    <a:bodyPr/>
                    <a:lstStyle/>
                    <a:p>
                      <a:pPr algn="l" fontAlgn="t"/>
                      <a:r>
                        <a:rPr lang="en-US" dirty="0">
                          <a:solidFill>
                            <a:srgbClr val="333333"/>
                          </a:solidFill>
                          <a:effectLst/>
                          <a:latin typeface="inter-regular"/>
                        </a:rPr>
                        <a:t>Unary pre-increment</a:t>
                      </a:r>
                      <a:br>
                        <a:rPr lang="en-US" dirty="0">
                          <a:solidFill>
                            <a:srgbClr val="333333"/>
                          </a:solidFill>
                          <a:effectLst/>
                          <a:latin typeface="inter-regular"/>
                        </a:rPr>
                      </a:br>
                      <a:r>
                        <a:rPr lang="en-US" dirty="0">
                          <a:solidFill>
                            <a:srgbClr val="333333"/>
                          </a:solidFill>
                          <a:effectLst/>
                          <a:latin typeface="inter-regular"/>
                        </a:rPr>
                        <a:t>Unary pre-decrement</a:t>
                      </a:r>
                      <a:br>
                        <a:rPr lang="en-US" dirty="0">
                          <a:solidFill>
                            <a:srgbClr val="333333"/>
                          </a:solidFill>
                          <a:effectLst/>
                          <a:latin typeface="inter-regular"/>
                        </a:rPr>
                      </a:br>
                      <a:r>
                        <a:rPr lang="en-US" dirty="0">
                          <a:solidFill>
                            <a:srgbClr val="333333"/>
                          </a:solidFill>
                          <a:effectLst/>
                          <a:latin typeface="inter-regular"/>
                        </a:rPr>
                        <a:t>Unary plus</a:t>
                      </a:r>
                      <a:br>
                        <a:rPr lang="en-US" dirty="0">
                          <a:solidFill>
                            <a:srgbClr val="333333"/>
                          </a:solidFill>
                          <a:effectLst/>
                          <a:latin typeface="inter-regular"/>
                        </a:rPr>
                      </a:br>
                      <a:r>
                        <a:rPr lang="en-US" dirty="0">
                          <a:solidFill>
                            <a:srgbClr val="333333"/>
                          </a:solidFill>
                          <a:effectLst/>
                          <a:latin typeface="inter-regular"/>
                        </a:rPr>
                        <a:t>Unary minus</a:t>
                      </a:r>
                      <a:br>
                        <a:rPr lang="en-US" dirty="0">
                          <a:solidFill>
                            <a:srgbClr val="333333"/>
                          </a:solidFill>
                          <a:effectLst/>
                          <a:latin typeface="inter-regular"/>
                        </a:rPr>
                      </a:br>
                      <a:r>
                        <a:rPr lang="en-US" dirty="0">
                          <a:solidFill>
                            <a:srgbClr val="333333"/>
                          </a:solidFill>
                          <a:effectLst/>
                          <a:latin typeface="inter-regular"/>
                        </a:rPr>
                        <a:t>Unary logical negation</a:t>
                      </a:r>
                      <a:br>
                        <a:rPr lang="en-US" dirty="0">
                          <a:solidFill>
                            <a:srgbClr val="333333"/>
                          </a:solidFill>
                          <a:effectLst/>
                          <a:latin typeface="inter-regular"/>
                        </a:rPr>
                      </a:br>
                      <a:r>
                        <a:rPr lang="en-US" dirty="0">
                          <a:solidFill>
                            <a:srgbClr val="333333"/>
                          </a:solidFill>
                          <a:effectLst/>
                          <a:latin typeface="inter-regular"/>
                        </a:rPr>
                        <a:t>Unary bitwise complement</a:t>
                      </a:r>
                      <a:br>
                        <a:rPr lang="en-US" dirty="0">
                          <a:solidFill>
                            <a:srgbClr val="333333"/>
                          </a:solidFill>
                          <a:effectLst/>
                          <a:latin typeface="inter-regular"/>
                        </a:rPr>
                      </a:br>
                      <a:r>
                        <a:rPr lang="en-US" dirty="0">
                          <a:solidFill>
                            <a:srgbClr val="333333"/>
                          </a:solidFill>
                          <a:effectLst/>
                          <a:latin typeface="inter-regular"/>
                        </a:rPr>
                        <a:t>Unary type cast</a:t>
                      </a:r>
                    </a:p>
                  </a:txBody>
                  <a:tcPr marL="50800" marR="50800" marT="50800" marB="50800"/>
                </a:tc>
                <a:tc>
                  <a:txBody>
                    <a:bodyPr/>
                    <a:lstStyle/>
                    <a:p>
                      <a:pPr algn="just" fontAlgn="t"/>
                      <a:r>
                        <a:rPr lang="en-IN">
                          <a:solidFill>
                            <a:srgbClr val="333333"/>
                          </a:solidFill>
                          <a:effectLst/>
                          <a:latin typeface="inter-regular"/>
                        </a:rPr>
                        <a:t>Right to left</a:t>
                      </a:r>
                    </a:p>
                  </a:txBody>
                  <a:tcPr marL="50800" marR="50800" marT="50800" marB="50800"/>
                </a:tc>
                <a:extLst>
                  <a:ext uri="{0D108BD9-81ED-4DB2-BD59-A6C34878D82A}">
                    <a16:rowId xmlns:a16="http://schemas.microsoft.com/office/drawing/2014/main" val="4238943601"/>
                  </a:ext>
                </a:extLst>
              </a:tr>
              <a:tr h="370840">
                <a:tc>
                  <a:txBody>
                    <a:bodyPr/>
                    <a:lstStyle/>
                    <a:p>
                      <a:pPr algn="just" fontAlgn="t"/>
                      <a:r>
                        <a:rPr lang="en-IN">
                          <a:solidFill>
                            <a:srgbClr val="333333"/>
                          </a:solidFill>
                          <a:effectLst/>
                          <a:latin typeface="inter-regular"/>
                        </a:rPr>
                        <a:t>12</a:t>
                      </a:r>
                    </a:p>
                  </a:txBody>
                  <a:tcPr marL="50800" marR="50800" marT="50800" marB="50800"/>
                </a:tc>
                <a:tc>
                  <a:txBody>
                    <a:bodyPr/>
                    <a:lstStyle/>
                    <a:p>
                      <a:pPr algn="just" fontAlgn="t"/>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br>
                        <a:rPr lang="en-IN">
                          <a:solidFill>
                            <a:srgbClr val="333333"/>
                          </a:solidFill>
                          <a:effectLst/>
                          <a:latin typeface="inter-regular"/>
                        </a:rPr>
                      </a:br>
                      <a:r>
                        <a:rPr lang="en-IN">
                          <a:solidFill>
                            <a:srgbClr val="333333"/>
                          </a:solidFill>
                          <a:effectLst/>
                          <a:latin typeface="inter-regular"/>
                        </a:rPr>
                        <a:t>%</a:t>
                      </a:r>
                    </a:p>
                  </a:txBody>
                  <a:tcPr marL="50800" marR="50800" marT="50800" marB="50800"/>
                </a:tc>
                <a:tc>
                  <a:txBody>
                    <a:bodyPr/>
                    <a:lstStyle/>
                    <a:p>
                      <a:pPr algn="l" fontAlgn="t"/>
                      <a:r>
                        <a:rPr lang="en-IN" dirty="0">
                          <a:solidFill>
                            <a:srgbClr val="333333"/>
                          </a:solidFill>
                          <a:effectLst/>
                          <a:latin typeface="inter-regular"/>
                        </a:rPr>
                        <a:t>Multiplication</a:t>
                      </a:r>
                      <a:br>
                        <a:rPr lang="en-IN" dirty="0">
                          <a:solidFill>
                            <a:srgbClr val="333333"/>
                          </a:solidFill>
                          <a:effectLst/>
                          <a:latin typeface="inter-regular"/>
                        </a:rPr>
                      </a:br>
                      <a:r>
                        <a:rPr lang="en-IN" dirty="0">
                          <a:solidFill>
                            <a:srgbClr val="333333"/>
                          </a:solidFill>
                          <a:effectLst/>
                          <a:latin typeface="inter-regular"/>
                        </a:rPr>
                        <a:t>Division</a:t>
                      </a:r>
                      <a:br>
                        <a:rPr lang="en-IN" dirty="0">
                          <a:solidFill>
                            <a:srgbClr val="333333"/>
                          </a:solidFill>
                          <a:effectLst/>
                          <a:latin typeface="inter-regular"/>
                        </a:rPr>
                      </a:br>
                      <a:r>
                        <a:rPr lang="en-IN" dirty="0">
                          <a:solidFill>
                            <a:srgbClr val="333333"/>
                          </a:solidFill>
                          <a:effectLst/>
                          <a:latin typeface="inter-regular"/>
                        </a:rPr>
                        <a:t>Modulus</a:t>
                      </a:r>
                    </a:p>
                  </a:txBody>
                  <a:tcPr marL="50800" marR="50800" marT="50800" marB="50800"/>
                </a:tc>
                <a:tc>
                  <a:txBody>
                    <a:bodyPr/>
                    <a:lstStyle/>
                    <a:p>
                      <a:pPr algn="just" fontAlgn="t"/>
                      <a:r>
                        <a:rPr lang="en-IN" dirty="0">
                          <a:solidFill>
                            <a:srgbClr val="333333"/>
                          </a:solidFill>
                          <a:effectLst/>
                          <a:latin typeface="inter-regular"/>
                        </a:rPr>
                        <a:t>Left to right</a:t>
                      </a:r>
                    </a:p>
                  </a:txBody>
                  <a:tcPr marL="50800" marR="50800" marT="50800" marB="50800"/>
                </a:tc>
                <a:extLst>
                  <a:ext uri="{0D108BD9-81ED-4DB2-BD59-A6C34878D82A}">
                    <a16:rowId xmlns:a16="http://schemas.microsoft.com/office/drawing/2014/main" val="3851179235"/>
                  </a:ext>
                </a:extLst>
              </a:tr>
            </a:tbl>
          </a:graphicData>
        </a:graphic>
      </p:graphicFrame>
    </p:spTree>
    <p:extLst>
      <p:ext uri="{BB962C8B-B14F-4D97-AF65-F5344CB8AC3E}">
        <p14:creationId xmlns:p14="http://schemas.microsoft.com/office/powerpoint/2010/main" val="40711370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AC58F-C9F2-4FCC-87A3-5D82DC3F2124}"/>
              </a:ext>
            </a:extLst>
          </p:cNvPr>
          <p:cNvSpPr>
            <a:spLocks noGrp="1"/>
          </p:cNvSpPr>
          <p:nvPr>
            <p:ph type="title"/>
          </p:nvPr>
        </p:nvSpPr>
        <p:spPr>
          <a:xfrm>
            <a:off x="677334" y="609600"/>
            <a:ext cx="8596668" cy="712424"/>
          </a:xfrm>
        </p:spPr>
        <p:txBody>
          <a:bodyPr/>
          <a:lstStyle/>
          <a:p>
            <a:r>
              <a:rPr lang="en-US" dirty="0"/>
              <a:t>Statements</a:t>
            </a:r>
            <a:endParaRPr lang="en-IN" dirty="0"/>
          </a:p>
        </p:txBody>
      </p:sp>
      <p:sp>
        <p:nvSpPr>
          <p:cNvPr id="3" name="Content Placeholder 2">
            <a:extLst>
              <a:ext uri="{FF2B5EF4-FFF2-40B4-BE49-F238E27FC236}">
                <a16:creationId xmlns:a16="http://schemas.microsoft.com/office/drawing/2014/main" id="{92F2768D-AE17-429C-B542-76F9E5CF1876}"/>
              </a:ext>
            </a:extLst>
          </p:cNvPr>
          <p:cNvSpPr>
            <a:spLocks noGrp="1"/>
          </p:cNvSpPr>
          <p:nvPr>
            <p:ph idx="1"/>
          </p:nvPr>
        </p:nvSpPr>
        <p:spPr>
          <a:xfrm>
            <a:off x="677334" y="1322025"/>
            <a:ext cx="8596668" cy="4719338"/>
          </a:xfrm>
        </p:spPr>
        <p:txBody>
          <a:bodyPr/>
          <a:lstStyle/>
          <a:p>
            <a:pPr marL="0" indent="0">
              <a:buNone/>
            </a:pPr>
            <a:r>
              <a:rPr lang="en-US" sz="2000" b="1" dirty="0"/>
              <a:t>Statements</a:t>
            </a:r>
          </a:p>
          <a:p>
            <a:pPr marL="804863">
              <a:buFont typeface="+mj-lt"/>
              <a:buAutoNum type="arabicPeriod"/>
            </a:pPr>
            <a:r>
              <a:rPr lang="en-US" dirty="0"/>
              <a:t>If else</a:t>
            </a:r>
          </a:p>
          <a:p>
            <a:pPr marL="804863">
              <a:buFont typeface="+mj-lt"/>
              <a:buAutoNum type="arabicPeriod"/>
            </a:pPr>
            <a:r>
              <a:rPr lang="en-US" dirty="0"/>
              <a:t>For loop</a:t>
            </a:r>
          </a:p>
          <a:p>
            <a:pPr marL="804863">
              <a:buFont typeface="+mj-lt"/>
              <a:buAutoNum type="arabicPeriod"/>
            </a:pPr>
            <a:r>
              <a:rPr lang="en-US" dirty="0"/>
              <a:t>For each</a:t>
            </a:r>
          </a:p>
          <a:p>
            <a:pPr marL="804863">
              <a:buFont typeface="+mj-lt"/>
              <a:buAutoNum type="arabicPeriod"/>
            </a:pPr>
            <a:r>
              <a:rPr lang="en-US" dirty="0"/>
              <a:t>While loop</a:t>
            </a:r>
          </a:p>
          <a:p>
            <a:pPr marL="804863">
              <a:buFont typeface="+mj-lt"/>
              <a:buAutoNum type="arabicPeriod"/>
            </a:pPr>
            <a:r>
              <a:rPr lang="en-US" dirty="0"/>
              <a:t>Do … while loop</a:t>
            </a:r>
          </a:p>
          <a:p>
            <a:pPr marL="804863">
              <a:buFont typeface="+mj-lt"/>
              <a:buAutoNum type="arabicPeriod"/>
            </a:pPr>
            <a:r>
              <a:rPr lang="en-US" dirty="0"/>
              <a:t>Switch… case</a:t>
            </a:r>
          </a:p>
          <a:p>
            <a:pPr marL="804863">
              <a:buFont typeface="+mj-lt"/>
              <a:buAutoNum type="arabicPeriod"/>
            </a:pPr>
            <a:r>
              <a:rPr lang="en-US" dirty="0"/>
              <a:t>Break</a:t>
            </a:r>
          </a:p>
          <a:p>
            <a:pPr marL="804863">
              <a:buFont typeface="+mj-lt"/>
              <a:buAutoNum type="arabicPeriod"/>
            </a:pPr>
            <a:r>
              <a:rPr lang="en-US" dirty="0"/>
              <a:t>Continue</a:t>
            </a:r>
          </a:p>
          <a:p>
            <a:pPr>
              <a:buFont typeface="+mj-lt"/>
              <a:buAutoNum type="arabicPeriod"/>
            </a:pPr>
            <a:endParaRPr lang="en-IN" dirty="0"/>
          </a:p>
        </p:txBody>
      </p:sp>
    </p:spTree>
    <p:extLst>
      <p:ext uri="{BB962C8B-B14F-4D97-AF65-F5344CB8AC3E}">
        <p14:creationId xmlns:p14="http://schemas.microsoft.com/office/powerpoint/2010/main" val="24288042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AC58F-C9F2-4FCC-87A3-5D82DC3F2124}"/>
              </a:ext>
            </a:extLst>
          </p:cNvPr>
          <p:cNvSpPr>
            <a:spLocks noGrp="1"/>
          </p:cNvSpPr>
          <p:nvPr>
            <p:ph type="title"/>
          </p:nvPr>
        </p:nvSpPr>
        <p:spPr>
          <a:xfrm>
            <a:off x="677334" y="609600"/>
            <a:ext cx="8596668" cy="712424"/>
          </a:xfrm>
        </p:spPr>
        <p:txBody>
          <a:bodyPr/>
          <a:lstStyle/>
          <a:p>
            <a:r>
              <a:rPr lang="en-US" dirty="0"/>
              <a:t>For each loop</a:t>
            </a:r>
            <a:endParaRPr lang="en-IN" dirty="0"/>
          </a:p>
        </p:txBody>
      </p:sp>
      <p:sp>
        <p:nvSpPr>
          <p:cNvPr id="3" name="Content Placeholder 2">
            <a:extLst>
              <a:ext uri="{FF2B5EF4-FFF2-40B4-BE49-F238E27FC236}">
                <a16:creationId xmlns:a16="http://schemas.microsoft.com/office/drawing/2014/main" id="{92F2768D-AE17-429C-B542-76F9E5CF1876}"/>
              </a:ext>
            </a:extLst>
          </p:cNvPr>
          <p:cNvSpPr>
            <a:spLocks noGrp="1"/>
          </p:cNvSpPr>
          <p:nvPr>
            <p:ph idx="1"/>
          </p:nvPr>
        </p:nvSpPr>
        <p:spPr>
          <a:xfrm>
            <a:off x="677334" y="1322025"/>
            <a:ext cx="8596668" cy="4719338"/>
          </a:xfrm>
        </p:spPr>
        <p:txBody>
          <a:bodyPr/>
          <a:lstStyle/>
          <a:p>
            <a:pPr>
              <a:buFont typeface="+mj-lt"/>
              <a:buAutoNum type="arabicPeriod"/>
            </a:pPr>
            <a:r>
              <a:rPr lang="en-IN" dirty="0"/>
              <a:t>is another array traversing technique like for loop, while loop, do-while loop</a:t>
            </a:r>
          </a:p>
          <a:p>
            <a:pPr>
              <a:buFont typeface="+mj-lt"/>
              <a:buAutoNum type="arabicPeriod"/>
            </a:pPr>
            <a:r>
              <a:rPr lang="en-IN" u="sng" dirty="0"/>
              <a:t>Syntax:</a:t>
            </a:r>
          </a:p>
          <a:p>
            <a:pPr marL="715963" lvl="1" indent="0">
              <a:buNone/>
            </a:pPr>
            <a:r>
              <a:rPr lang="en-IN" dirty="0"/>
              <a:t>for( datatype var : array or collection)</a:t>
            </a:r>
          </a:p>
          <a:p>
            <a:pPr marL="715963" lvl="1" indent="0">
              <a:buNone/>
            </a:pPr>
            <a:r>
              <a:rPr lang="en-IN" dirty="0"/>
              <a:t>{</a:t>
            </a:r>
          </a:p>
          <a:p>
            <a:pPr marL="715963" lvl="1" indent="0">
              <a:buNone/>
            </a:pPr>
            <a:r>
              <a:rPr lang="en-IN" dirty="0" err="1"/>
              <a:t>Stt</a:t>
            </a:r>
            <a:r>
              <a:rPr lang="en-IN" dirty="0"/>
              <a:t>;</a:t>
            </a:r>
          </a:p>
          <a:p>
            <a:pPr marL="715963" lvl="1" indent="0">
              <a:buNone/>
            </a:pPr>
            <a:r>
              <a:rPr lang="en-IN" dirty="0"/>
              <a:t>}</a:t>
            </a:r>
          </a:p>
        </p:txBody>
      </p:sp>
    </p:spTree>
    <p:extLst>
      <p:ext uri="{BB962C8B-B14F-4D97-AF65-F5344CB8AC3E}">
        <p14:creationId xmlns:p14="http://schemas.microsoft.com/office/powerpoint/2010/main" val="13221176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128B-1C36-4E66-AAC1-82C8F59814E4}"/>
              </a:ext>
            </a:extLst>
          </p:cNvPr>
          <p:cNvSpPr>
            <a:spLocks noGrp="1"/>
          </p:cNvSpPr>
          <p:nvPr>
            <p:ph type="ctrTitle"/>
          </p:nvPr>
        </p:nvSpPr>
        <p:spPr/>
        <p:txBody>
          <a:bodyPr/>
          <a:lstStyle/>
          <a:p>
            <a:pPr algn="ctr"/>
            <a:r>
              <a:rPr lang="en-US" dirty="0"/>
              <a:t>Java String</a:t>
            </a:r>
            <a:endParaRPr lang="en-IN" dirty="0"/>
          </a:p>
        </p:txBody>
      </p:sp>
    </p:spTree>
    <p:extLst>
      <p:ext uri="{BB962C8B-B14F-4D97-AF65-F5344CB8AC3E}">
        <p14:creationId xmlns:p14="http://schemas.microsoft.com/office/powerpoint/2010/main" val="8258734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lstStyle/>
          <a:p>
            <a:r>
              <a:rPr lang="en-US" dirty="0"/>
              <a:t>String</a:t>
            </a:r>
            <a:endParaRPr lang="en-IN" dirty="0"/>
          </a:p>
        </p:txBody>
      </p:sp>
      <p:sp>
        <p:nvSpPr>
          <p:cNvPr id="3" name="Content Placeholder 2">
            <a:extLst>
              <a:ext uri="{FF2B5EF4-FFF2-40B4-BE49-F238E27FC236}">
                <a16:creationId xmlns:a16="http://schemas.microsoft.com/office/drawing/2014/main" id="{38E981D1-00BC-46B1-9541-2C71562E4A0E}"/>
              </a:ext>
            </a:extLst>
          </p:cNvPr>
          <p:cNvSpPr>
            <a:spLocks noGrp="1"/>
          </p:cNvSpPr>
          <p:nvPr>
            <p:ph idx="1"/>
          </p:nvPr>
        </p:nvSpPr>
        <p:spPr>
          <a:xfrm>
            <a:off x="677334" y="1288973"/>
            <a:ext cx="8596668" cy="4752389"/>
          </a:xfrm>
        </p:spPr>
        <p:txBody>
          <a:bodyPr>
            <a:noAutofit/>
          </a:bodyPr>
          <a:lstStyle/>
          <a:p>
            <a:pPr>
              <a:buFont typeface="Wingdings" panose="05000000000000000000" pitchFamily="2" charset="2"/>
              <a:buChar char="§"/>
            </a:pPr>
            <a:r>
              <a:rPr lang="en-US" dirty="0"/>
              <a:t>String is collection of characters.</a:t>
            </a:r>
          </a:p>
          <a:p>
            <a:pPr marL="0" indent="0">
              <a:buNone/>
            </a:pPr>
            <a:r>
              <a:rPr lang="en-US" dirty="0"/>
              <a:t>	Ex:</a:t>
            </a:r>
          </a:p>
          <a:p>
            <a:pPr marL="0" indent="0">
              <a:buNone/>
            </a:pPr>
            <a:r>
              <a:rPr lang="en-US" dirty="0"/>
              <a:t>		String s1 = “Selenium”</a:t>
            </a:r>
          </a:p>
          <a:p>
            <a:pPr marL="0" indent="0">
              <a:spcBef>
                <a:spcPts val="600"/>
              </a:spcBef>
              <a:spcAft>
                <a:spcPts val="600"/>
              </a:spcAft>
              <a:buNone/>
            </a:pPr>
            <a:r>
              <a:rPr lang="en-IN" dirty="0"/>
              <a:t>		String s2 = “Selenium”</a:t>
            </a:r>
          </a:p>
          <a:p>
            <a:pPr marL="0" indent="0">
              <a:spcBef>
                <a:spcPts val="600"/>
              </a:spcBef>
              <a:spcAft>
                <a:spcPts val="600"/>
              </a:spcAft>
              <a:buNone/>
            </a:pPr>
            <a:r>
              <a:rPr lang="en-IN" dirty="0"/>
              <a:t>The String is immutable. The String value cannot be changed.</a:t>
            </a:r>
          </a:p>
          <a:p>
            <a:pPr marL="0" indent="0">
              <a:buNone/>
            </a:pPr>
            <a:r>
              <a:rPr lang="en-IN" dirty="0"/>
              <a:t>How to create a string object?</a:t>
            </a:r>
          </a:p>
          <a:p>
            <a:pPr marL="0" indent="0">
              <a:buNone/>
            </a:pPr>
            <a:r>
              <a:rPr lang="en-IN" dirty="0"/>
              <a:t>	There are two ways to create String object. </a:t>
            </a:r>
          </a:p>
          <a:p>
            <a:pPr marL="804863" indent="-166688">
              <a:buFont typeface="+mj-lt"/>
              <a:buAutoNum type="arabicPeriod"/>
            </a:pPr>
            <a:r>
              <a:rPr lang="en-IN" dirty="0"/>
              <a:t>	By string literal</a:t>
            </a:r>
          </a:p>
          <a:p>
            <a:pPr marL="0" indent="0">
              <a:buNone/>
            </a:pPr>
            <a:r>
              <a:rPr lang="en-IN" dirty="0"/>
              <a:t>		Ex:</a:t>
            </a:r>
          </a:p>
          <a:p>
            <a:pPr marL="0" indent="0">
              <a:buNone/>
            </a:pPr>
            <a:r>
              <a:rPr lang="en-IN" dirty="0"/>
              <a:t>			String s1 = “Selenium”</a:t>
            </a:r>
          </a:p>
          <a:p>
            <a:pPr marL="981075">
              <a:buFont typeface="+mj-lt"/>
              <a:buAutoNum type="arabicPeriod" startAt="2"/>
            </a:pPr>
            <a:r>
              <a:rPr lang="en-IN" dirty="0"/>
              <a:t>By new keyword</a:t>
            </a:r>
          </a:p>
          <a:p>
            <a:pPr marL="0" indent="0">
              <a:buNone/>
            </a:pPr>
            <a:r>
              <a:rPr lang="en-IN" dirty="0"/>
              <a:t>		Ex:</a:t>
            </a:r>
          </a:p>
          <a:p>
            <a:pPr marL="0" indent="0">
              <a:buNone/>
            </a:pPr>
            <a:r>
              <a:rPr lang="en-IN" dirty="0"/>
              <a:t>			String s2 = new String(“Selenium”);</a:t>
            </a:r>
          </a:p>
          <a:p>
            <a:endParaRPr lang="en-IN" dirty="0"/>
          </a:p>
        </p:txBody>
      </p:sp>
    </p:spTree>
    <p:extLst>
      <p:ext uri="{BB962C8B-B14F-4D97-AF65-F5344CB8AC3E}">
        <p14:creationId xmlns:p14="http://schemas.microsoft.com/office/powerpoint/2010/main" val="17027348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lstStyle/>
          <a:p>
            <a:r>
              <a:rPr lang="en-US" dirty="0"/>
              <a:t>String vs </a:t>
            </a:r>
            <a:r>
              <a:rPr lang="en-US" dirty="0" err="1"/>
              <a:t>StringBuffer</a:t>
            </a:r>
            <a:r>
              <a:rPr lang="en-US" dirty="0"/>
              <a:t> vs StringBuilder</a:t>
            </a:r>
            <a:endParaRPr lang="en-IN" dirty="0"/>
          </a:p>
        </p:txBody>
      </p:sp>
      <p:pic>
        <p:nvPicPr>
          <p:cNvPr id="1026" name="Picture 2" descr="StringBuffer vs. StringBuilder in Java">
            <a:extLst>
              <a:ext uri="{FF2B5EF4-FFF2-40B4-BE49-F238E27FC236}">
                <a16:creationId xmlns:a16="http://schemas.microsoft.com/office/drawing/2014/main" id="{1BFA8A28-A891-4CAD-ABDB-0B2ACFD6A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6531" y="1448116"/>
            <a:ext cx="8214243" cy="5246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41655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lstStyle/>
          <a:p>
            <a:r>
              <a:rPr lang="en-US" dirty="0"/>
              <a:t>Compare Two Strings</a:t>
            </a:r>
            <a:endParaRPr lang="en-IN" dirty="0"/>
          </a:p>
        </p:txBody>
      </p:sp>
      <p:sp>
        <p:nvSpPr>
          <p:cNvPr id="3" name="Content Placeholder 2">
            <a:extLst>
              <a:ext uri="{FF2B5EF4-FFF2-40B4-BE49-F238E27FC236}">
                <a16:creationId xmlns:a16="http://schemas.microsoft.com/office/drawing/2014/main" id="{9D3D318B-A79D-4974-B751-6DD55EAA12B4}"/>
              </a:ext>
            </a:extLst>
          </p:cNvPr>
          <p:cNvSpPr>
            <a:spLocks noGrp="1"/>
          </p:cNvSpPr>
          <p:nvPr>
            <p:ph idx="1"/>
          </p:nvPr>
        </p:nvSpPr>
        <p:spPr>
          <a:xfrm>
            <a:off x="677334" y="1388125"/>
            <a:ext cx="8596668" cy="4653237"/>
          </a:xfrm>
        </p:spPr>
        <p:txBody>
          <a:bodyPr/>
          <a:lstStyle/>
          <a:p>
            <a:pPr>
              <a:buFont typeface="+mj-lt"/>
              <a:buAutoNum type="arabicPeriod"/>
            </a:pPr>
            <a:r>
              <a:rPr lang="en-IN" dirty="0"/>
              <a:t>By equals() method</a:t>
            </a:r>
          </a:p>
          <a:p>
            <a:pPr marL="457200" lvl="1" indent="0">
              <a:buNone/>
            </a:pPr>
            <a:r>
              <a:rPr lang="en-IN" dirty="0"/>
              <a:t>	Compares content of two strings</a:t>
            </a:r>
          </a:p>
          <a:p>
            <a:pPr>
              <a:buFont typeface="+mj-lt"/>
              <a:buAutoNum type="arabicPeriod"/>
            </a:pPr>
            <a:r>
              <a:rPr lang="en-IN" dirty="0"/>
              <a:t>By = = operator</a:t>
            </a:r>
          </a:p>
          <a:p>
            <a:pPr marL="457200" lvl="1" indent="0">
              <a:buNone/>
            </a:pPr>
            <a:r>
              <a:rPr lang="en-IN" dirty="0"/>
              <a:t>	Compares reference not values</a:t>
            </a:r>
          </a:p>
          <a:p>
            <a:pPr>
              <a:buFont typeface="+mj-lt"/>
              <a:buAutoNum type="arabicPeriod"/>
            </a:pPr>
            <a:r>
              <a:rPr lang="en-IN" dirty="0"/>
              <a:t>By </a:t>
            </a:r>
            <a:r>
              <a:rPr lang="en-IN" dirty="0" err="1"/>
              <a:t>compareTo</a:t>
            </a:r>
            <a:r>
              <a:rPr lang="en-IN" dirty="0"/>
              <a:t>() method</a:t>
            </a:r>
          </a:p>
          <a:p>
            <a:pPr marL="457200" lvl="1" indent="0">
              <a:buNone/>
            </a:pPr>
            <a:r>
              <a:rPr lang="en-IN" dirty="0"/>
              <a:t>	Compares values lexicographically and returns an integer value</a:t>
            </a:r>
          </a:p>
          <a:p>
            <a:endParaRPr lang="en-IN" dirty="0"/>
          </a:p>
        </p:txBody>
      </p:sp>
    </p:spTree>
    <p:extLst>
      <p:ext uri="{BB962C8B-B14F-4D97-AF65-F5344CB8AC3E}">
        <p14:creationId xmlns:p14="http://schemas.microsoft.com/office/powerpoint/2010/main" val="40187876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lstStyle/>
          <a:p>
            <a:r>
              <a:rPr lang="en-US" dirty="0"/>
              <a:t>Arrays</a:t>
            </a:r>
            <a:endParaRPr lang="en-IN" dirty="0"/>
          </a:p>
        </p:txBody>
      </p:sp>
      <p:sp>
        <p:nvSpPr>
          <p:cNvPr id="3" name="Content Placeholder 2">
            <a:extLst>
              <a:ext uri="{FF2B5EF4-FFF2-40B4-BE49-F238E27FC236}">
                <a16:creationId xmlns:a16="http://schemas.microsoft.com/office/drawing/2014/main" id="{9D3D318B-A79D-4974-B751-6DD55EAA12B4}"/>
              </a:ext>
            </a:extLst>
          </p:cNvPr>
          <p:cNvSpPr>
            <a:spLocks noGrp="1"/>
          </p:cNvSpPr>
          <p:nvPr>
            <p:ph idx="1"/>
          </p:nvPr>
        </p:nvSpPr>
        <p:spPr>
          <a:xfrm>
            <a:off x="677334" y="1388125"/>
            <a:ext cx="8596668" cy="5255046"/>
          </a:xfrm>
        </p:spPr>
        <p:txBody>
          <a:bodyPr>
            <a:normAutofit/>
          </a:bodyPr>
          <a:lstStyle/>
          <a:p>
            <a:pPr>
              <a:buFont typeface="Wingdings" panose="05000000000000000000" pitchFamily="2" charset="2"/>
              <a:buChar char="§"/>
            </a:pPr>
            <a:r>
              <a:rPr lang="en-US" dirty="0"/>
              <a:t>Collection of </a:t>
            </a:r>
            <a:r>
              <a:rPr lang="en-US" b="1" u="sng" dirty="0"/>
              <a:t>Similar data types </a:t>
            </a:r>
          </a:p>
          <a:p>
            <a:pPr>
              <a:buFont typeface="Wingdings" panose="05000000000000000000" pitchFamily="2" charset="2"/>
              <a:buChar char="§"/>
            </a:pPr>
            <a:r>
              <a:rPr lang="en-IN" dirty="0"/>
              <a:t>There are two types of array.</a:t>
            </a:r>
          </a:p>
          <a:p>
            <a:pPr marL="1079500">
              <a:spcBef>
                <a:spcPts val="0"/>
              </a:spcBef>
              <a:buFont typeface="+mj-lt"/>
              <a:buAutoNum type="arabicPeriod"/>
            </a:pPr>
            <a:r>
              <a:rPr lang="en-IN" dirty="0"/>
              <a:t>Single Dimensional Array</a:t>
            </a:r>
          </a:p>
          <a:p>
            <a:pPr marL="1079500">
              <a:spcBef>
                <a:spcPts val="0"/>
              </a:spcBef>
              <a:buFont typeface="+mj-lt"/>
              <a:buAutoNum type="arabicPeriod"/>
            </a:pPr>
            <a:r>
              <a:rPr lang="en-IN" dirty="0"/>
              <a:t>Multidimensional Array</a:t>
            </a:r>
          </a:p>
          <a:p>
            <a:pPr marL="0" indent="0">
              <a:spcBef>
                <a:spcPts val="1800"/>
              </a:spcBef>
              <a:buNone/>
            </a:pPr>
            <a:r>
              <a:rPr lang="en-IN" u="sng" dirty="0"/>
              <a:t>Syntax to Declare Array:</a:t>
            </a:r>
          </a:p>
          <a:p>
            <a:pPr marL="539750" indent="0">
              <a:spcBef>
                <a:spcPts val="0"/>
              </a:spcBef>
              <a:buNone/>
            </a:pPr>
            <a:r>
              <a:rPr lang="en-IN" dirty="0" err="1"/>
              <a:t>dataType</a:t>
            </a:r>
            <a:r>
              <a:rPr lang="en-IN" dirty="0"/>
              <a:t>[] </a:t>
            </a:r>
            <a:r>
              <a:rPr lang="en-IN" dirty="0" err="1"/>
              <a:t>arr</a:t>
            </a:r>
            <a:r>
              <a:rPr lang="en-IN" dirty="0"/>
              <a:t>; (or)  </a:t>
            </a:r>
          </a:p>
          <a:p>
            <a:pPr marL="539750" indent="0">
              <a:spcBef>
                <a:spcPts val="0"/>
              </a:spcBef>
              <a:buNone/>
            </a:pPr>
            <a:r>
              <a:rPr lang="en-IN" dirty="0" err="1"/>
              <a:t>dataType</a:t>
            </a:r>
            <a:r>
              <a:rPr lang="en-IN" dirty="0"/>
              <a:t> []</a:t>
            </a:r>
            <a:r>
              <a:rPr lang="en-IN" dirty="0" err="1"/>
              <a:t>arr</a:t>
            </a:r>
            <a:r>
              <a:rPr lang="en-IN" dirty="0"/>
              <a:t>; (or)  </a:t>
            </a:r>
          </a:p>
          <a:p>
            <a:pPr marL="539750" indent="0">
              <a:spcBef>
                <a:spcPts val="0"/>
              </a:spcBef>
              <a:buNone/>
            </a:pPr>
            <a:r>
              <a:rPr lang="en-IN" dirty="0" err="1"/>
              <a:t>dataType</a:t>
            </a:r>
            <a:r>
              <a:rPr lang="en-IN" dirty="0"/>
              <a:t> </a:t>
            </a:r>
            <a:r>
              <a:rPr lang="en-IN" dirty="0" err="1"/>
              <a:t>arr</a:t>
            </a:r>
            <a:r>
              <a:rPr lang="en-IN" dirty="0"/>
              <a:t>[];  </a:t>
            </a:r>
          </a:p>
          <a:p>
            <a:pPr marL="0" indent="0">
              <a:spcBef>
                <a:spcPts val="1200"/>
              </a:spcBef>
              <a:buNone/>
            </a:pPr>
            <a:r>
              <a:rPr lang="en-IN" u="sng" dirty="0"/>
              <a:t>Syntax to Instantiation of an Array in Java</a:t>
            </a:r>
          </a:p>
          <a:p>
            <a:pPr marL="539750" indent="0">
              <a:spcBef>
                <a:spcPts val="1800"/>
              </a:spcBef>
              <a:buNone/>
            </a:pPr>
            <a:r>
              <a:rPr lang="en-IN" dirty="0" err="1"/>
              <a:t>arrayRefVar</a:t>
            </a:r>
            <a:r>
              <a:rPr lang="en-IN" dirty="0"/>
              <a:t>=</a:t>
            </a:r>
            <a:r>
              <a:rPr lang="en-IN" b="1" dirty="0"/>
              <a:t>new</a:t>
            </a:r>
            <a:r>
              <a:rPr lang="en-IN" dirty="0"/>
              <a:t> datatype[size];  </a:t>
            </a:r>
          </a:p>
          <a:p>
            <a:pPr marL="0" indent="0">
              <a:spcBef>
                <a:spcPts val="1800"/>
              </a:spcBef>
              <a:buNone/>
            </a:pPr>
            <a:r>
              <a:rPr lang="en-IN" u="sng" dirty="0"/>
              <a:t>Syntax to Declare and Instantiate of an Array</a:t>
            </a:r>
          </a:p>
          <a:p>
            <a:pPr marL="539750" indent="0">
              <a:buNone/>
            </a:pPr>
            <a:r>
              <a:rPr lang="en-IN" dirty="0"/>
              <a:t>datatype[] </a:t>
            </a:r>
            <a:r>
              <a:rPr lang="en-IN" dirty="0" err="1"/>
              <a:t>arrayRefVar</a:t>
            </a:r>
            <a:r>
              <a:rPr lang="en-IN" dirty="0"/>
              <a:t>=</a:t>
            </a:r>
            <a:r>
              <a:rPr lang="en-IN" b="1" dirty="0"/>
              <a:t>new</a:t>
            </a:r>
            <a:r>
              <a:rPr lang="en-IN" dirty="0"/>
              <a:t> datatype[size];</a:t>
            </a:r>
            <a:endParaRPr lang="en-IN" u="sng" dirty="0"/>
          </a:p>
          <a:p>
            <a:pPr marL="539750" indent="0">
              <a:buNone/>
            </a:pPr>
            <a:endParaRPr lang="en-IN" b="1" u="sng" dirty="0"/>
          </a:p>
        </p:txBody>
      </p:sp>
    </p:spTree>
    <p:extLst>
      <p:ext uri="{BB962C8B-B14F-4D97-AF65-F5344CB8AC3E}">
        <p14:creationId xmlns:p14="http://schemas.microsoft.com/office/powerpoint/2010/main" val="4223566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lstStyle/>
          <a:p>
            <a:r>
              <a:rPr lang="en-US" dirty="0"/>
              <a:t>OOPs – Object Oriented Programming</a:t>
            </a:r>
            <a:endParaRPr lang="en-IN" dirty="0"/>
          </a:p>
        </p:txBody>
      </p:sp>
      <p:sp>
        <p:nvSpPr>
          <p:cNvPr id="3" name="Content Placeholder 2">
            <a:extLst>
              <a:ext uri="{FF2B5EF4-FFF2-40B4-BE49-F238E27FC236}">
                <a16:creationId xmlns:a16="http://schemas.microsoft.com/office/drawing/2014/main" id="{9D3D318B-A79D-4974-B751-6DD55EAA12B4}"/>
              </a:ext>
            </a:extLst>
          </p:cNvPr>
          <p:cNvSpPr>
            <a:spLocks noGrp="1"/>
          </p:cNvSpPr>
          <p:nvPr>
            <p:ph idx="1"/>
          </p:nvPr>
        </p:nvSpPr>
        <p:spPr>
          <a:xfrm>
            <a:off x="677334" y="1388125"/>
            <a:ext cx="8596668" cy="5255046"/>
          </a:xfrm>
        </p:spPr>
        <p:txBody>
          <a:bodyPr>
            <a:normAutofit/>
          </a:bodyPr>
          <a:lstStyle/>
          <a:p>
            <a:pPr marL="539750" indent="0">
              <a:buNone/>
            </a:pPr>
            <a:r>
              <a:rPr lang="en-US" sz="2400" b="1" dirty="0"/>
              <a:t>The following 4 concepts are the features of the OOPs</a:t>
            </a:r>
          </a:p>
          <a:p>
            <a:pPr marL="996950" indent="-457200">
              <a:buFont typeface="+mj-lt"/>
              <a:buAutoNum type="arabicPeriod"/>
            </a:pPr>
            <a:r>
              <a:rPr lang="en-US" sz="2000" b="1" dirty="0"/>
              <a:t>Access Modifier / Access Specifier</a:t>
            </a:r>
          </a:p>
          <a:p>
            <a:pPr marL="996950" indent="-457200">
              <a:buFont typeface="+mj-lt"/>
              <a:buAutoNum type="arabicPeriod"/>
            </a:pPr>
            <a:r>
              <a:rPr lang="en-US" sz="2000" b="1" dirty="0"/>
              <a:t>Class</a:t>
            </a:r>
          </a:p>
          <a:p>
            <a:pPr marL="996950" indent="-457200">
              <a:buFont typeface="+mj-lt"/>
              <a:buAutoNum type="arabicPeriod"/>
            </a:pPr>
            <a:r>
              <a:rPr lang="en-US" sz="2000" b="1" dirty="0"/>
              <a:t>Object</a:t>
            </a:r>
          </a:p>
          <a:p>
            <a:pPr marL="996950" indent="-457200">
              <a:buFont typeface="+mj-lt"/>
              <a:buAutoNum type="arabicPeriod"/>
            </a:pPr>
            <a:r>
              <a:rPr lang="en-US" sz="2000" b="1" dirty="0"/>
              <a:t>Encapsulation</a:t>
            </a:r>
            <a:endParaRPr lang="en-US" sz="1800" b="1" dirty="0"/>
          </a:p>
          <a:p>
            <a:pPr marL="996950" indent="-457200">
              <a:buFont typeface="+mj-lt"/>
              <a:buAutoNum type="arabicPeriod"/>
            </a:pPr>
            <a:r>
              <a:rPr lang="en-US" sz="2000" b="1" dirty="0"/>
              <a:t>Inheritance</a:t>
            </a:r>
          </a:p>
          <a:p>
            <a:pPr marL="996950" indent="-457200">
              <a:buFont typeface="+mj-lt"/>
              <a:buAutoNum type="arabicPeriod"/>
            </a:pPr>
            <a:r>
              <a:rPr lang="en-US" sz="2000" b="1" dirty="0"/>
              <a:t>Polymorphism</a:t>
            </a:r>
          </a:p>
          <a:p>
            <a:pPr marL="996950" indent="-457200">
              <a:buFont typeface="+mj-lt"/>
              <a:buAutoNum type="arabicPeriod"/>
            </a:pPr>
            <a:r>
              <a:rPr lang="en-US" sz="2000" b="1" dirty="0"/>
              <a:t>Abstraction</a:t>
            </a:r>
          </a:p>
          <a:p>
            <a:pPr marL="1397000" lvl="1" indent="-457200">
              <a:buFont typeface="+mj-lt"/>
              <a:buAutoNum type="arabicPeriod"/>
            </a:pPr>
            <a:r>
              <a:rPr lang="en-US" sz="1800" b="1" dirty="0"/>
              <a:t>Abstract Class</a:t>
            </a:r>
          </a:p>
          <a:p>
            <a:pPr marL="1397000" lvl="1" indent="-457200">
              <a:buFont typeface="+mj-lt"/>
              <a:buAutoNum type="arabicPeriod"/>
            </a:pPr>
            <a:r>
              <a:rPr lang="en-US" sz="1800" b="1" dirty="0"/>
              <a:t>Interface</a:t>
            </a:r>
          </a:p>
          <a:p>
            <a:pPr marL="996950" indent="-457200">
              <a:buFont typeface="+mj-lt"/>
              <a:buAutoNum type="arabicPeriod"/>
            </a:pPr>
            <a:endParaRPr lang="en-US" sz="2000" b="1" dirty="0"/>
          </a:p>
          <a:p>
            <a:pPr marL="882650">
              <a:buFont typeface="+mj-lt"/>
              <a:buAutoNum type="arabicPeriod"/>
            </a:pPr>
            <a:endParaRPr lang="en-US" b="1" dirty="0"/>
          </a:p>
          <a:p>
            <a:pPr marL="882650">
              <a:buFont typeface="+mj-lt"/>
              <a:buAutoNum type="arabicPeriod"/>
            </a:pPr>
            <a:endParaRPr lang="en-IN" b="1" dirty="0"/>
          </a:p>
        </p:txBody>
      </p:sp>
    </p:spTree>
    <p:extLst>
      <p:ext uri="{BB962C8B-B14F-4D97-AF65-F5344CB8AC3E}">
        <p14:creationId xmlns:p14="http://schemas.microsoft.com/office/powerpoint/2010/main" val="21469442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lstStyle/>
          <a:p>
            <a:r>
              <a:rPr lang="en-US" dirty="0"/>
              <a:t>OOPs – Object Oriented Programming</a:t>
            </a:r>
            <a:endParaRPr lang="en-IN" dirty="0"/>
          </a:p>
        </p:txBody>
      </p:sp>
      <p:sp>
        <p:nvSpPr>
          <p:cNvPr id="3" name="Content Placeholder 2">
            <a:extLst>
              <a:ext uri="{FF2B5EF4-FFF2-40B4-BE49-F238E27FC236}">
                <a16:creationId xmlns:a16="http://schemas.microsoft.com/office/drawing/2014/main" id="{9D3D318B-A79D-4974-B751-6DD55EAA12B4}"/>
              </a:ext>
            </a:extLst>
          </p:cNvPr>
          <p:cNvSpPr>
            <a:spLocks noGrp="1"/>
          </p:cNvSpPr>
          <p:nvPr>
            <p:ph idx="1"/>
          </p:nvPr>
        </p:nvSpPr>
        <p:spPr>
          <a:xfrm>
            <a:off x="677334" y="1388125"/>
            <a:ext cx="8596668" cy="5255046"/>
          </a:xfrm>
        </p:spPr>
        <p:txBody>
          <a:bodyPr>
            <a:normAutofit/>
          </a:bodyPr>
          <a:lstStyle/>
          <a:p>
            <a:pPr marL="539750" indent="0">
              <a:buNone/>
            </a:pPr>
            <a:r>
              <a:rPr lang="en-US" sz="2000" b="1" dirty="0"/>
              <a:t>The few other concepts of the OOPs</a:t>
            </a:r>
          </a:p>
          <a:p>
            <a:pPr marL="996950" indent="-457200">
              <a:buFont typeface="+mj-lt"/>
              <a:buAutoNum type="arabicPeriod"/>
            </a:pPr>
            <a:r>
              <a:rPr lang="en-US" sz="2000" b="1" dirty="0"/>
              <a:t>Constructor</a:t>
            </a:r>
          </a:p>
          <a:p>
            <a:pPr marL="996950" indent="-457200">
              <a:buFont typeface="+mj-lt"/>
              <a:buAutoNum type="arabicPeriod"/>
            </a:pPr>
            <a:r>
              <a:rPr lang="en-US" sz="2000" b="1" dirty="0"/>
              <a:t>Package</a:t>
            </a:r>
          </a:p>
          <a:p>
            <a:pPr marL="996950" indent="-457200">
              <a:buFont typeface="+mj-lt"/>
              <a:buAutoNum type="arabicPeriod"/>
            </a:pPr>
            <a:r>
              <a:rPr lang="en-US" sz="2000" b="1" dirty="0"/>
              <a:t>static</a:t>
            </a:r>
          </a:p>
          <a:p>
            <a:pPr marL="996950" indent="-457200">
              <a:buFont typeface="+mj-lt"/>
              <a:buAutoNum type="arabicPeriod"/>
            </a:pPr>
            <a:r>
              <a:rPr lang="en-US" sz="2000" b="1" dirty="0"/>
              <a:t>final</a:t>
            </a:r>
          </a:p>
          <a:p>
            <a:pPr marL="996950" indent="-457200">
              <a:buFont typeface="+mj-lt"/>
              <a:buAutoNum type="arabicPeriod"/>
            </a:pPr>
            <a:r>
              <a:rPr lang="en-US" sz="2000" b="1" dirty="0"/>
              <a:t>this keyword</a:t>
            </a:r>
          </a:p>
          <a:p>
            <a:pPr marL="996950" indent="-457200">
              <a:buFont typeface="+mj-lt"/>
              <a:buAutoNum type="arabicPeriod"/>
            </a:pPr>
            <a:r>
              <a:rPr lang="en-US" sz="2000" b="1" dirty="0"/>
              <a:t>super</a:t>
            </a:r>
          </a:p>
          <a:p>
            <a:pPr marL="882650">
              <a:buFont typeface="+mj-lt"/>
              <a:buAutoNum type="arabicPeriod"/>
            </a:pPr>
            <a:endParaRPr lang="en-IN" sz="2000" b="1" dirty="0"/>
          </a:p>
        </p:txBody>
      </p:sp>
    </p:spTree>
    <p:extLst>
      <p:ext uri="{BB962C8B-B14F-4D97-AF65-F5344CB8AC3E}">
        <p14:creationId xmlns:p14="http://schemas.microsoft.com/office/powerpoint/2010/main" val="5058394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38480"/>
            <a:ext cx="8596668" cy="718457"/>
          </a:xfrm>
        </p:spPr>
        <p:txBody>
          <a:bodyPr/>
          <a:lstStyle/>
          <a:p>
            <a:r>
              <a:rPr lang="en-US" dirty="0"/>
              <a:t>Access Modifiers / Access Specifiers</a:t>
            </a:r>
            <a:endParaRPr lang="en-IN" dirty="0"/>
          </a:p>
        </p:txBody>
      </p:sp>
      <p:sp>
        <p:nvSpPr>
          <p:cNvPr id="3" name="Content Placeholder 2">
            <a:extLst>
              <a:ext uri="{FF2B5EF4-FFF2-40B4-BE49-F238E27FC236}">
                <a16:creationId xmlns:a16="http://schemas.microsoft.com/office/drawing/2014/main" id="{4A3A655C-6AEB-2F61-4E9A-BBA9C86FC214}"/>
              </a:ext>
            </a:extLst>
          </p:cNvPr>
          <p:cNvSpPr>
            <a:spLocks noGrp="1"/>
          </p:cNvSpPr>
          <p:nvPr>
            <p:ph idx="1"/>
          </p:nvPr>
        </p:nvSpPr>
        <p:spPr/>
        <p:txBody>
          <a:bodyPr/>
          <a:lstStyle/>
          <a:p>
            <a:endParaRPr lang="en-IN"/>
          </a:p>
        </p:txBody>
      </p:sp>
      <p:pic>
        <p:nvPicPr>
          <p:cNvPr id="1026" name="Picture 2" descr="What are Access Modifiers in Java? - UseMyNotes">
            <a:extLst>
              <a:ext uri="{FF2B5EF4-FFF2-40B4-BE49-F238E27FC236}">
                <a16:creationId xmlns:a16="http://schemas.microsoft.com/office/drawing/2014/main" id="{CF089B14-0D6E-8552-660A-E315BA0338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280" y="1328057"/>
            <a:ext cx="11277600" cy="50857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00294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9DEAF-016B-248E-78FD-61309B047B7E}"/>
              </a:ext>
            </a:extLst>
          </p:cNvPr>
          <p:cNvSpPr>
            <a:spLocks noGrp="1"/>
          </p:cNvSpPr>
          <p:nvPr>
            <p:ph type="ctrTitle"/>
          </p:nvPr>
        </p:nvSpPr>
        <p:spPr>
          <a:xfrm>
            <a:off x="1507067" y="179494"/>
            <a:ext cx="7766936" cy="806026"/>
          </a:xfrm>
        </p:spPr>
        <p:txBody>
          <a:bodyPr/>
          <a:lstStyle/>
          <a:p>
            <a:endParaRPr lang="en-IN" dirty="0"/>
          </a:p>
        </p:txBody>
      </p:sp>
      <p:graphicFrame>
        <p:nvGraphicFramePr>
          <p:cNvPr id="9" name="Table 8">
            <a:extLst>
              <a:ext uri="{FF2B5EF4-FFF2-40B4-BE49-F238E27FC236}">
                <a16:creationId xmlns:a16="http://schemas.microsoft.com/office/drawing/2014/main" id="{CAE225A0-BCC7-319C-4931-B8430ABDA056}"/>
              </a:ext>
            </a:extLst>
          </p:cNvPr>
          <p:cNvGraphicFramePr>
            <a:graphicFrameLocks noGrp="1"/>
          </p:cNvGraphicFramePr>
          <p:nvPr>
            <p:extLst>
              <p:ext uri="{D42A27DB-BD31-4B8C-83A1-F6EECF244321}">
                <p14:modId xmlns:p14="http://schemas.microsoft.com/office/powerpoint/2010/main" val="4259551324"/>
              </p:ext>
            </p:extLst>
          </p:nvPr>
        </p:nvGraphicFramePr>
        <p:xfrm>
          <a:off x="648445" y="1300480"/>
          <a:ext cx="9484180" cy="4978400"/>
        </p:xfrm>
        <a:graphic>
          <a:graphicData uri="http://schemas.openxmlformats.org/drawingml/2006/table">
            <a:tbl>
              <a:tblPr firstRow="1" firstCol="1" bandRow="1">
                <a:tableStyleId>{5C22544A-7EE6-4342-B048-85BDC9FD1C3A}</a:tableStyleId>
              </a:tblPr>
              <a:tblGrid>
                <a:gridCol w="2145555">
                  <a:extLst>
                    <a:ext uri="{9D8B030D-6E8A-4147-A177-3AD203B41FA5}">
                      <a16:colId xmlns:a16="http://schemas.microsoft.com/office/drawing/2014/main" val="3406258795"/>
                    </a:ext>
                  </a:extLst>
                </a:gridCol>
                <a:gridCol w="1920240">
                  <a:extLst>
                    <a:ext uri="{9D8B030D-6E8A-4147-A177-3AD203B41FA5}">
                      <a16:colId xmlns:a16="http://schemas.microsoft.com/office/drawing/2014/main" val="2603344970"/>
                    </a:ext>
                  </a:extLst>
                </a:gridCol>
                <a:gridCol w="1624713">
                  <a:extLst>
                    <a:ext uri="{9D8B030D-6E8A-4147-A177-3AD203B41FA5}">
                      <a16:colId xmlns:a16="http://schemas.microsoft.com/office/drawing/2014/main" val="494407658"/>
                    </a:ext>
                  </a:extLst>
                </a:gridCol>
                <a:gridCol w="1896836">
                  <a:extLst>
                    <a:ext uri="{9D8B030D-6E8A-4147-A177-3AD203B41FA5}">
                      <a16:colId xmlns:a16="http://schemas.microsoft.com/office/drawing/2014/main" val="2860994113"/>
                    </a:ext>
                  </a:extLst>
                </a:gridCol>
                <a:gridCol w="1896836">
                  <a:extLst>
                    <a:ext uri="{9D8B030D-6E8A-4147-A177-3AD203B41FA5}">
                      <a16:colId xmlns:a16="http://schemas.microsoft.com/office/drawing/2014/main" val="449707043"/>
                    </a:ext>
                  </a:extLst>
                </a:gridCol>
              </a:tblGrid>
              <a:tr h="995680">
                <a:tc>
                  <a:txBody>
                    <a:bodyPr/>
                    <a:lstStyle/>
                    <a:p>
                      <a:pPr algn="ctr">
                        <a:lnSpc>
                          <a:spcPct val="107000"/>
                        </a:lnSpc>
                        <a:spcAft>
                          <a:spcPts val="600"/>
                        </a:spcAft>
                        <a:buNone/>
                      </a:pPr>
                      <a:r>
                        <a:rPr lang="en-IN" sz="2400" b="1">
                          <a:effectLst/>
                        </a:rPr>
                        <a:t>Variable Type</a:t>
                      </a:r>
                      <a:endParaRPr lang="en-IN" sz="2400" b="1">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600"/>
                        </a:spcAft>
                        <a:buNone/>
                      </a:pPr>
                      <a:r>
                        <a:rPr lang="en-IN" sz="2400" b="1">
                          <a:effectLst/>
                        </a:rPr>
                        <a:t>Declared In</a:t>
                      </a:r>
                      <a:endParaRPr lang="en-IN" sz="2400" b="1">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600"/>
                        </a:spcAft>
                        <a:buNone/>
                      </a:pPr>
                      <a:r>
                        <a:rPr lang="en-IN" sz="2400" b="1" dirty="0">
                          <a:effectLst/>
                        </a:rPr>
                        <a:t>Scope</a:t>
                      </a:r>
                      <a:endParaRPr lang="en-IN" sz="2400" b="1"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600"/>
                        </a:spcAft>
                        <a:buNone/>
                      </a:pPr>
                      <a:r>
                        <a:rPr lang="en-IN" sz="2400" b="1">
                          <a:effectLst/>
                        </a:rPr>
                        <a:t>Stored In</a:t>
                      </a:r>
                      <a:endParaRPr lang="en-IN" sz="2400" b="1">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600"/>
                        </a:spcAft>
                        <a:buNone/>
                      </a:pPr>
                      <a:r>
                        <a:rPr lang="en-IN" sz="2400" b="1" dirty="0">
                          <a:effectLst/>
                        </a:rPr>
                        <a:t>Default Value</a:t>
                      </a:r>
                      <a:endParaRPr lang="en-IN" sz="2400" b="1"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17059468"/>
                  </a:ext>
                </a:extLst>
              </a:tr>
              <a:tr h="995680">
                <a:tc>
                  <a:txBody>
                    <a:bodyPr/>
                    <a:lstStyle/>
                    <a:p>
                      <a:pPr>
                        <a:lnSpc>
                          <a:spcPct val="107000"/>
                        </a:lnSpc>
                        <a:spcAft>
                          <a:spcPts val="600"/>
                        </a:spcAft>
                        <a:buNone/>
                      </a:pPr>
                      <a:r>
                        <a:rPr lang="en-IN" sz="2400" dirty="0">
                          <a:effectLst/>
                        </a:rPr>
                        <a:t>Local</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600"/>
                        </a:spcAft>
                        <a:buNone/>
                      </a:pPr>
                      <a:r>
                        <a:rPr lang="en-IN" sz="2000" dirty="0">
                          <a:effectLst/>
                        </a:rPr>
                        <a:t>Inside method</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600"/>
                        </a:spcAft>
                        <a:buNone/>
                      </a:pPr>
                      <a:r>
                        <a:rPr lang="en-IN" sz="2000">
                          <a:effectLst/>
                        </a:rPr>
                        <a:t>Method/block only</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600"/>
                        </a:spcAft>
                        <a:buNone/>
                      </a:pPr>
                      <a:r>
                        <a:rPr lang="en-IN" sz="2000">
                          <a:effectLst/>
                        </a:rPr>
                        <a:t>Stack</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600"/>
                        </a:spcAft>
                        <a:buNone/>
                      </a:pPr>
                      <a:r>
                        <a:rPr lang="en-IN" sz="2000">
                          <a:effectLst/>
                        </a:rPr>
                        <a:t>None (must init)</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53257456"/>
                  </a:ext>
                </a:extLst>
              </a:tr>
              <a:tr h="995680">
                <a:tc>
                  <a:txBody>
                    <a:bodyPr/>
                    <a:lstStyle/>
                    <a:p>
                      <a:pPr>
                        <a:lnSpc>
                          <a:spcPct val="107000"/>
                        </a:lnSpc>
                        <a:spcAft>
                          <a:spcPts val="600"/>
                        </a:spcAft>
                        <a:buNone/>
                      </a:pPr>
                      <a:r>
                        <a:rPr lang="en-IN" sz="2400" dirty="0">
                          <a:effectLst/>
                        </a:rPr>
                        <a:t>Instance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600"/>
                        </a:spcAft>
                        <a:buNone/>
                      </a:pPr>
                      <a:r>
                        <a:rPr lang="en-IN" sz="2000">
                          <a:effectLst/>
                        </a:rPr>
                        <a:t>Inside class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600"/>
                        </a:spcAft>
                        <a:buNone/>
                      </a:pPr>
                      <a:r>
                        <a:rPr lang="en-IN" sz="2000">
                          <a:effectLst/>
                        </a:rPr>
                        <a:t>Whole object</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600"/>
                        </a:spcAft>
                        <a:buNone/>
                      </a:pPr>
                      <a:r>
                        <a:rPr lang="en-IN" sz="2000">
                          <a:effectLst/>
                        </a:rPr>
                        <a:t>Heap</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600"/>
                        </a:spcAft>
                        <a:buNone/>
                      </a:pPr>
                      <a:r>
                        <a:rPr lang="en-IN" sz="2000">
                          <a:effectLst/>
                        </a:rPr>
                        <a:t>Yes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41357761"/>
                  </a:ext>
                </a:extLst>
              </a:tr>
              <a:tr h="995680">
                <a:tc>
                  <a:txBody>
                    <a:bodyPr/>
                    <a:lstStyle/>
                    <a:p>
                      <a:pPr>
                        <a:lnSpc>
                          <a:spcPct val="107000"/>
                        </a:lnSpc>
                        <a:spcAft>
                          <a:spcPts val="600"/>
                        </a:spcAft>
                        <a:buNone/>
                      </a:pPr>
                      <a:r>
                        <a:rPr lang="en-IN" sz="2400" dirty="0">
                          <a:effectLst/>
                        </a:rPr>
                        <a:t>Static</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600"/>
                        </a:spcAft>
                        <a:buNone/>
                      </a:pPr>
                      <a:r>
                        <a:rPr lang="en-IN" sz="2000">
                          <a:effectLst/>
                        </a:rPr>
                        <a:t>Inside class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600"/>
                        </a:spcAft>
                        <a:buNone/>
                      </a:pPr>
                      <a:r>
                        <a:rPr lang="en-IN" sz="2000">
                          <a:effectLst/>
                        </a:rPr>
                        <a:t>Entire class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600"/>
                        </a:spcAft>
                        <a:buNone/>
                      </a:pPr>
                      <a:r>
                        <a:rPr lang="en-IN" sz="2000">
                          <a:effectLst/>
                        </a:rPr>
                        <a:t>Method area</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600"/>
                        </a:spcAft>
                        <a:buNone/>
                      </a:pPr>
                      <a:r>
                        <a:rPr lang="en-IN" sz="2000">
                          <a:effectLst/>
                        </a:rPr>
                        <a:t>Yes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55178052"/>
                  </a:ext>
                </a:extLst>
              </a:tr>
              <a:tr h="995680">
                <a:tc>
                  <a:txBody>
                    <a:bodyPr/>
                    <a:lstStyle/>
                    <a:p>
                      <a:pPr>
                        <a:lnSpc>
                          <a:spcPct val="107000"/>
                        </a:lnSpc>
                        <a:spcAft>
                          <a:spcPts val="600"/>
                        </a:spcAft>
                        <a:buNone/>
                      </a:pPr>
                      <a:r>
                        <a:rPr lang="en-IN" sz="2400" dirty="0">
                          <a:effectLst/>
                        </a:rPr>
                        <a:t>Parameter</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600"/>
                        </a:spcAft>
                        <a:buNone/>
                      </a:pPr>
                      <a:r>
                        <a:rPr lang="en-IN" sz="2000">
                          <a:effectLst/>
                        </a:rPr>
                        <a:t>Method signature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600"/>
                        </a:spcAft>
                        <a:buNone/>
                      </a:pPr>
                      <a:r>
                        <a:rPr lang="en-IN" sz="2000">
                          <a:effectLst/>
                        </a:rPr>
                        <a:t>Method/block only</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600"/>
                        </a:spcAft>
                        <a:buNone/>
                      </a:pPr>
                      <a:r>
                        <a:rPr lang="en-IN" sz="2000">
                          <a:effectLst/>
                        </a:rPr>
                        <a:t>Stack</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600"/>
                        </a:spcAft>
                        <a:buNone/>
                      </a:pPr>
                      <a:r>
                        <a:rPr lang="en-IN" sz="2000" dirty="0">
                          <a:effectLst/>
                        </a:rPr>
                        <a:t>Must be passed</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81632364"/>
                  </a:ext>
                </a:extLst>
              </a:tr>
            </a:tbl>
          </a:graphicData>
        </a:graphic>
      </p:graphicFrame>
      <p:sp>
        <p:nvSpPr>
          <p:cNvPr id="10" name="Rectangle 1">
            <a:extLst>
              <a:ext uri="{FF2B5EF4-FFF2-40B4-BE49-F238E27FC236}">
                <a16:creationId xmlns:a16="http://schemas.microsoft.com/office/drawing/2014/main" id="{34886CE2-8B50-D73E-0B40-28E1843A51F4}"/>
              </a:ext>
            </a:extLst>
          </p:cNvPr>
          <p:cNvSpPr>
            <a:spLocks noChangeArrowheads="1"/>
          </p:cNvSpPr>
          <p:nvPr/>
        </p:nvSpPr>
        <p:spPr bwMode="auto">
          <a:xfrm>
            <a:off x="677863" y="35480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6547992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lstStyle/>
          <a:p>
            <a:r>
              <a:rPr lang="en-US" dirty="0"/>
              <a:t>OOPs – Object Oriented Programming</a:t>
            </a:r>
            <a:endParaRPr lang="en-IN" dirty="0"/>
          </a:p>
        </p:txBody>
      </p:sp>
      <p:sp>
        <p:nvSpPr>
          <p:cNvPr id="3" name="Content Placeholder 2">
            <a:extLst>
              <a:ext uri="{FF2B5EF4-FFF2-40B4-BE49-F238E27FC236}">
                <a16:creationId xmlns:a16="http://schemas.microsoft.com/office/drawing/2014/main" id="{9D3D318B-A79D-4974-B751-6DD55EAA12B4}"/>
              </a:ext>
            </a:extLst>
          </p:cNvPr>
          <p:cNvSpPr>
            <a:spLocks noGrp="1"/>
          </p:cNvSpPr>
          <p:nvPr>
            <p:ph idx="1"/>
          </p:nvPr>
        </p:nvSpPr>
        <p:spPr>
          <a:xfrm>
            <a:off x="677334" y="1388125"/>
            <a:ext cx="8596668" cy="5255046"/>
          </a:xfrm>
        </p:spPr>
        <p:txBody>
          <a:bodyPr>
            <a:normAutofit/>
          </a:bodyPr>
          <a:lstStyle/>
          <a:p>
            <a:pPr marL="539750" indent="0">
              <a:buNone/>
            </a:pPr>
            <a:r>
              <a:rPr lang="en-US" sz="2400" b="1" dirty="0"/>
              <a:t>The following 4 concepts are the features of the OOPs</a:t>
            </a:r>
          </a:p>
          <a:p>
            <a:pPr marL="996950" indent="-457200">
              <a:buFont typeface="+mj-lt"/>
              <a:buAutoNum type="arabicPeriod"/>
            </a:pPr>
            <a:r>
              <a:rPr lang="en-US" sz="2000" b="1" dirty="0"/>
              <a:t>Abstraction</a:t>
            </a:r>
          </a:p>
          <a:p>
            <a:pPr marL="996950" indent="-457200">
              <a:buFont typeface="+mj-lt"/>
              <a:buAutoNum type="arabicPeriod"/>
            </a:pPr>
            <a:r>
              <a:rPr lang="en-US" sz="2000" b="1" dirty="0"/>
              <a:t>Encapsulation</a:t>
            </a:r>
          </a:p>
          <a:p>
            <a:pPr marL="939800" lvl="1" indent="0">
              <a:buNone/>
            </a:pPr>
            <a:r>
              <a:rPr lang="en-US" sz="1800" b="1" dirty="0"/>
              <a:t>	Binding the data member and member functionality into single unit is called </a:t>
            </a:r>
          </a:p>
          <a:p>
            <a:pPr marL="996950" indent="-457200">
              <a:buFont typeface="+mj-lt"/>
              <a:buAutoNum type="arabicPeriod"/>
            </a:pPr>
            <a:r>
              <a:rPr lang="en-US" sz="2000" b="1" dirty="0"/>
              <a:t>Inheritance</a:t>
            </a:r>
          </a:p>
          <a:p>
            <a:pPr marL="939800" lvl="1" indent="0">
              <a:buNone/>
            </a:pPr>
            <a:r>
              <a:rPr lang="en-US" sz="1800" b="1" dirty="0"/>
              <a:t>	Deriving the properties from one class to anther class</a:t>
            </a:r>
          </a:p>
          <a:p>
            <a:pPr marL="996950" indent="-457200">
              <a:buFont typeface="+mj-lt"/>
              <a:buAutoNum type="arabicPeriod"/>
            </a:pPr>
            <a:r>
              <a:rPr lang="en-US" sz="2000" b="1" dirty="0"/>
              <a:t>Polymorphism</a:t>
            </a:r>
          </a:p>
          <a:p>
            <a:pPr marL="939800" lvl="1" indent="0">
              <a:buNone/>
            </a:pPr>
            <a:r>
              <a:rPr lang="en-US" sz="1800" b="1" dirty="0"/>
              <a:t>	Performing many actions with one name</a:t>
            </a:r>
          </a:p>
          <a:p>
            <a:pPr marL="939800" lvl="1" indent="0">
              <a:buNone/>
            </a:pPr>
            <a:r>
              <a:rPr lang="en-US" sz="1800" b="1" dirty="0"/>
              <a:t>	1. Method Overloading</a:t>
            </a:r>
          </a:p>
          <a:p>
            <a:pPr marL="939800" lvl="1" indent="0">
              <a:buNone/>
            </a:pPr>
            <a:r>
              <a:rPr lang="en-US" sz="1800" b="1" dirty="0"/>
              <a:t>	2. Method Overriding</a:t>
            </a:r>
          </a:p>
          <a:p>
            <a:pPr marL="882650">
              <a:buFont typeface="+mj-lt"/>
              <a:buAutoNum type="arabicPeriod"/>
            </a:pPr>
            <a:endParaRPr lang="en-US" b="1" dirty="0"/>
          </a:p>
          <a:p>
            <a:pPr marL="882650">
              <a:buFont typeface="+mj-lt"/>
              <a:buAutoNum type="arabicPeriod"/>
            </a:pPr>
            <a:endParaRPr lang="en-IN" b="1" dirty="0"/>
          </a:p>
        </p:txBody>
      </p:sp>
    </p:spTree>
    <p:extLst>
      <p:ext uri="{BB962C8B-B14F-4D97-AF65-F5344CB8AC3E}">
        <p14:creationId xmlns:p14="http://schemas.microsoft.com/office/powerpoint/2010/main" val="13007461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lstStyle/>
          <a:p>
            <a:r>
              <a:rPr lang="en-US" dirty="0"/>
              <a:t>Abstract Class and Interface</a:t>
            </a:r>
            <a:endParaRPr lang="en-IN" dirty="0"/>
          </a:p>
        </p:txBody>
      </p:sp>
      <p:sp>
        <p:nvSpPr>
          <p:cNvPr id="3" name="Content Placeholder 2">
            <a:extLst>
              <a:ext uri="{FF2B5EF4-FFF2-40B4-BE49-F238E27FC236}">
                <a16:creationId xmlns:a16="http://schemas.microsoft.com/office/drawing/2014/main" id="{9D3D318B-A79D-4974-B751-6DD55EAA12B4}"/>
              </a:ext>
            </a:extLst>
          </p:cNvPr>
          <p:cNvSpPr>
            <a:spLocks noGrp="1"/>
          </p:cNvSpPr>
          <p:nvPr>
            <p:ph idx="1"/>
          </p:nvPr>
        </p:nvSpPr>
        <p:spPr>
          <a:xfrm>
            <a:off x="677334" y="1388125"/>
            <a:ext cx="8596668" cy="5255046"/>
          </a:xfrm>
        </p:spPr>
        <p:txBody>
          <a:bodyPr>
            <a:normAutofit/>
          </a:bodyPr>
          <a:lstStyle/>
          <a:p>
            <a:pPr marL="539750" indent="0">
              <a:buNone/>
            </a:pPr>
            <a:endParaRPr lang="en-US" sz="2400" b="1" dirty="0"/>
          </a:p>
          <a:p>
            <a:pPr marL="539750" indent="0">
              <a:buNone/>
            </a:pPr>
            <a:r>
              <a:rPr lang="en-US" sz="2800" b="1" dirty="0"/>
              <a:t>Data Abstraction</a:t>
            </a:r>
          </a:p>
          <a:p>
            <a:pPr marL="882650">
              <a:buFont typeface="+mj-lt"/>
              <a:buAutoNum type="arabicPeriod"/>
            </a:pPr>
            <a:r>
              <a:rPr lang="en-US" sz="2000" b="1" dirty="0"/>
              <a:t>Abstract Class – Partial Abstraction ( 0 -100%)</a:t>
            </a:r>
          </a:p>
          <a:p>
            <a:pPr marL="882650">
              <a:buFont typeface="+mj-lt"/>
              <a:buAutoNum type="arabicPeriod"/>
            </a:pPr>
            <a:r>
              <a:rPr lang="en-US" sz="2000" b="1" dirty="0"/>
              <a:t>Interface – Full Abstraction ( 100%)</a:t>
            </a:r>
          </a:p>
          <a:p>
            <a:pPr marL="882650">
              <a:buFont typeface="+mj-lt"/>
              <a:buAutoNum type="arabicPeriod"/>
            </a:pPr>
            <a:endParaRPr lang="en-US" b="1" dirty="0"/>
          </a:p>
          <a:p>
            <a:pPr marL="882650">
              <a:buFont typeface="+mj-lt"/>
              <a:buAutoNum type="arabicPeriod"/>
            </a:pPr>
            <a:endParaRPr lang="en-IN" b="1" dirty="0"/>
          </a:p>
        </p:txBody>
      </p:sp>
    </p:spTree>
    <p:extLst>
      <p:ext uri="{BB962C8B-B14F-4D97-AF65-F5344CB8AC3E}">
        <p14:creationId xmlns:p14="http://schemas.microsoft.com/office/powerpoint/2010/main" val="13869852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lstStyle/>
          <a:p>
            <a:r>
              <a:rPr lang="en-US" dirty="0"/>
              <a:t>Abstract Class</a:t>
            </a:r>
            <a:endParaRPr lang="en-IN" dirty="0"/>
          </a:p>
        </p:txBody>
      </p:sp>
      <p:sp>
        <p:nvSpPr>
          <p:cNvPr id="3" name="Content Placeholder 2">
            <a:extLst>
              <a:ext uri="{FF2B5EF4-FFF2-40B4-BE49-F238E27FC236}">
                <a16:creationId xmlns:a16="http://schemas.microsoft.com/office/drawing/2014/main" id="{9D3D318B-A79D-4974-B751-6DD55EAA12B4}"/>
              </a:ext>
            </a:extLst>
          </p:cNvPr>
          <p:cNvSpPr>
            <a:spLocks noGrp="1"/>
          </p:cNvSpPr>
          <p:nvPr>
            <p:ph idx="1"/>
          </p:nvPr>
        </p:nvSpPr>
        <p:spPr>
          <a:xfrm>
            <a:off x="677334" y="1388125"/>
            <a:ext cx="8596668" cy="5255046"/>
          </a:xfrm>
        </p:spPr>
        <p:txBody>
          <a:bodyPr>
            <a:normAutofit/>
          </a:bodyPr>
          <a:lstStyle/>
          <a:p>
            <a:pPr marL="882650">
              <a:buFont typeface="+mj-lt"/>
              <a:buAutoNum type="arabicPeriod" startAt="2"/>
            </a:pPr>
            <a:endParaRPr lang="en-US" b="1" dirty="0"/>
          </a:p>
          <a:p>
            <a:pPr marL="539750" indent="0">
              <a:buNone/>
            </a:pPr>
            <a:endParaRPr lang="en-IN" b="1" dirty="0"/>
          </a:p>
        </p:txBody>
      </p:sp>
      <p:pic>
        <p:nvPicPr>
          <p:cNvPr id="5" name="Picture 4">
            <a:extLst>
              <a:ext uri="{FF2B5EF4-FFF2-40B4-BE49-F238E27FC236}">
                <a16:creationId xmlns:a16="http://schemas.microsoft.com/office/drawing/2014/main" id="{53C3C9D7-00D0-8DB3-E7DD-61C4DDF00F04}"/>
              </a:ext>
            </a:extLst>
          </p:cNvPr>
          <p:cNvPicPr>
            <a:picLocks noChangeAspect="1"/>
          </p:cNvPicPr>
          <p:nvPr/>
        </p:nvPicPr>
        <p:blipFill>
          <a:blip r:embed="rId2"/>
          <a:stretch>
            <a:fillRect/>
          </a:stretch>
        </p:blipFill>
        <p:spPr>
          <a:xfrm>
            <a:off x="1285893" y="1230408"/>
            <a:ext cx="7988109" cy="5680570"/>
          </a:xfrm>
          <a:prstGeom prst="rect">
            <a:avLst/>
          </a:prstGeom>
        </p:spPr>
      </p:pic>
    </p:spTree>
    <p:extLst>
      <p:ext uri="{BB962C8B-B14F-4D97-AF65-F5344CB8AC3E}">
        <p14:creationId xmlns:p14="http://schemas.microsoft.com/office/powerpoint/2010/main" val="30621691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lstStyle/>
          <a:p>
            <a:r>
              <a:rPr lang="en-US" dirty="0"/>
              <a:t>Interface</a:t>
            </a:r>
            <a:endParaRPr lang="en-IN" dirty="0"/>
          </a:p>
        </p:txBody>
      </p:sp>
      <p:sp>
        <p:nvSpPr>
          <p:cNvPr id="3" name="Content Placeholder 2">
            <a:extLst>
              <a:ext uri="{FF2B5EF4-FFF2-40B4-BE49-F238E27FC236}">
                <a16:creationId xmlns:a16="http://schemas.microsoft.com/office/drawing/2014/main" id="{9D3D318B-A79D-4974-B751-6DD55EAA12B4}"/>
              </a:ext>
            </a:extLst>
          </p:cNvPr>
          <p:cNvSpPr>
            <a:spLocks noGrp="1"/>
          </p:cNvSpPr>
          <p:nvPr>
            <p:ph idx="1"/>
          </p:nvPr>
        </p:nvSpPr>
        <p:spPr>
          <a:xfrm>
            <a:off x="677334" y="1388125"/>
            <a:ext cx="8596668" cy="5255046"/>
          </a:xfrm>
        </p:spPr>
        <p:txBody>
          <a:bodyPr>
            <a:normAutofit/>
          </a:bodyPr>
          <a:lstStyle/>
          <a:p>
            <a:pPr marL="539750" indent="0">
              <a:buNone/>
            </a:pPr>
            <a:r>
              <a:rPr lang="en-US" b="1" dirty="0"/>
              <a:t>What is Interface?</a:t>
            </a:r>
          </a:p>
          <a:p>
            <a:pPr marL="539750" indent="0">
              <a:buNone/>
            </a:pPr>
            <a:endParaRPr lang="en-US" b="1" dirty="0"/>
          </a:p>
          <a:p>
            <a:pPr marL="539750" indent="0">
              <a:buNone/>
            </a:pPr>
            <a:r>
              <a:rPr lang="en-US" b="1" dirty="0"/>
              <a:t>It is contains variable and only abstract methods.</a:t>
            </a:r>
          </a:p>
          <a:p>
            <a:pPr marL="539750" indent="0">
              <a:buNone/>
            </a:pPr>
            <a:endParaRPr lang="en-US" b="1" dirty="0"/>
          </a:p>
          <a:p>
            <a:pPr marL="0" indent="0" algn="l">
              <a:buNone/>
            </a:pPr>
            <a:r>
              <a:rPr lang="en-IN" sz="1800" b="1" dirty="0">
                <a:solidFill>
                  <a:srgbClr val="7F0055"/>
                </a:solidFill>
                <a:latin typeface="Consolas" panose="020B0609020204030204" pitchFamily="49" charset="0"/>
              </a:rPr>
              <a:t>public</a:t>
            </a:r>
            <a:r>
              <a:rPr lang="en-IN" sz="1800" b="1" dirty="0">
                <a:solidFill>
                  <a:srgbClr val="000000"/>
                </a:solidFill>
                <a:latin typeface="Consolas" panose="020B0609020204030204" pitchFamily="49" charset="0"/>
              </a:rPr>
              <a:t> </a:t>
            </a:r>
            <a:r>
              <a:rPr lang="en-IN" sz="1800" b="1" dirty="0">
                <a:solidFill>
                  <a:srgbClr val="7F0055"/>
                </a:solidFill>
                <a:latin typeface="Consolas" panose="020B0609020204030204" pitchFamily="49" charset="0"/>
              </a:rPr>
              <a:t>interface</a:t>
            </a:r>
            <a:r>
              <a:rPr lang="en-IN" sz="1800" b="1" dirty="0">
                <a:solidFill>
                  <a:srgbClr val="000000"/>
                </a:solidFill>
                <a:latin typeface="Consolas" panose="020B0609020204030204" pitchFamily="49" charset="0"/>
              </a:rPr>
              <a:t> </a:t>
            </a:r>
            <a:r>
              <a:rPr lang="en-IN" sz="1800" b="1" dirty="0" err="1">
                <a:solidFill>
                  <a:srgbClr val="000000"/>
                </a:solidFill>
                <a:latin typeface="Consolas" panose="020B0609020204030204" pitchFamily="49" charset="0"/>
              </a:rPr>
              <a:t>Employeeable</a:t>
            </a:r>
            <a:r>
              <a:rPr lang="en-IN" sz="1800" b="1" dirty="0">
                <a:solidFill>
                  <a:srgbClr val="000000"/>
                </a:solidFill>
                <a:latin typeface="Consolas" panose="020B0609020204030204" pitchFamily="49" charset="0"/>
              </a:rPr>
              <a:t> {</a:t>
            </a:r>
          </a:p>
          <a:p>
            <a:pPr marL="0" indent="0" algn="l">
              <a:buNone/>
            </a:pPr>
            <a:r>
              <a:rPr lang="en-IN" sz="1800" b="1" dirty="0">
                <a:solidFill>
                  <a:srgbClr val="000000"/>
                </a:solidFill>
                <a:latin typeface="Consolas" panose="020B0609020204030204" pitchFamily="49" charset="0"/>
              </a:rPr>
              <a:t>String </a:t>
            </a:r>
            <a:r>
              <a:rPr lang="en-IN" sz="1800" b="1" i="1" dirty="0" err="1">
                <a:solidFill>
                  <a:srgbClr val="0000C0"/>
                </a:solidFill>
                <a:latin typeface="Consolas" panose="020B0609020204030204" pitchFamily="49" charset="0"/>
              </a:rPr>
              <a:t>empName</a:t>
            </a:r>
            <a:r>
              <a:rPr lang="en-IN" sz="1800" b="1" i="1" dirty="0">
                <a:solidFill>
                  <a:srgbClr val="000000"/>
                </a:solidFill>
                <a:latin typeface="Consolas" panose="020B0609020204030204" pitchFamily="49" charset="0"/>
              </a:rPr>
              <a:t>=</a:t>
            </a:r>
            <a:r>
              <a:rPr lang="en-IN" sz="1800" b="1" i="1" dirty="0">
                <a:solidFill>
                  <a:srgbClr val="2A00FF"/>
                </a:solidFill>
                <a:latin typeface="Consolas" panose="020B0609020204030204" pitchFamily="49" charset="0"/>
              </a:rPr>
              <a:t>"Senthil"</a:t>
            </a:r>
            <a:r>
              <a:rPr lang="en-IN" sz="1800" b="1" i="1" dirty="0">
                <a:solidFill>
                  <a:srgbClr val="000000"/>
                </a:solidFill>
                <a:latin typeface="Consolas" panose="020B0609020204030204" pitchFamily="49" charset="0"/>
              </a:rPr>
              <a:t>;</a:t>
            </a:r>
          </a:p>
          <a:p>
            <a:pPr marL="0" indent="0" algn="l">
              <a:buNone/>
            </a:pPr>
            <a:r>
              <a:rPr lang="en-IN" sz="1800" b="1" dirty="0">
                <a:solidFill>
                  <a:srgbClr val="7F0055"/>
                </a:solidFill>
                <a:latin typeface="Consolas" panose="020B0609020204030204" pitchFamily="49" charset="0"/>
              </a:rPr>
              <a:t>void</a:t>
            </a:r>
            <a:r>
              <a:rPr lang="en-IN" sz="1800" b="1" dirty="0">
                <a:solidFill>
                  <a:srgbClr val="000000"/>
                </a:solidFill>
                <a:latin typeface="Consolas" panose="020B0609020204030204" pitchFamily="49" charset="0"/>
              </a:rPr>
              <a:t> </a:t>
            </a:r>
            <a:r>
              <a:rPr lang="en-IN" sz="1800" b="1" dirty="0" err="1">
                <a:solidFill>
                  <a:srgbClr val="000000"/>
                </a:solidFill>
                <a:latin typeface="Consolas" panose="020B0609020204030204" pitchFamily="49" charset="0"/>
              </a:rPr>
              <a:t>showEmpDetails</a:t>
            </a:r>
            <a:r>
              <a:rPr lang="en-IN" sz="1800" b="1" dirty="0">
                <a:solidFill>
                  <a:srgbClr val="000000"/>
                </a:solidFill>
                <a:latin typeface="Consolas" panose="020B0609020204030204" pitchFamily="49" charset="0"/>
              </a:rPr>
              <a:t>();</a:t>
            </a:r>
          </a:p>
          <a:p>
            <a:pPr marL="0" indent="0" algn="l">
              <a:buNone/>
            </a:pPr>
            <a:endParaRPr lang="en-IN" sz="1800" dirty="0">
              <a:latin typeface="Consolas" panose="020B0609020204030204" pitchFamily="49" charset="0"/>
            </a:endParaRPr>
          </a:p>
          <a:p>
            <a:pPr marL="0" indent="0" algn="l">
              <a:buNone/>
            </a:pPr>
            <a:r>
              <a:rPr lang="en-IN" sz="1800" dirty="0">
                <a:solidFill>
                  <a:srgbClr val="000000"/>
                </a:solidFill>
                <a:latin typeface="Consolas" panose="020B0609020204030204" pitchFamily="49" charset="0"/>
              </a:rPr>
              <a:t>}</a:t>
            </a:r>
          </a:p>
          <a:p>
            <a:pPr marL="0" indent="0" algn="l">
              <a:buNone/>
            </a:pPr>
            <a:endParaRPr lang="en-IN" b="1" dirty="0"/>
          </a:p>
        </p:txBody>
      </p:sp>
    </p:spTree>
    <p:extLst>
      <p:ext uri="{BB962C8B-B14F-4D97-AF65-F5344CB8AC3E}">
        <p14:creationId xmlns:p14="http://schemas.microsoft.com/office/powerpoint/2010/main" val="25568747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15922-0CF2-9D2B-2553-0950DC2A1F32}"/>
              </a:ext>
            </a:extLst>
          </p:cNvPr>
          <p:cNvSpPr>
            <a:spLocks noGrp="1"/>
          </p:cNvSpPr>
          <p:nvPr>
            <p:ph type="title"/>
          </p:nvPr>
        </p:nvSpPr>
        <p:spPr>
          <a:xfrm>
            <a:off x="612956" y="354419"/>
            <a:ext cx="8596668" cy="740735"/>
          </a:xfrm>
        </p:spPr>
        <p:txBody>
          <a:bodyPr/>
          <a:lstStyle/>
          <a:p>
            <a:r>
              <a:rPr lang="en-IN" dirty="0"/>
              <a:t>Interface</a:t>
            </a:r>
          </a:p>
        </p:txBody>
      </p:sp>
      <p:pic>
        <p:nvPicPr>
          <p:cNvPr id="4" name="Content Placeholder 3">
            <a:extLst>
              <a:ext uri="{FF2B5EF4-FFF2-40B4-BE49-F238E27FC236}">
                <a16:creationId xmlns:a16="http://schemas.microsoft.com/office/drawing/2014/main" id="{6D1E9688-5A58-5B50-F2E5-08C80ABAE462}"/>
              </a:ext>
            </a:extLst>
          </p:cNvPr>
          <p:cNvPicPr>
            <a:picLocks noGrp="1" noChangeAspect="1"/>
          </p:cNvPicPr>
          <p:nvPr>
            <p:ph idx="1"/>
          </p:nvPr>
        </p:nvPicPr>
        <p:blipFill>
          <a:blip r:embed="rId2"/>
          <a:stretch>
            <a:fillRect/>
          </a:stretch>
        </p:blipFill>
        <p:spPr>
          <a:xfrm>
            <a:off x="1287172" y="2312043"/>
            <a:ext cx="8661046" cy="2791585"/>
          </a:xfrm>
          <a:prstGeom prst="rect">
            <a:avLst/>
          </a:prstGeom>
        </p:spPr>
      </p:pic>
    </p:spTree>
    <p:extLst>
      <p:ext uri="{BB962C8B-B14F-4D97-AF65-F5344CB8AC3E}">
        <p14:creationId xmlns:p14="http://schemas.microsoft.com/office/powerpoint/2010/main" val="18110165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392C5D9-4132-4840-A07F-8FCAC943FBCF}"/>
              </a:ext>
            </a:extLst>
          </p:cNvPr>
          <p:cNvPicPr>
            <a:picLocks noGrp="1" noChangeAspect="1"/>
          </p:cNvPicPr>
          <p:nvPr>
            <p:ph idx="1"/>
          </p:nvPr>
        </p:nvPicPr>
        <p:blipFill>
          <a:blip r:embed="rId2"/>
          <a:stretch>
            <a:fillRect/>
          </a:stretch>
        </p:blipFill>
        <p:spPr>
          <a:xfrm>
            <a:off x="677334" y="1302025"/>
            <a:ext cx="9708316" cy="4790662"/>
          </a:xfrm>
        </p:spPr>
      </p:pic>
      <p:sp>
        <p:nvSpPr>
          <p:cNvPr id="6" name="TextBox 5">
            <a:extLst>
              <a:ext uri="{FF2B5EF4-FFF2-40B4-BE49-F238E27FC236}">
                <a16:creationId xmlns:a16="http://schemas.microsoft.com/office/drawing/2014/main" id="{2FFECA57-5202-4289-BFBF-F75C6986659D}"/>
              </a:ext>
            </a:extLst>
          </p:cNvPr>
          <p:cNvSpPr txBox="1"/>
          <p:nvPr/>
        </p:nvSpPr>
        <p:spPr>
          <a:xfrm>
            <a:off x="6897756" y="3129242"/>
            <a:ext cx="1461053" cy="369332"/>
          </a:xfrm>
          <a:prstGeom prst="rect">
            <a:avLst/>
          </a:prstGeom>
          <a:noFill/>
        </p:spPr>
        <p:txBody>
          <a:bodyPr wrap="square" rtlCol="0">
            <a:spAutoFit/>
          </a:bodyPr>
          <a:lstStyle/>
          <a:p>
            <a:r>
              <a:rPr lang="en-IN" dirty="0"/>
              <a:t>Implements</a:t>
            </a:r>
          </a:p>
        </p:txBody>
      </p:sp>
      <p:sp>
        <p:nvSpPr>
          <p:cNvPr id="7" name="Rectangle 6">
            <a:extLst>
              <a:ext uri="{FF2B5EF4-FFF2-40B4-BE49-F238E27FC236}">
                <a16:creationId xmlns:a16="http://schemas.microsoft.com/office/drawing/2014/main" id="{BF46548F-CB4C-4289-8333-7AE7579A7229}"/>
              </a:ext>
            </a:extLst>
          </p:cNvPr>
          <p:cNvSpPr/>
          <p:nvPr/>
        </p:nvSpPr>
        <p:spPr>
          <a:xfrm>
            <a:off x="5645426" y="3210339"/>
            <a:ext cx="924339" cy="2882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830106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175B3-1808-4EB0-95D5-939F0DAE1595}"/>
              </a:ext>
            </a:extLst>
          </p:cNvPr>
          <p:cNvSpPr>
            <a:spLocks noGrp="1"/>
          </p:cNvSpPr>
          <p:nvPr>
            <p:ph type="title"/>
          </p:nvPr>
        </p:nvSpPr>
        <p:spPr>
          <a:xfrm>
            <a:off x="677334" y="609600"/>
            <a:ext cx="8596668" cy="791817"/>
          </a:xfrm>
        </p:spPr>
        <p:txBody>
          <a:bodyPr/>
          <a:lstStyle/>
          <a:p>
            <a:r>
              <a:rPr lang="en-IN" dirty="0"/>
              <a:t>Abstract Class vs Interface</a:t>
            </a:r>
          </a:p>
        </p:txBody>
      </p:sp>
      <p:graphicFrame>
        <p:nvGraphicFramePr>
          <p:cNvPr id="4" name="Table 4">
            <a:extLst>
              <a:ext uri="{FF2B5EF4-FFF2-40B4-BE49-F238E27FC236}">
                <a16:creationId xmlns:a16="http://schemas.microsoft.com/office/drawing/2014/main" id="{61B9880C-E377-4200-B9A0-D424B7771E9F}"/>
              </a:ext>
            </a:extLst>
          </p:cNvPr>
          <p:cNvGraphicFramePr>
            <a:graphicFrameLocks noGrp="1"/>
          </p:cNvGraphicFramePr>
          <p:nvPr>
            <p:ph idx="1"/>
            <p:extLst>
              <p:ext uri="{D42A27DB-BD31-4B8C-83A1-F6EECF244321}">
                <p14:modId xmlns:p14="http://schemas.microsoft.com/office/powerpoint/2010/main" val="3856964857"/>
              </p:ext>
            </p:extLst>
          </p:nvPr>
        </p:nvGraphicFramePr>
        <p:xfrm>
          <a:off x="677334" y="1182756"/>
          <a:ext cx="8596312" cy="5575853"/>
        </p:xfrm>
        <a:graphic>
          <a:graphicData uri="http://schemas.openxmlformats.org/drawingml/2006/table">
            <a:tbl>
              <a:tblPr firstRow="1" bandRow="1">
                <a:tableStyleId>{5C22544A-7EE6-4342-B048-85BDC9FD1C3A}</a:tableStyleId>
              </a:tblPr>
              <a:tblGrid>
                <a:gridCol w="3943832">
                  <a:extLst>
                    <a:ext uri="{9D8B030D-6E8A-4147-A177-3AD203B41FA5}">
                      <a16:colId xmlns:a16="http://schemas.microsoft.com/office/drawing/2014/main" val="445929264"/>
                    </a:ext>
                  </a:extLst>
                </a:gridCol>
                <a:gridCol w="4652480">
                  <a:extLst>
                    <a:ext uri="{9D8B030D-6E8A-4147-A177-3AD203B41FA5}">
                      <a16:colId xmlns:a16="http://schemas.microsoft.com/office/drawing/2014/main" val="1528729011"/>
                    </a:ext>
                  </a:extLst>
                </a:gridCol>
              </a:tblGrid>
              <a:tr h="369551">
                <a:tc>
                  <a:txBody>
                    <a:bodyPr/>
                    <a:lstStyle/>
                    <a:p>
                      <a:pPr algn="l" fontAlgn="t"/>
                      <a:r>
                        <a:rPr lang="en-IN" dirty="0">
                          <a:solidFill>
                            <a:srgbClr val="000000"/>
                          </a:solidFill>
                          <a:effectLst/>
                          <a:latin typeface="times new roman" panose="02020603050405020304" pitchFamily="18" charset="0"/>
                        </a:rPr>
                        <a:t>Abstract class</a:t>
                      </a:r>
                    </a:p>
                  </a:txBody>
                  <a:tcPr marL="76200" marR="76200" marT="76200" marB="76200"/>
                </a:tc>
                <a:tc>
                  <a:txBody>
                    <a:bodyPr/>
                    <a:lstStyle/>
                    <a:p>
                      <a:pPr algn="l" fontAlgn="t"/>
                      <a:r>
                        <a:rPr lang="en-IN">
                          <a:solidFill>
                            <a:srgbClr val="000000"/>
                          </a:solidFill>
                          <a:effectLst/>
                          <a:latin typeface="times new roman" panose="02020603050405020304" pitchFamily="18" charset="0"/>
                        </a:rPr>
                        <a:t>Interface</a:t>
                      </a:r>
                    </a:p>
                  </a:txBody>
                  <a:tcPr marL="76200" marR="76200" marT="76200" marB="76200"/>
                </a:tc>
                <a:extLst>
                  <a:ext uri="{0D108BD9-81ED-4DB2-BD59-A6C34878D82A}">
                    <a16:rowId xmlns:a16="http://schemas.microsoft.com/office/drawing/2014/main" val="1555311662"/>
                  </a:ext>
                </a:extLst>
              </a:tr>
              <a:tr h="800693">
                <a:tc>
                  <a:txBody>
                    <a:bodyPr/>
                    <a:lstStyle/>
                    <a:p>
                      <a:pPr algn="just" fontAlgn="t"/>
                      <a:r>
                        <a:rPr lang="en-US" sz="1600" dirty="0">
                          <a:solidFill>
                            <a:srgbClr val="333333"/>
                          </a:solidFill>
                          <a:effectLst/>
                          <a:latin typeface="inter-regular"/>
                        </a:rPr>
                        <a:t>1) Abstract class can </a:t>
                      </a:r>
                      <a:r>
                        <a:rPr lang="en-US" sz="1600" b="1" dirty="0">
                          <a:solidFill>
                            <a:srgbClr val="333333"/>
                          </a:solidFill>
                          <a:effectLst/>
                          <a:latin typeface="inter-bold"/>
                        </a:rPr>
                        <a:t>have abstract and non-abstract</a:t>
                      </a:r>
                      <a:r>
                        <a:rPr lang="en-US" sz="1600" dirty="0">
                          <a:solidFill>
                            <a:srgbClr val="333333"/>
                          </a:solidFill>
                          <a:effectLst/>
                          <a:latin typeface="inter-regular"/>
                        </a:rPr>
                        <a:t> methods.</a:t>
                      </a:r>
                    </a:p>
                  </a:txBody>
                  <a:tcPr marL="50800" marR="50800" marT="50800" marB="50800"/>
                </a:tc>
                <a:tc>
                  <a:txBody>
                    <a:bodyPr/>
                    <a:lstStyle/>
                    <a:p>
                      <a:pPr algn="just" fontAlgn="t"/>
                      <a:r>
                        <a:rPr lang="en-US" sz="1600">
                          <a:solidFill>
                            <a:srgbClr val="333333"/>
                          </a:solidFill>
                          <a:effectLst/>
                          <a:latin typeface="inter-regular"/>
                        </a:rPr>
                        <a:t>Interface can have </a:t>
                      </a:r>
                      <a:r>
                        <a:rPr lang="en-US" sz="1600" b="1">
                          <a:solidFill>
                            <a:srgbClr val="333333"/>
                          </a:solidFill>
                          <a:effectLst/>
                          <a:latin typeface="inter-bold"/>
                        </a:rPr>
                        <a:t>only abstract</a:t>
                      </a:r>
                      <a:r>
                        <a:rPr lang="en-US" sz="1600">
                          <a:solidFill>
                            <a:srgbClr val="333333"/>
                          </a:solidFill>
                          <a:effectLst/>
                          <a:latin typeface="inter-regular"/>
                        </a:rPr>
                        <a:t> methods. Since Java 8, it can have </a:t>
                      </a:r>
                      <a:r>
                        <a:rPr lang="en-US" sz="1600" b="1">
                          <a:solidFill>
                            <a:srgbClr val="333333"/>
                          </a:solidFill>
                          <a:effectLst/>
                          <a:latin typeface="inter-bold"/>
                        </a:rPr>
                        <a:t>default and static methods</a:t>
                      </a:r>
                      <a:r>
                        <a:rPr lang="en-US" sz="1600">
                          <a:solidFill>
                            <a:srgbClr val="333333"/>
                          </a:solidFill>
                          <a:effectLst/>
                          <a:latin typeface="inter-regular"/>
                        </a:rPr>
                        <a:t> also.</a:t>
                      </a:r>
                    </a:p>
                  </a:txBody>
                  <a:tcPr marL="50800" marR="50800" marT="50800" marB="50800"/>
                </a:tc>
                <a:extLst>
                  <a:ext uri="{0D108BD9-81ED-4DB2-BD59-A6C34878D82A}">
                    <a16:rowId xmlns:a16="http://schemas.microsoft.com/office/drawing/2014/main" val="1212956628"/>
                  </a:ext>
                </a:extLst>
              </a:tr>
              <a:tr h="563125">
                <a:tc>
                  <a:txBody>
                    <a:bodyPr/>
                    <a:lstStyle/>
                    <a:p>
                      <a:pPr algn="just" fontAlgn="t"/>
                      <a:r>
                        <a:rPr lang="en-US" sz="1600" dirty="0">
                          <a:solidFill>
                            <a:srgbClr val="333333"/>
                          </a:solidFill>
                          <a:effectLst/>
                          <a:latin typeface="inter-regular"/>
                        </a:rPr>
                        <a:t>2) Abstract class </a:t>
                      </a:r>
                      <a:r>
                        <a:rPr lang="en-US" sz="1600" b="1" dirty="0">
                          <a:solidFill>
                            <a:srgbClr val="333333"/>
                          </a:solidFill>
                          <a:effectLst/>
                          <a:latin typeface="inter-bold"/>
                        </a:rPr>
                        <a:t>doesn't support multiple inheritance</a:t>
                      </a:r>
                      <a:r>
                        <a:rPr lang="en-US" sz="1600" dirty="0">
                          <a:solidFill>
                            <a:srgbClr val="333333"/>
                          </a:solidFill>
                          <a:effectLst/>
                          <a:latin typeface="inter-regular"/>
                        </a:rPr>
                        <a:t>.</a:t>
                      </a:r>
                    </a:p>
                  </a:txBody>
                  <a:tcPr marL="50800" marR="50800" marT="50800" marB="50800"/>
                </a:tc>
                <a:tc>
                  <a:txBody>
                    <a:bodyPr/>
                    <a:lstStyle/>
                    <a:p>
                      <a:pPr algn="just" fontAlgn="t"/>
                      <a:r>
                        <a:rPr lang="en-IN" sz="1600" dirty="0">
                          <a:solidFill>
                            <a:srgbClr val="333333"/>
                          </a:solidFill>
                          <a:effectLst/>
                          <a:latin typeface="inter-regular"/>
                        </a:rPr>
                        <a:t>Interface </a:t>
                      </a:r>
                      <a:r>
                        <a:rPr lang="en-IN" sz="1600" b="1" dirty="0">
                          <a:solidFill>
                            <a:srgbClr val="333333"/>
                          </a:solidFill>
                          <a:effectLst/>
                          <a:latin typeface="inter-bold"/>
                        </a:rPr>
                        <a:t>supports multiple inheritance</a:t>
                      </a:r>
                      <a:r>
                        <a:rPr lang="en-IN" sz="1600" dirty="0">
                          <a:solidFill>
                            <a:srgbClr val="333333"/>
                          </a:solidFill>
                          <a:effectLst/>
                          <a:latin typeface="inter-regular"/>
                        </a:rPr>
                        <a:t>.</a:t>
                      </a:r>
                    </a:p>
                  </a:txBody>
                  <a:tcPr marL="50800" marR="50800" marT="50800" marB="50800"/>
                </a:tc>
                <a:extLst>
                  <a:ext uri="{0D108BD9-81ED-4DB2-BD59-A6C34878D82A}">
                    <a16:rowId xmlns:a16="http://schemas.microsoft.com/office/drawing/2014/main" val="2069456815"/>
                  </a:ext>
                </a:extLst>
              </a:tr>
              <a:tr h="563125">
                <a:tc>
                  <a:txBody>
                    <a:bodyPr/>
                    <a:lstStyle/>
                    <a:p>
                      <a:pPr algn="just" fontAlgn="t"/>
                      <a:r>
                        <a:rPr lang="en-US" sz="1600">
                          <a:solidFill>
                            <a:srgbClr val="333333"/>
                          </a:solidFill>
                          <a:effectLst/>
                          <a:latin typeface="inter-regular"/>
                        </a:rPr>
                        <a:t>3) Abstract class </a:t>
                      </a:r>
                      <a:r>
                        <a:rPr lang="en-US" sz="1600" b="1">
                          <a:solidFill>
                            <a:srgbClr val="333333"/>
                          </a:solidFill>
                          <a:effectLst/>
                          <a:latin typeface="inter-bold"/>
                        </a:rPr>
                        <a:t>can have final, non-final, static and non-static variables</a:t>
                      </a:r>
                      <a:r>
                        <a:rPr lang="en-US" sz="1600">
                          <a:solidFill>
                            <a:srgbClr val="333333"/>
                          </a:solidFill>
                          <a:effectLst/>
                          <a:latin typeface="inter-regular"/>
                        </a:rPr>
                        <a:t>.</a:t>
                      </a:r>
                    </a:p>
                  </a:txBody>
                  <a:tcPr marL="50800" marR="50800" marT="50800" marB="50800"/>
                </a:tc>
                <a:tc>
                  <a:txBody>
                    <a:bodyPr/>
                    <a:lstStyle/>
                    <a:p>
                      <a:pPr algn="just" fontAlgn="t"/>
                      <a:r>
                        <a:rPr lang="en-US" sz="1600">
                          <a:solidFill>
                            <a:srgbClr val="333333"/>
                          </a:solidFill>
                          <a:effectLst/>
                          <a:latin typeface="inter-regular"/>
                        </a:rPr>
                        <a:t>Interface has </a:t>
                      </a:r>
                      <a:r>
                        <a:rPr lang="en-US" sz="1600" b="1">
                          <a:solidFill>
                            <a:srgbClr val="333333"/>
                          </a:solidFill>
                          <a:effectLst/>
                          <a:latin typeface="inter-bold"/>
                        </a:rPr>
                        <a:t>only static and final variables</a:t>
                      </a:r>
                      <a:r>
                        <a:rPr lang="en-US" sz="1600">
                          <a:solidFill>
                            <a:srgbClr val="333333"/>
                          </a:solidFill>
                          <a:effectLst/>
                          <a:latin typeface="inter-regular"/>
                        </a:rPr>
                        <a:t>.</a:t>
                      </a:r>
                    </a:p>
                  </a:txBody>
                  <a:tcPr marL="50800" marR="50800" marT="50800" marB="50800"/>
                </a:tc>
                <a:extLst>
                  <a:ext uri="{0D108BD9-81ED-4DB2-BD59-A6C34878D82A}">
                    <a16:rowId xmlns:a16="http://schemas.microsoft.com/office/drawing/2014/main" val="4115177049"/>
                  </a:ext>
                </a:extLst>
              </a:tr>
              <a:tr h="563125">
                <a:tc>
                  <a:txBody>
                    <a:bodyPr/>
                    <a:lstStyle/>
                    <a:p>
                      <a:pPr algn="just" fontAlgn="t"/>
                      <a:r>
                        <a:rPr lang="en-US" sz="1600">
                          <a:solidFill>
                            <a:srgbClr val="333333"/>
                          </a:solidFill>
                          <a:effectLst/>
                          <a:latin typeface="inter-regular"/>
                        </a:rPr>
                        <a:t>4) Abstract class </a:t>
                      </a:r>
                      <a:r>
                        <a:rPr lang="en-US" sz="1600" b="1">
                          <a:solidFill>
                            <a:srgbClr val="333333"/>
                          </a:solidFill>
                          <a:effectLst/>
                          <a:latin typeface="inter-bold"/>
                        </a:rPr>
                        <a:t>can provide the implementation of interface</a:t>
                      </a:r>
                      <a:r>
                        <a:rPr lang="en-US" sz="1600">
                          <a:solidFill>
                            <a:srgbClr val="333333"/>
                          </a:solidFill>
                          <a:effectLst/>
                          <a:latin typeface="inter-regular"/>
                        </a:rPr>
                        <a:t>.</a:t>
                      </a:r>
                    </a:p>
                  </a:txBody>
                  <a:tcPr marL="50800" marR="50800" marT="50800" marB="50800"/>
                </a:tc>
                <a:tc>
                  <a:txBody>
                    <a:bodyPr/>
                    <a:lstStyle/>
                    <a:p>
                      <a:pPr algn="just" fontAlgn="t"/>
                      <a:r>
                        <a:rPr lang="en-US" sz="1600" dirty="0">
                          <a:solidFill>
                            <a:srgbClr val="333333"/>
                          </a:solidFill>
                          <a:effectLst/>
                          <a:latin typeface="inter-regular"/>
                        </a:rPr>
                        <a:t>Interface </a:t>
                      </a:r>
                      <a:r>
                        <a:rPr lang="en-US" sz="1600" b="1" dirty="0">
                          <a:solidFill>
                            <a:srgbClr val="333333"/>
                          </a:solidFill>
                          <a:effectLst/>
                          <a:latin typeface="inter-bold"/>
                        </a:rPr>
                        <a:t>can't provide the implementation of abstract class</a:t>
                      </a:r>
                      <a:r>
                        <a:rPr lang="en-US" sz="1600" dirty="0">
                          <a:solidFill>
                            <a:srgbClr val="333333"/>
                          </a:solidFill>
                          <a:effectLst/>
                          <a:latin typeface="inter-regular"/>
                        </a:rPr>
                        <a:t>.</a:t>
                      </a:r>
                    </a:p>
                  </a:txBody>
                  <a:tcPr marL="50800" marR="50800" marT="50800" marB="50800"/>
                </a:tc>
                <a:extLst>
                  <a:ext uri="{0D108BD9-81ED-4DB2-BD59-A6C34878D82A}">
                    <a16:rowId xmlns:a16="http://schemas.microsoft.com/office/drawing/2014/main" val="3836080479"/>
                  </a:ext>
                </a:extLst>
              </a:tr>
              <a:tr h="563125">
                <a:tc>
                  <a:txBody>
                    <a:bodyPr/>
                    <a:lstStyle/>
                    <a:p>
                      <a:pPr algn="just" fontAlgn="t"/>
                      <a:r>
                        <a:rPr lang="en-US" sz="1600">
                          <a:solidFill>
                            <a:srgbClr val="333333"/>
                          </a:solidFill>
                          <a:effectLst/>
                          <a:latin typeface="inter-regular"/>
                        </a:rPr>
                        <a:t>5) The </a:t>
                      </a:r>
                      <a:r>
                        <a:rPr lang="en-US" sz="1600" b="1">
                          <a:solidFill>
                            <a:srgbClr val="333333"/>
                          </a:solidFill>
                          <a:effectLst/>
                          <a:latin typeface="inter-bold"/>
                        </a:rPr>
                        <a:t>abstract keyword</a:t>
                      </a:r>
                      <a:r>
                        <a:rPr lang="en-US" sz="1600">
                          <a:solidFill>
                            <a:srgbClr val="333333"/>
                          </a:solidFill>
                          <a:effectLst/>
                          <a:latin typeface="inter-regular"/>
                        </a:rPr>
                        <a:t> is used to declare abstract class.</a:t>
                      </a:r>
                    </a:p>
                  </a:txBody>
                  <a:tcPr marL="50800" marR="50800" marT="50800" marB="50800"/>
                </a:tc>
                <a:tc>
                  <a:txBody>
                    <a:bodyPr/>
                    <a:lstStyle/>
                    <a:p>
                      <a:pPr algn="just" fontAlgn="t"/>
                      <a:r>
                        <a:rPr lang="en-US" sz="1600" dirty="0">
                          <a:solidFill>
                            <a:srgbClr val="333333"/>
                          </a:solidFill>
                          <a:effectLst/>
                          <a:latin typeface="inter-regular"/>
                        </a:rPr>
                        <a:t>The </a:t>
                      </a:r>
                      <a:r>
                        <a:rPr lang="en-US" sz="1600" b="1" dirty="0">
                          <a:solidFill>
                            <a:srgbClr val="333333"/>
                          </a:solidFill>
                          <a:effectLst/>
                          <a:latin typeface="inter-bold"/>
                        </a:rPr>
                        <a:t>interface keyword</a:t>
                      </a:r>
                      <a:r>
                        <a:rPr lang="en-US" sz="1600" dirty="0">
                          <a:solidFill>
                            <a:srgbClr val="333333"/>
                          </a:solidFill>
                          <a:effectLst/>
                          <a:latin typeface="inter-regular"/>
                        </a:rPr>
                        <a:t> is used to declare interface.</a:t>
                      </a:r>
                    </a:p>
                  </a:txBody>
                  <a:tcPr marL="50800" marR="50800" marT="50800" marB="50800"/>
                </a:tc>
                <a:extLst>
                  <a:ext uri="{0D108BD9-81ED-4DB2-BD59-A6C34878D82A}">
                    <a16:rowId xmlns:a16="http://schemas.microsoft.com/office/drawing/2014/main" val="4170689298"/>
                  </a:ext>
                </a:extLst>
              </a:tr>
              <a:tr h="800693">
                <a:tc>
                  <a:txBody>
                    <a:bodyPr/>
                    <a:lstStyle/>
                    <a:p>
                      <a:pPr algn="just" fontAlgn="t"/>
                      <a:r>
                        <a:rPr lang="en-US" sz="1600" dirty="0">
                          <a:solidFill>
                            <a:srgbClr val="333333"/>
                          </a:solidFill>
                          <a:effectLst/>
                          <a:latin typeface="inter-regular"/>
                        </a:rPr>
                        <a:t>6) An </a:t>
                      </a:r>
                      <a:r>
                        <a:rPr lang="en-US" sz="1600" b="1" dirty="0">
                          <a:solidFill>
                            <a:srgbClr val="333333"/>
                          </a:solidFill>
                          <a:effectLst/>
                          <a:latin typeface="inter-bold"/>
                        </a:rPr>
                        <a:t>abstract class</a:t>
                      </a:r>
                      <a:r>
                        <a:rPr lang="en-US" sz="1600" dirty="0">
                          <a:solidFill>
                            <a:srgbClr val="333333"/>
                          </a:solidFill>
                          <a:effectLst/>
                          <a:latin typeface="inter-regular"/>
                        </a:rPr>
                        <a:t> can extend another Java class and implement multiple Java interfaces.</a:t>
                      </a:r>
                    </a:p>
                  </a:txBody>
                  <a:tcPr marL="50800" marR="50800" marT="50800" marB="50800"/>
                </a:tc>
                <a:tc>
                  <a:txBody>
                    <a:bodyPr/>
                    <a:lstStyle/>
                    <a:p>
                      <a:pPr algn="just" fontAlgn="t"/>
                      <a:r>
                        <a:rPr lang="en-US" sz="1600">
                          <a:solidFill>
                            <a:srgbClr val="333333"/>
                          </a:solidFill>
                          <a:effectLst/>
                          <a:latin typeface="inter-regular"/>
                        </a:rPr>
                        <a:t>An </a:t>
                      </a:r>
                      <a:r>
                        <a:rPr lang="en-US" sz="1600" b="1">
                          <a:solidFill>
                            <a:srgbClr val="333333"/>
                          </a:solidFill>
                          <a:effectLst/>
                          <a:latin typeface="inter-bold"/>
                        </a:rPr>
                        <a:t>interface</a:t>
                      </a:r>
                      <a:r>
                        <a:rPr lang="en-US" sz="1600">
                          <a:solidFill>
                            <a:srgbClr val="333333"/>
                          </a:solidFill>
                          <a:effectLst/>
                          <a:latin typeface="inter-regular"/>
                        </a:rPr>
                        <a:t> can extend another Java interface only.</a:t>
                      </a:r>
                    </a:p>
                  </a:txBody>
                  <a:tcPr marL="50800" marR="50800" marT="50800" marB="50800"/>
                </a:tc>
                <a:extLst>
                  <a:ext uri="{0D108BD9-81ED-4DB2-BD59-A6C34878D82A}">
                    <a16:rowId xmlns:a16="http://schemas.microsoft.com/office/drawing/2014/main" val="2762572357"/>
                  </a:ext>
                </a:extLst>
              </a:tr>
              <a:tr h="563125">
                <a:tc>
                  <a:txBody>
                    <a:bodyPr/>
                    <a:lstStyle/>
                    <a:p>
                      <a:pPr algn="just" fontAlgn="t"/>
                      <a:r>
                        <a:rPr lang="en-US" sz="1600">
                          <a:solidFill>
                            <a:srgbClr val="333333"/>
                          </a:solidFill>
                          <a:effectLst/>
                          <a:latin typeface="inter-regular"/>
                        </a:rPr>
                        <a:t>7) An </a:t>
                      </a:r>
                      <a:r>
                        <a:rPr lang="en-US" sz="1600" b="1">
                          <a:solidFill>
                            <a:srgbClr val="333333"/>
                          </a:solidFill>
                          <a:effectLst/>
                          <a:latin typeface="inter-bold"/>
                        </a:rPr>
                        <a:t>abstract class</a:t>
                      </a:r>
                      <a:r>
                        <a:rPr lang="en-US" sz="1600">
                          <a:solidFill>
                            <a:srgbClr val="333333"/>
                          </a:solidFill>
                          <a:effectLst/>
                          <a:latin typeface="inter-regular"/>
                        </a:rPr>
                        <a:t> can be extended using keyword "extends".</a:t>
                      </a:r>
                    </a:p>
                  </a:txBody>
                  <a:tcPr marL="50800" marR="50800" marT="50800" marB="50800"/>
                </a:tc>
                <a:tc>
                  <a:txBody>
                    <a:bodyPr/>
                    <a:lstStyle/>
                    <a:p>
                      <a:pPr algn="just" fontAlgn="t"/>
                      <a:r>
                        <a:rPr lang="en-US" sz="1600">
                          <a:solidFill>
                            <a:srgbClr val="333333"/>
                          </a:solidFill>
                          <a:effectLst/>
                          <a:latin typeface="inter-regular"/>
                        </a:rPr>
                        <a:t>An </a:t>
                      </a:r>
                      <a:r>
                        <a:rPr lang="en-US" sz="1600" b="1">
                          <a:solidFill>
                            <a:srgbClr val="333333"/>
                          </a:solidFill>
                          <a:effectLst/>
                          <a:latin typeface="inter-bold"/>
                        </a:rPr>
                        <a:t>interface</a:t>
                      </a:r>
                      <a:r>
                        <a:rPr lang="en-US" sz="1600">
                          <a:solidFill>
                            <a:srgbClr val="333333"/>
                          </a:solidFill>
                          <a:effectLst/>
                          <a:latin typeface="inter-regular"/>
                        </a:rPr>
                        <a:t> can be implemented using keyword "implements".</a:t>
                      </a:r>
                    </a:p>
                  </a:txBody>
                  <a:tcPr marL="50800" marR="50800" marT="50800" marB="50800"/>
                </a:tc>
                <a:extLst>
                  <a:ext uri="{0D108BD9-81ED-4DB2-BD59-A6C34878D82A}">
                    <a16:rowId xmlns:a16="http://schemas.microsoft.com/office/drawing/2014/main" val="187044377"/>
                  </a:ext>
                </a:extLst>
              </a:tr>
              <a:tr h="601347">
                <a:tc>
                  <a:txBody>
                    <a:bodyPr/>
                    <a:lstStyle/>
                    <a:p>
                      <a:pPr algn="just" fontAlgn="t"/>
                      <a:r>
                        <a:rPr lang="en-US" sz="1600" dirty="0">
                          <a:solidFill>
                            <a:srgbClr val="333333"/>
                          </a:solidFill>
                          <a:effectLst/>
                          <a:latin typeface="inter-regular"/>
                        </a:rPr>
                        <a:t>8) A Java </a:t>
                      </a:r>
                      <a:r>
                        <a:rPr lang="en-US" sz="1600" b="1" dirty="0">
                          <a:solidFill>
                            <a:srgbClr val="333333"/>
                          </a:solidFill>
                          <a:effectLst/>
                          <a:latin typeface="inter-bold"/>
                        </a:rPr>
                        <a:t>abstract class</a:t>
                      </a:r>
                      <a:r>
                        <a:rPr lang="en-US" sz="1600" dirty="0">
                          <a:solidFill>
                            <a:srgbClr val="333333"/>
                          </a:solidFill>
                          <a:effectLst/>
                          <a:latin typeface="inter-regular"/>
                        </a:rPr>
                        <a:t> can have class members like private, protected, etc.</a:t>
                      </a:r>
                    </a:p>
                  </a:txBody>
                  <a:tcPr marL="50800" marR="50800" marT="50800" marB="50800"/>
                </a:tc>
                <a:tc>
                  <a:txBody>
                    <a:bodyPr/>
                    <a:lstStyle/>
                    <a:p>
                      <a:pPr algn="just" fontAlgn="t"/>
                      <a:r>
                        <a:rPr lang="en-US" sz="1600" dirty="0">
                          <a:solidFill>
                            <a:srgbClr val="333333"/>
                          </a:solidFill>
                          <a:effectLst/>
                          <a:latin typeface="inter-regular"/>
                        </a:rPr>
                        <a:t>Members of a Java interface are public by default.</a:t>
                      </a:r>
                    </a:p>
                  </a:txBody>
                  <a:tcPr marL="50800" marR="50800" marT="50800" marB="50800"/>
                </a:tc>
                <a:extLst>
                  <a:ext uri="{0D108BD9-81ED-4DB2-BD59-A6C34878D82A}">
                    <a16:rowId xmlns:a16="http://schemas.microsoft.com/office/drawing/2014/main" val="408318008"/>
                  </a:ext>
                </a:extLst>
              </a:tr>
            </a:tbl>
          </a:graphicData>
        </a:graphic>
      </p:graphicFrame>
    </p:spTree>
    <p:extLst>
      <p:ext uri="{BB962C8B-B14F-4D97-AF65-F5344CB8AC3E}">
        <p14:creationId xmlns:p14="http://schemas.microsoft.com/office/powerpoint/2010/main" val="16083200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lstStyle/>
          <a:p>
            <a:r>
              <a:rPr lang="en-US" dirty="0"/>
              <a:t>Package</a:t>
            </a:r>
            <a:endParaRPr lang="en-IN" dirty="0"/>
          </a:p>
        </p:txBody>
      </p:sp>
      <p:sp>
        <p:nvSpPr>
          <p:cNvPr id="3" name="Content Placeholder 2">
            <a:extLst>
              <a:ext uri="{FF2B5EF4-FFF2-40B4-BE49-F238E27FC236}">
                <a16:creationId xmlns:a16="http://schemas.microsoft.com/office/drawing/2014/main" id="{9D3D318B-A79D-4974-B751-6DD55EAA12B4}"/>
              </a:ext>
            </a:extLst>
          </p:cNvPr>
          <p:cNvSpPr>
            <a:spLocks noGrp="1"/>
          </p:cNvSpPr>
          <p:nvPr>
            <p:ph idx="1"/>
          </p:nvPr>
        </p:nvSpPr>
        <p:spPr>
          <a:xfrm>
            <a:off x="677334" y="1388125"/>
            <a:ext cx="8596668" cy="5255046"/>
          </a:xfrm>
        </p:spPr>
        <p:txBody>
          <a:bodyPr>
            <a:normAutofit/>
          </a:bodyPr>
          <a:lstStyle/>
          <a:p>
            <a:pPr marL="0" indent="0">
              <a:buNone/>
            </a:pPr>
            <a:r>
              <a:rPr lang="en-US" b="1" dirty="0"/>
              <a:t>What is Package?</a:t>
            </a:r>
          </a:p>
          <a:p>
            <a:pPr marL="0" indent="0">
              <a:buNone/>
            </a:pPr>
            <a:r>
              <a:rPr lang="en-US" b="1" dirty="0"/>
              <a:t>	Package is the pack of classes, interfaces and other packages.</a:t>
            </a:r>
          </a:p>
          <a:p>
            <a:pPr marL="0" indent="0">
              <a:buNone/>
            </a:pPr>
            <a:endParaRPr lang="en-US" b="1" dirty="0"/>
          </a:p>
          <a:p>
            <a:pPr marL="0" indent="0">
              <a:buNone/>
            </a:pPr>
            <a:r>
              <a:rPr lang="en-US" b="1" dirty="0"/>
              <a:t>Two Types of Package:</a:t>
            </a:r>
          </a:p>
          <a:p>
            <a:pPr marL="804863">
              <a:buFont typeface="+mj-lt"/>
              <a:buAutoNum type="arabicPeriod"/>
            </a:pPr>
            <a:r>
              <a:rPr lang="en-US" b="1" dirty="0"/>
              <a:t>Pre-defined or Built-in Packages</a:t>
            </a:r>
          </a:p>
          <a:p>
            <a:pPr marL="804863">
              <a:buFont typeface="+mj-lt"/>
              <a:buAutoNum type="arabicPeriod"/>
            </a:pPr>
            <a:r>
              <a:rPr lang="en-US" b="1" dirty="0"/>
              <a:t>User-Defined Packages</a:t>
            </a:r>
          </a:p>
          <a:p>
            <a:pPr marL="0" indent="0">
              <a:buNone/>
            </a:pPr>
            <a:endParaRPr lang="en-IN" b="1" dirty="0"/>
          </a:p>
          <a:p>
            <a:pPr marL="0" indent="0">
              <a:buNone/>
            </a:pPr>
            <a:r>
              <a:rPr lang="en-IN" b="1" u="sng" dirty="0"/>
              <a:t>Build-In Package:</a:t>
            </a:r>
          </a:p>
          <a:p>
            <a:pPr marL="0" indent="0">
              <a:buNone/>
            </a:pPr>
            <a:r>
              <a:rPr lang="en-IN" b="1" dirty="0"/>
              <a:t>	</a:t>
            </a:r>
            <a:r>
              <a:rPr lang="en-IN" b="1" dirty="0" err="1"/>
              <a:t>java.util.Scanner</a:t>
            </a:r>
            <a:r>
              <a:rPr lang="en-IN" b="1" dirty="0"/>
              <a:t>;</a:t>
            </a:r>
          </a:p>
          <a:p>
            <a:pPr marL="715963" indent="0">
              <a:buNone/>
            </a:pPr>
            <a:r>
              <a:rPr lang="en-IN" dirty="0"/>
              <a:t>Here:</a:t>
            </a:r>
            <a:br>
              <a:rPr lang="en-IN" dirty="0"/>
            </a:br>
            <a:r>
              <a:rPr lang="en-IN" dirty="0"/>
              <a:t>→ </a:t>
            </a:r>
            <a:r>
              <a:rPr lang="en-IN" b="1" dirty="0"/>
              <a:t>java</a:t>
            </a:r>
            <a:r>
              <a:rPr lang="en-IN" dirty="0"/>
              <a:t> is a top level package</a:t>
            </a:r>
            <a:br>
              <a:rPr lang="en-IN" dirty="0"/>
            </a:br>
            <a:r>
              <a:rPr lang="en-IN" dirty="0"/>
              <a:t>→ </a:t>
            </a:r>
            <a:r>
              <a:rPr lang="en-IN" b="1" dirty="0" err="1"/>
              <a:t>util</a:t>
            </a:r>
            <a:r>
              <a:rPr lang="en-IN" dirty="0"/>
              <a:t> is a sub package</a:t>
            </a:r>
            <a:br>
              <a:rPr lang="en-IN" dirty="0"/>
            </a:br>
            <a:r>
              <a:rPr lang="en-IN" dirty="0"/>
              <a:t>→ and </a:t>
            </a:r>
            <a:r>
              <a:rPr lang="en-IN" b="1" dirty="0"/>
              <a:t>Scanner</a:t>
            </a:r>
            <a:r>
              <a:rPr lang="en-IN" dirty="0"/>
              <a:t> is a class which is present in the sub package </a:t>
            </a:r>
            <a:r>
              <a:rPr lang="en-IN" b="1" dirty="0"/>
              <a:t>util</a:t>
            </a:r>
            <a:r>
              <a:rPr lang="en-IN" dirty="0"/>
              <a:t>.</a:t>
            </a:r>
          </a:p>
          <a:p>
            <a:pPr marL="715963" indent="0">
              <a:buNone/>
            </a:pPr>
            <a:endParaRPr lang="en-IN" b="1" dirty="0"/>
          </a:p>
          <a:p>
            <a:pPr marL="715963" indent="0">
              <a:buNone/>
            </a:pPr>
            <a:endParaRPr lang="en-US" b="1" dirty="0"/>
          </a:p>
        </p:txBody>
      </p:sp>
    </p:spTree>
    <p:extLst>
      <p:ext uri="{BB962C8B-B14F-4D97-AF65-F5344CB8AC3E}">
        <p14:creationId xmlns:p14="http://schemas.microsoft.com/office/powerpoint/2010/main" val="5303488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lstStyle/>
          <a:p>
            <a:r>
              <a:rPr lang="en-US" dirty="0"/>
              <a:t>Package</a:t>
            </a:r>
            <a:endParaRPr lang="en-IN" dirty="0"/>
          </a:p>
        </p:txBody>
      </p:sp>
      <p:sp>
        <p:nvSpPr>
          <p:cNvPr id="3" name="Content Placeholder 2">
            <a:extLst>
              <a:ext uri="{FF2B5EF4-FFF2-40B4-BE49-F238E27FC236}">
                <a16:creationId xmlns:a16="http://schemas.microsoft.com/office/drawing/2014/main" id="{9D3D318B-A79D-4974-B751-6DD55EAA12B4}"/>
              </a:ext>
            </a:extLst>
          </p:cNvPr>
          <p:cNvSpPr>
            <a:spLocks noGrp="1"/>
          </p:cNvSpPr>
          <p:nvPr>
            <p:ph idx="1"/>
          </p:nvPr>
        </p:nvSpPr>
        <p:spPr>
          <a:xfrm>
            <a:off x="677334" y="1388125"/>
            <a:ext cx="8596668" cy="5255046"/>
          </a:xfrm>
        </p:spPr>
        <p:txBody>
          <a:bodyPr>
            <a:normAutofit/>
          </a:bodyPr>
          <a:lstStyle/>
          <a:p>
            <a:pPr marL="0" indent="0">
              <a:buNone/>
            </a:pPr>
            <a:r>
              <a:rPr lang="en-US" sz="2000" b="1" dirty="0"/>
              <a:t>Why Packages?</a:t>
            </a:r>
          </a:p>
          <a:p>
            <a:pPr marL="804863">
              <a:buFont typeface="+mj-lt"/>
              <a:buAutoNum type="arabicPeriod"/>
            </a:pPr>
            <a:r>
              <a:rPr lang="en-US" b="1" dirty="0"/>
              <a:t>Reusability</a:t>
            </a:r>
          </a:p>
          <a:p>
            <a:pPr marL="804863">
              <a:buFont typeface="+mj-lt"/>
              <a:buAutoNum type="arabicPeriod"/>
            </a:pPr>
            <a:r>
              <a:rPr lang="en-US" b="1" dirty="0"/>
              <a:t>Better Organization</a:t>
            </a:r>
          </a:p>
          <a:p>
            <a:pPr marL="804863">
              <a:buFont typeface="+mj-lt"/>
              <a:buAutoNum type="arabicPeriod"/>
            </a:pPr>
            <a:r>
              <a:rPr lang="en-US" b="1" dirty="0"/>
              <a:t>Name </a:t>
            </a:r>
            <a:r>
              <a:rPr lang="en-US" b="1" dirty="0" err="1"/>
              <a:t>Confilicts</a:t>
            </a:r>
            <a:endParaRPr lang="en-US" b="1" dirty="0"/>
          </a:p>
          <a:p>
            <a:pPr marL="0" indent="0">
              <a:buNone/>
            </a:pPr>
            <a:endParaRPr lang="en-US" b="1" dirty="0"/>
          </a:p>
          <a:p>
            <a:pPr marL="0" indent="0">
              <a:buNone/>
            </a:pPr>
            <a:r>
              <a:rPr lang="en-US" sz="2000" b="1" dirty="0"/>
              <a:t>Ways to access the Package from another Package</a:t>
            </a:r>
          </a:p>
          <a:p>
            <a:pPr marL="804863">
              <a:buFont typeface="+mj-lt"/>
              <a:buAutoNum type="arabicPeriod"/>
            </a:pPr>
            <a:r>
              <a:rPr lang="en-IN" dirty="0"/>
              <a:t>import package.*;</a:t>
            </a:r>
          </a:p>
          <a:p>
            <a:pPr marL="461963" indent="0">
              <a:buNone/>
            </a:pPr>
            <a:r>
              <a:rPr lang="en-IN" dirty="0"/>
              <a:t>	  Ex: import </a:t>
            </a:r>
            <a:r>
              <a:rPr lang="en-IN" dirty="0" err="1"/>
              <a:t>java.util</a:t>
            </a:r>
            <a:r>
              <a:rPr lang="en-IN" dirty="0"/>
              <a:t>.*;</a:t>
            </a:r>
          </a:p>
          <a:p>
            <a:pPr marL="804863">
              <a:buFont typeface="+mj-lt"/>
              <a:buAutoNum type="arabicPeriod"/>
            </a:pPr>
            <a:r>
              <a:rPr lang="en-IN" dirty="0"/>
              <a:t>import </a:t>
            </a:r>
            <a:r>
              <a:rPr lang="en-IN" dirty="0" err="1"/>
              <a:t>package.classname</a:t>
            </a:r>
            <a:r>
              <a:rPr lang="en-IN" dirty="0"/>
              <a:t>;\</a:t>
            </a:r>
          </a:p>
          <a:p>
            <a:pPr marL="919163" lvl="1" indent="0">
              <a:buNone/>
            </a:pPr>
            <a:r>
              <a:rPr lang="en-IN" dirty="0"/>
              <a:t> import </a:t>
            </a:r>
            <a:r>
              <a:rPr lang="en-IN" dirty="0" err="1"/>
              <a:t>java.util.Scanner</a:t>
            </a:r>
            <a:r>
              <a:rPr lang="en-IN" dirty="0"/>
              <a:t>;</a:t>
            </a:r>
          </a:p>
          <a:p>
            <a:pPr marL="804863">
              <a:buFont typeface="+mj-lt"/>
              <a:buAutoNum type="arabicPeriod"/>
            </a:pPr>
            <a:r>
              <a:rPr lang="en-IN" dirty="0"/>
              <a:t>fully qualified name.</a:t>
            </a:r>
          </a:p>
          <a:p>
            <a:pPr marL="919163" lvl="1" indent="0">
              <a:buNone/>
            </a:pPr>
            <a:r>
              <a:rPr lang="en-IN" dirty="0" err="1"/>
              <a:t>java.util.Scanner</a:t>
            </a:r>
            <a:r>
              <a:rPr lang="en-IN" dirty="0"/>
              <a:t> </a:t>
            </a:r>
            <a:r>
              <a:rPr lang="en-IN" dirty="0" err="1"/>
              <a:t>sc</a:t>
            </a:r>
            <a:r>
              <a:rPr lang="en-IN" dirty="0"/>
              <a:t> = new </a:t>
            </a:r>
            <a:r>
              <a:rPr lang="en-IN" dirty="0" err="1"/>
              <a:t>java.util.Scanner</a:t>
            </a:r>
            <a:r>
              <a:rPr lang="en-IN" dirty="0"/>
              <a:t>();</a:t>
            </a:r>
          </a:p>
          <a:p>
            <a:pPr marL="804863">
              <a:buFont typeface="+mj-lt"/>
              <a:buAutoNum type="arabicPeriod"/>
            </a:pPr>
            <a:endParaRPr lang="en-IN" dirty="0"/>
          </a:p>
          <a:p>
            <a:pPr marL="0" indent="0">
              <a:buNone/>
            </a:pPr>
            <a:endParaRPr lang="en-US" b="1" dirty="0"/>
          </a:p>
          <a:p>
            <a:pPr marL="0" indent="0">
              <a:buNone/>
            </a:pPr>
            <a:endParaRPr lang="en-US" b="1" dirty="0"/>
          </a:p>
        </p:txBody>
      </p:sp>
    </p:spTree>
    <p:extLst>
      <p:ext uri="{BB962C8B-B14F-4D97-AF65-F5344CB8AC3E}">
        <p14:creationId xmlns:p14="http://schemas.microsoft.com/office/powerpoint/2010/main" val="33434988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lstStyle/>
          <a:p>
            <a:r>
              <a:rPr lang="en-US" dirty="0"/>
              <a:t>Exception Handling</a:t>
            </a:r>
            <a:endParaRPr lang="en-IN" dirty="0"/>
          </a:p>
        </p:txBody>
      </p:sp>
      <p:sp>
        <p:nvSpPr>
          <p:cNvPr id="3" name="Content Placeholder 2">
            <a:extLst>
              <a:ext uri="{FF2B5EF4-FFF2-40B4-BE49-F238E27FC236}">
                <a16:creationId xmlns:a16="http://schemas.microsoft.com/office/drawing/2014/main" id="{9D3D318B-A79D-4974-B751-6DD55EAA12B4}"/>
              </a:ext>
            </a:extLst>
          </p:cNvPr>
          <p:cNvSpPr>
            <a:spLocks noGrp="1"/>
          </p:cNvSpPr>
          <p:nvPr>
            <p:ph idx="1"/>
          </p:nvPr>
        </p:nvSpPr>
        <p:spPr>
          <a:xfrm>
            <a:off x="677334" y="1388125"/>
            <a:ext cx="8596668" cy="5255046"/>
          </a:xfrm>
        </p:spPr>
        <p:txBody>
          <a:bodyPr>
            <a:normAutofit/>
          </a:bodyPr>
          <a:lstStyle/>
          <a:p>
            <a:pPr marL="0" indent="0">
              <a:buNone/>
            </a:pPr>
            <a:r>
              <a:rPr lang="en-US" sz="2000" b="1" dirty="0"/>
              <a:t>What is Exception?</a:t>
            </a:r>
          </a:p>
          <a:p>
            <a:pPr>
              <a:buFont typeface="Wingdings" panose="05000000000000000000" pitchFamily="2" charset="2"/>
              <a:buChar char="Ø"/>
            </a:pPr>
            <a:r>
              <a:rPr lang="en-US" sz="2000" b="1" dirty="0"/>
              <a:t>	</a:t>
            </a:r>
            <a:r>
              <a:rPr lang="en-IN" sz="2000" dirty="0"/>
              <a:t>An Exception is an </a:t>
            </a:r>
            <a:r>
              <a:rPr lang="en-IN" sz="2000" b="1" u="sng" dirty="0"/>
              <a:t>unexpected event that interrupts the normal execution flow of the program</a:t>
            </a:r>
            <a:r>
              <a:rPr lang="en-IN" sz="2000" dirty="0"/>
              <a:t>. When an exception occurs program execution gets terminated.</a:t>
            </a:r>
          </a:p>
          <a:p>
            <a:pPr>
              <a:buFont typeface="Wingdings" panose="05000000000000000000" pitchFamily="2" charset="2"/>
              <a:buChar char="Ø"/>
            </a:pPr>
            <a:r>
              <a:rPr lang="en-IN" sz="2000" b="1" dirty="0"/>
              <a:t>	</a:t>
            </a:r>
            <a:r>
              <a:rPr lang="en-IN" sz="2000" dirty="0"/>
              <a:t>In such cases we get a system generated error message. </a:t>
            </a:r>
          </a:p>
          <a:p>
            <a:pPr>
              <a:buFont typeface="Wingdings" panose="05000000000000000000" pitchFamily="2" charset="2"/>
              <a:buChar char="Ø"/>
            </a:pPr>
            <a:r>
              <a:rPr lang="en-IN" sz="2000" dirty="0"/>
              <a:t>	The good thing about exceptions is that </a:t>
            </a:r>
            <a:r>
              <a:rPr lang="en-IN" sz="2000" b="1" u="sng" dirty="0"/>
              <a:t>they can be handled </a:t>
            </a:r>
            <a:r>
              <a:rPr lang="en-IN" sz="2000" dirty="0"/>
              <a:t>in Java. </a:t>
            </a:r>
          </a:p>
          <a:p>
            <a:pPr>
              <a:buFont typeface="Wingdings" panose="05000000000000000000" pitchFamily="2" charset="2"/>
              <a:buChar char="Ø"/>
            </a:pPr>
            <a:r>
              <a:rPr lang="en-IN" sz="2000" dirty="0"/>
              <a:t>	By handling the exceptions we can provide a meaningful message to the user 	about the issue rather than a system generated message, which may not be understandable by user.</a:t>
            </a:r>
          </a:p>
          <a:p>
            <a:pPr>
              <a:buFont typeface="Wingdings" panose="05000000000000000000" pitchFamily="2" charset="2"/>
              <a:buChar char="Ø"/>
            </a:pPr>
            <a:endParaRPr lang="en-IN" b="1" dirty="0"/>
          </a:p>
          <a:p>
            <a:pPr marL="800100" lvl="1" indent="-342900">
              <a:buFont typeface="+mj-lt"/>
              <a:buAutoNum type="arabicPeriod"/>
            </a:pPr>
            <a:endParaRPr lang="en-US" sz="1800" b="1" dirty="0"/>
          </a:p>
        </p:txBody>
      </p:sp>
    </p:spTree>
    <p:extLst>
      <p:ext uri="{BB962C8B-B14F-4D97-AF65-F5344CB8AC3E}">
        <p14:creationId xmlns:p14="http://schemas.microsoft.com/office/powerpoint/2010/main" val="31032971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lstStyle/>
          <a:p>
            <a:r>
              <a:rPr lang="en-US" dirty="0"/>
              <a:t>Exception Handling</a:t>
            </a:r>
            <a:endParaRPr lang="en-IN" dirty="0"/>
          </a:p>
        </p:txBody>
      </p:sp>
      <p:sp>
        <p:nvSpPr>
          <p:cNvPr id="3" name="Content Placeholder 2">
            <a:extLst>
              <a:ext uri="{FF2B5EF4-FFF2-40B4-BE49-F238E27FC236}">
                <a16:creationId xmlns:a16="http://schemas.microsoft.com/office/drawing/2014/main" id="{9D3D318B-A79D-4974-B751-6DD55EAA12B4}"/>
              </a:ext>
            </a:extLst>
          </p:cNvPr>
          <p:cNvSpPr>
            <a:spLocks noGrp="1"/>
          </p:cNvSpPr>
          <p:nvPr>
            <p:ph idx="1"/>
          </p:nvPr>
        </p:nvSpPr>
        <p:spPr>
          <a:xfrm>
            <a:off x="677334" y="1388125"/>
            <a:ext cx="8596668" cy="5255046"/>
          </a:xfrm>
        </p:spPr>
        <p:txBody>
          <a:bodyPr>
            <a:normAutofit/>
          </a:bodyPr>
          <a:lstStyle/>
          <a:p>
            <a:pPr>
              <a:buFont typeface="Wingdings" panose="05000000000000000000" pitchFamily="2" charset="2"/>
              <a:buChar char="Ø"/>
            </a:pPr>
            <a:endParaRPr lang="en-IN" b="1" dirty="0"/>
          </a:p>
          <a:p>
            <a:pPr marL="0" indent="0">
              <a:buNone/>
            </a:pPr>
            <a:r>
              <a:rPr lang="en-IN" sz="2000" b="1" dirty="0"/>
              <a:t>Why Exception occurs?</a:t>
            </a:r>
          </a:p>
          <a:p>
            <a:pPr>
              <a:buFont typeface="Wingdings" panose="05000000000000000000" pitchFamily="2" charset="2"/>
              <a:buChar char="Ø"/>
            </a:pPr>
            <a:r>
              <a:rPr lang="en-IN" sz="2000" dirty="0"/>
              <a:t>There can be several reasons that can cause a program to throw exception. </a:t>
            </a:r>
          </a:p>
          <a:p>
            <a:pPr>
              <a:buFont typeface="Wingdings" panose="05000000000000000000" pitchFamily="2" charset="2"/>
              <a:buChar char="Ø"/>
            </a:pPr>
            <a:r>
              <a:rPr lang="en-IN" sz="2000" dirty="0"/>
              <a:t>For example: </a:t>
            </a:r>
          </a:p>
          <a:p>
            <a:pPr marL="800100" lvl="1" indent="-342900">
              <a:buFont typeface="+mj-lt"/>
              <a:buAutoNum type="arabicPeriod"/>
            </a:pPr>
            <a:r>
              <a:rPr lang="en-IN" sz="2000" dirty="0"/>
              <a:t>Opening a non-existing file in your program</a:t>
            </a:r>
          </a:p>
          <a:p>
            <a:pPr marL="800100" lvl="1" indent="-342900">
              <a:buFont typeface="+mj-lt"/>
              <a:buAutoNum type="arabicPeriod"/>
            </a:pPr>
            <a:r>
              <a:rPr lang="en-IN" sz="2000" dirty="0"/>
              <a:t>Bad input data provided by user.</a:t>
            </a:r>
          </a:p>
          <a:p>
            <a:pPr marL="800100" lvl="1" indent="-342900">
              <a:buFont typeface="+mj-lt"/>
              <a:buAutoNum type="arabicPeriod"/>
            </a:pPr>
            <a:r>
              <a:rPr lang="en-IN" sz="2000" dirty="0"/>
              <a:t>Accessing the array elements out of the index range.</a:t>
            </a:r>
          </a:p>
          <a:p>
            <a:pPr marL="800100" lvl="1" indent="-342900">
              <a:buFont typeface="+mj-lt"/>
              <a:buAutoNum type="arabicPeriod"/>
            </a:pPr>
            <a:endParaRPr lang="en-US" sz="1800" b="1" dirty="0"/>
          </a:p>
        </p:txBody>
      </p:sp>
    </p:spTree>
    <p:extLst>
      <p:ext uri="{BB962C8B-B14F-4D97-AF65-F5344CB8AC3E}">
        <p14:creationId xmlns:p14="http://schemas.microsoft.com/office/powerpoint/2010/main" val="38703093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normAutofit/>
          </a:bodyPr>
          <a:lstStyle/>
          <a:p>
            <a:r>
              <a:rPr lang="en-US" sz="3200" dirty="0"/>
              <a:t>Syntax for Handling Exception</a:t>
            </a:r>
            <a:endParaRPr lang="en-IN" sz="3200" dirty="0"/>
          </a:p>
        </p:txBody>
      </p:sp>
      <p:sp>
        <p:nvSpPr>
          <p:cNvPr id="4" name="Content Placeholder 3">
            <a:extLst>
              <a:ext uri="{FF2B5EF4-FFF2-40B4-BE49-F238E27FC236}">
                <a16:creationId xmlns:a16="http://schemas.microsoft.com/office/drawing/2014/main" id="{B3003949-DB4D-4A41-A0D5-E07512618372}"/>
              </a:ext>
            </a:extLst>
          </p:cNvPr>
          <p:cNvSpPr>
            <a:spLocks noGrp="1"/>
          </p:cNvSpPr>
          <p:nvPr>
            <p:ph idx="1"/>
          </p:nvPr>
        </p:nvSpPr>
        <p:spPr>
          <a:xfrm>
            <a:off x="677334" y="1388125"/>
            <a:ext cx="8873066" cy="5063475"/>
          </a:xfrm>
        </p:spPr>
        <p:txBody>
          <a:bodyPr>
            <a:normAutofit/>
          </a:bodyPr>
          <a:lstStyle/>
          <a:p>
            <a:pPr marL="0" indent="0">
              <a:buNone/>
            </a:pPr>
            <a:r>
              <a:rPr lang="en-US" sz="2000" b="1" u="sng" dirty="0"/>
              <a:t>Syntax:</a:t>
            </a:r>
          </a:p>
          <a:p>
            <a:pPr marL="0" indent="0">
              <a:buNone/>
            </a:pPr>
            <a:r>
              <a:rPr lang="en-US" dirty="0"/>
              <a:t>try{</a:t>
            </a:r>
          </a:p>
          <a:p>
            <a:pPr marL="0" indent="0">
              <a:buNone/>
            </a:pPr>
            <a:r>
              <a:rPr lang="en-US" dirty="0"/>
              <a:t>// code snippet which causes exception</a:t>
            </a:r>
          </a:p>
          <a:p>
            <a:pPr marL="0" indent="0">
              <a:buNone/>
            </a:pPr>
            <a:r>
              <a:rPr lang="en-US" dirty="0"/>
              <a:t>}catch(</a:t>
            </a:r>
            <a:r>
              <a:rPr lang="en-US" dirty="0" err="1"/>
              <a:t>approriate</a:t>
            </a:r>
            <a:r>
              <a:rPr lang="en-US" dirty="0"/>
              <a:t> exception a){</a:t>
            </a:r>
          </a:p>
          <a:p>
            <a:pPr marL="0" indent="0">
              <a:buNone/>
            </a:pPr>
            <a:r>
              <a:rPr lang="en-US" dirty="0" err="1"/>
              <a:t>System.out.println</a:t>
            </a:r>
            <a:r>
              <a:rPr lang="en-US" dirty="0"/>
              <a:t>(“Exception </a:t>
            </a:r>
            <a:r>
              <a:rPr lang="en-US" dirty="0" err="1"/>
              <a:t>occured</a:t>
            </a:r>
            <a:r>
              <a:rPr lang="en-US" dirty="0"/>
              <a:t>”);</a:t>
            </a:r>
          </a:p>
          <a:p>
            <a:pPr marL="0" indent="0">
              <a:buNone/>
            </a:pPr>
            <a:r>
              <a:rPr lang="en-US" dirty="0"/>
              <a:t>}</a:t>
            </a:r>
          </a:p>
          <a:p>
            <a:pPr marL="0" indent="0">
              <a:buNone/>
            </a:pPr>
            <a:r>
              <a:rPr lang="en-US" sz="2000" b="1" u="sng" dirty="0"/>
              <a:t>Ex:</a:t>
            </a:r>
          </a:p>
          <a:p>
            <a:pPr marL="400050" lvl="1" indent="0">
              <a:buNone/>
            </a:pPr>
            <a:r>
              <a:rPr lang="en-US" sz="1800" dirty="0"/>
              <a:t>try{</a:t>
            </a:r>
          </a:p>
          <a:p>
            <a:pPr marL="400050" lvl="1" indent="0">
              <a:buNone/>
            </a:pPr>
            <a:r>
              <a:rPr lang="en-US" sz="1800" dirty="0"/>
              <a:t>A = 10/0;</a:t>
            </a:r>
          </a:p>
          <a:p>
            <a:pPr marL="400050" lvl="1" indent="0">
              <a:buNone/>
            </a:pPr>
            <a:r>
              <a:rPr lang="en-IN" sz="1800" dirty="0"/>
              <a:t>}catch(</a:t>
            </a:r>
            <a:r>
              <a:rPr lang="en-IN" sz="1800" dirty="0" err="1"/>
              <a:t>ArithmeticException</a:t>
            </a:r>
            <a:r>
              <a:rPr lang="en-IN" sz="1800" dirty="0"/>
              <a:t> ae){</a:t>
            </a:r>
          </a:p>
          <a:p>
            <a:pPr marL="400050" lvl="1" indent="0">
              <a:buNone/>
            </a:pPr>
            <a:r>
              <a:rPr lang="en-IN" sz="1800" dirty="0" err="1"/>
              <a:t>System.out.println</a:t>
            </a:r>
            <a:r>
              <a:rPr lang="en-IN" sz="1800" dirty="0"/>
              <a:t>(“Divided by zero exception </a:t>
            </a:r>
            <a:r>
              <a:rPr lang="en-IN" sz="1800" dirty="0" err="1"/>
              <a:t>occured</a:t>
            </a:r>
            <a:r>
              <a:rPr lang="en-IN" sz="1800" dirty="0"/>
              <a:t>”);</a:t>
            </a:r>
          </a:p>
          <a:p>
            <a:pPr marL="400050" lvl="1" indent="0">
              <a:buNone/>
            </a:pPr>
            <a:r>
              <a:rPr lang="en-IN" sz="1800" dirty="0"/>
              <a:t>}</a:t>
            </a:r>
          </a:p>
        </p:txBody>
      </p:sp>
    </p:spTree>
    <p:extLst>
      <p:ext uri="{BB962C8B-B14F-4D97-AF65-F5344CB8AC3E}">
        <p14:creationId xmlns:p14="http://schemas.microsoft.com/office/powerpoint/2010/main" val="41436697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normAutofit/>
          </a:bodyPr>
          <a:lstStyle/>
          <a:p>
            <a:r>
              <a:rPr lang="en-US" sz="3200" dirty="0"/>
              <a:t>System vs User generated Exception Message</a:t>
            </a:r>
            <a:endParaRPr lang="en-IN" sz="3200" dirty="0"/>
          </a:p>
        </p:txBody>
      </p:sp>
      <p:pic>
        <p:nvPicPr>
          <p:cNvPr id="5" name="Content Placeholder 4">
            <a:extLst>
              <a:ext uri="{FF2B5EF4-FFF2-40B4-BE49-F238E27FC236}">
                <a16:creationId xmlns:a16="http://schemas.microsoft.com/office/drawing/2014/main" id="{DEE0F955-8592-4566-B63A-2F6EA8B0BD76}"/>
              </a:ext>
            </a:extLst>
          </p:cNvPr>
          <p:cNvPicPr>
            <a:picLocks noGrp="1" noChangeAspect="1"/>
          </p:cNvPicPr>
          <p:nvPr>
            <p:ph idx="1"/>
          </p:nvPr>
        </p:nvPicPr>
        <p:blipFill>
          <a:blip r:embed="rId2"/>
          <a:stretch>
            <a:fillRect/>
          </a:stretch>
        </p:blipFill>
        <p:spPr>
          <a:xfrm>
            <a:off x="880269" y="2068670"/>
            <a:ext cx="9425692" cy="1783239"/>
          </a:xfrm>
          <a:prstGeom prst="rect">
            <a:avLst/>
          </a:prstGeom>
        </p:spPr>
      </p:pic>
      <p:sp>
        <p:nvSpPr>
          <p:cNvPr id="6" name="TextBox 5">
            <a:extLst>
              <a:ext uri="{FF2B5EF4-FFF2-40B4-BE49-F238E27FC236}">
                <a16:creationId xmlns:a16="http://schemas.microsoft.com/office/drawing/2014/main" id="{49191245-6A63-49D7-A888-8830AE3C6E7E}"/>
              </a:ext>
            </a:extLst>
          </p:cNvPr>
          <p:cNvSpPr txBox="1"/>
          <p:nvPr/>
        </p:nvSpPr>
        <p:spPr>
          <a:xfrm>
            <a:off x="1280160" y="1497330"/>
            <a:ext cx="6675120" cy="369332"/>
          </a:xfrm>
          <a:prstGeom prst="rect">
            <a:avLst/>
          </a:prstGeom>
          <a:noFill/>
        </p:spPr>
        <p:txBody>
          <a:bodyPr wrap="square" rtlCol="0">
            <a:spAutoFit/>
          </a:bodyPr>
          <a:lstStyle/>
          <a:p>
            <a:r>
              <a:rPr lang="en-US" u="sng" dirty="0"/>
              <a:t>The below is the system generated exception</a:t>
            </a:r>
            <a:endParaRPr lang="en-IN" u="sng" dirty="0"/>
          </a:p>
        </p:txBody>
      </p:sp>
      <p:sp>
        <p:nvSpPr>
          <p:cNvPr id="7" name="TextBox 6">
            <a:extLst>
              <a:ext uri="{FF2B5EF4-FFF2-40B4-BE49-F238E27FC236}">
                <a16:creationId xmlns:a16="http://schemas.microsoft.com/office/drawing/2014/main" id="{DDAFE5D5-5777-4FA9-910A-74B09481C6A0}"/>
              </a:ext>
            </a:extLst>
          </p:cNvPr>
          <p:cNvSpPr txBox="1"/>
          <p:nvPr/>
        </p:nvSpPr>
        <p:spPr>
          <a:xfrm>
            <a:off x="1043094" y="4347788"/>
            <a:ext cx="6675120" cy="954107"/>
          </a:xfrm>
          <a:prstGeom prst="rect">
            <a:avLst/>
          </a:prstGeom>
          <a:noFill/>
        </p:spPr>
        <p:txBody>
          <a:bodyPr wrap="square" rtlCol="0">
            <a:spAutoFit/>
          </a:bodyPr>
          <a:lstStyle/>
          <a:p>
            <a:r>
              <a:rPr lang="en-US" u="sng" dirty="0"/>
              <a:t>The below is the user defined exception message</a:t>
            </a:r>
          </a:p>
          <a:p>
            <a:endParaRPr lang="en-US" dirty="0"/>
          </a:p>
          <a:p>
            <a:r>
              <a:rPr lang="en-US" dirty="0"/>
              <a:t>	The number is divided by zero on line no 5.</a:t>
            </a:r>
            <a:endParaRPr lang="en-IN" dirty="0"/>
          </a:p>
        </p:txBody>
      </p:sp>
    </p:spTree>
    <p:extLst>
      <p:ext uri="{BB962C8B-B14F-4D97-AF65-F5344CB8AC3E}">
        <p14:creationId xmlns:p14="http://schemas.microsoft.com/office/powerpoint/2010/main" val="41824664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lstStyle/>
          <a:p>
            <a:r>
              <a:rPr lang="en-US" dirty="0"/>
              <a:t>Types of Exception</a:t>
            </a:r>
            <a:endParaRPr lang="en-IN" dirty="0"/>
          </a:p>
        </p:txBody>
      </p:sp>
      <p:sp>
        <p:nvSpPr>
          <p:cNvPr id="4" name="Content Placeholder 3">
            <a:extLst>
              <a:ext uri="{FF2B5EF4-FFF2-40B4-BE49-F238E27FC236}">
                <a16:creationId xmlns:a16="http://schemas.microsoft.com/office/drawing/2014/main" id="{279BFEF5-7A0D-4EDD-AD62-3A068A1BF9E9}"/>
              </a:ext>
            </a:extLst>
          </p:cNvPr>
          <p:cNvSpPr>
            <a:spLocks noGrp="1"/>
          </p:cNvSpPr>
          <p:nvPr>
            <p:ph idx="1"/>
          </p:nvPr>
        </p:nvSpPr>
        <p:spPr>
          <a:xfrm>
            <a:off x="591403" y="1521664"/>
            <a:ext cx="8596668" cy="4923204"/>
          </a:xfrm>
        </p:spPr>
        <p:txBody>
          <a:bodyPr>
            <a:normAutofit fontScale="92500" lnSpcReduction="10000"/>
          </a:bodyPr>
          <a:lstStyle/>
          <a:p>
            <a:pPr marL="0" lvl="3" indent="0">
              <a:buNone/>
            </a:pPr>
            <a:r>
              <a:rPr lang="en-US" sz="2000" b="1" dirty="0"/>
              <a:t>Two Types:</a:t>
            </a:r>
          </a:p>
          <a:p>
            <a:pPr marL="628650" lvl="3" indent="-342900">
              <a:buFont typeface="+mj-lt"/>
              <a:buAutoNum type="arabicPeriod"/>
            </a:pPr>
            <a:r>
              <a:rPr lang="en-US" sz="1800" dirty="0"/>
              <a:t>Checked Exception / Compile time exception</a:t>
            </a:r>
          </a:p>
          <a:p>
            <a:pPr marL="628650" lvl="3" indent="-342900">
              <a:buFont typeface="+mj-lt"/>
              <a:buAutoNum type="arabicPeriod"/>
            </a:pPr>
            <a:r>
              <a:rPr lang="en-US" sz="1800" dirty="0"/>
              <a:t>Unchecked Exception  / Runtime exception</a:t>
            </a:r>
          </a:p>
          <a:p>
            <a:pPr marL="0" lvl="3" indent="0">
              <a:buNone/>
            </a:pPr>
            <a:endParaRPr lang="en-IN" sz="1800" dirty="0"/>
          </a:p>
          <a:p>
            <a:pPr marL="0" lvl="3" indent="0">
              <a:buNone/>
            </a:pPr>
            <a:r>
              <a:rPr lang="en-IN" sz="2000" b="1" dirty="0"/>
              <a:t>Checked Exception</a:t>
            </a:r>
          </a:p>
          <a:p>
            <a:pPr marL="285750" lvl="3" indent="-285750">
              <a:buFont typeface="Wingdings" panose="05000000000000000000" pitchFamily="2" charset="2"/>
              <a:buChar char="Ø"/>
            </a:pPr>
            <a:r>
              <a:rPr lang="en-IN" sz="1600" dirty="0"/>
              <a:t>The compiler checks the programme during compilation to see whether the programmer has handled them or not. </a:t>
            </a:r>
          </a:p>
          <a:p>
            <a:pPr marL="285750" lvl="3" indent="-285750">
              <a:buFont typeface="Wingdings" panose="05000000000000000000" pitchFamily="2" charset="2"/>
              <a:buChar char="Ø"/>
            </a:pPr>
            <a:r>
              <a:rPr lang="en-IN" sz="1600" dirty="0"/>
              <a:t>If these exceptions are not handled/declared in the program, you will get compilation error. For example, </a:t>
            </a:r>
            <a:r>
              <a:rPr lang="en-IN" sz="1600" dirty="0" err="1"/>
              <a:t>SQLException</a:t>
            </a:r>
            <a:r>
              <a:rPr lang="en-IN" sz="1600" dirty="0"/>
              <a:t>, </a:t>
            </a:r>
            <a:r>
              <a:rPr lang="en-IN" sz="1600" dirty="0" err="1"/>
              <a:t>IOException</a:t>
            </a:r>
            <a:r>
              <a:rPr lang="en-IN" sz="1600" dirty="0"/>
              <a:t>, </a:t>
            </a:r>
            <a:r>
              <a:rPr lang="en-IN" sz="1600" dirty="0" err="1"/>
              <a:t>ClassNotFoundException</a:t>
            </a:r>
            <a:r>
              <a:rPr lang="en-IN" sz="1600" dirty="0"/>
              <a:t> etc</a:t>
            </a:r>
          </a:p>
          <a:p>
            <a:pPr marL="285750" lvl="3" indent="-285750">
              <a:buFont typeface="Wingdings" panose="05000000000000000000" pitchFamily="2" charset="2"/>
              <a:buChar char="Ø"/>
            </a:pPr>
            <a:r>
              <a:rPr lang="en-IN" sz="1600" dirty="0"/>
              <a:t>All exceptions other than Runtime Exceptions are known as Checked exceptions as </a:t>
            </a:r>
          </a:p>
          <a:p>
            <a:pPr marL="0" lvl="3" indent="0">
              <a:buNone/>
            </a:pPr>
            <a:endParaRPr lang="en-IN" sz="1800" dirty="0"/>
          </a:p>
          <a:p>
            <a:pPr marL="0" lvl="3" indent="0">
              <a:buNone/>
            </a:pPr>
            <a:r>
              <a:rPr lang="en-IN" sz="1900" b="1" dirty="0"/>
              <a:t>Unchecked Exception</a:t>
            </a:r>
          </a:p>
          <a:p>
            <a:pPr marL="285750" lvl="3" indent="-285750">
              <a:buFont typeface="Wingdings" panose="05000000000000000000" pitchFamily="2" charset="2"/>
              <a:buChar char="Ø"/>
            </a:pPr>
            <a:r>
              <a:rPr lang="en-IN" sz="1700" dirty="0"/>
              <a:t>These exceptions are not checked at compile-time so compiler does not check whether the programmer has handled them or not.</a:t>
            </a:r>
          </a:p>
          <a:p>
            <a:pPr marL="285750" lvl="3" indent="-285750">
              <a:buFont typeface="Wingdings" panose="05000000000000000000" pitchFamily="2" charset="2"/>
              <a:buChar char="Ø"/>
            </a:pPr>
            <a:r>
              <a:rPr lang="en-IN" sz="1700" dirty="0"/>
              <a:t>Runtime Exceptions are also known as Unchecked Exceptions.</a:t>
            </a:r>
          </a:p>
        </p:txBody>
      </p:sp>
    </p:spTree>
    <p:extLst>
      <p:ext uri="{BB962C8B-B14F-4D97-AF65-F5344CB8AC3E}">
        <p14:creationId xmlns:p14="http://schemas.microsoft.com/office/powerpoint/2010/main" val="6953010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728134" y="152400"/>
            <a:ext cx="8596668" cy="778525"/>
          </a:xfrm>
        </p:spPr>
        <p:txBody>
          <a:bodyPr/>
          <a:lstStyle/>
          <a:p>
            <a:r>
              <a:rPr lang="en-US" dirty="0"/>
              <a:t>Hierarchy of Exception Class</a:t>
            </a:r>
            <a:endParaRPr lang="en-IN" dirty="0"/>
          </a:p>
        </p:txBody>
      </p:sp>
      <p:pic>
        <p:nvPicPr>
          <p:cNvPr id="2050" name="Picture 2" descr="hierarchy of exception handling">
            <a:extLst>
              <a:ext uri="{FF2B5EF4-FFF2-40B4-BE49-F238E27FC236}">
                <a16:creationId xmlns:a16="http://schemas.microsoft.com/office/drawing/2014/main" id="{72A8E009-CE7F-4D45-89D9-41EE3235B5A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18631" y="882806"/>
            <a:ext cx="7327115" cy="6107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88150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F380612-642C-7B3C-B8EB-5C93179F48AF}"/>
              </a:ext>
            </a:extLst>
          </p:cNvPr>
          <p:cNvPicPr>
            <a:picLocks noGrp="1" noChangeAspect="1"/>
          </p:cNvPicPr>
          <p:nvPr>
            <p:ph idx="1"/>
          </p:nvPr>
        </p:nvPicPr>
        <p:blipFill>
          <a:blip r:embed="rId2"/>
          <a:stretch>
            <a:fillRect/>
          </a:stretch>
        </p:blipFill>
        <p:spPr>
          <a:xfrm>
            <a:off x="797443" y="325959"/>
            <a:ext cx="7998228" cy="5609741"/>
          </a:xfrm>
        </p:spPr>
      </p:pic>
    </p:spTree>
    <p:extLst>
      <p:ext uri="{BB962C8B-B14F-4D97-AF65-F5344CB8AC3E}">
        <p14:creationId xmlns:p14="http://schemas.microsoft.com/office/powerpoint/2010/main" val="6174394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591403" y="99237"/>
            <a:ext cx="8596668" cy="778525"/>
          </a:xfrm>
        </p:spPr>
        <p:txBody>
          <a:bodyPr>
            <a:normAutofit/>
          </a:bodyPr>
          <a:lstStyle/>
          <a:p>
            <a:r>
              <a:rPr lang="en-US" dirty="0"/>
              <a:t>Difference between Error and Exception</a:t>
            </a:r>
            <a:endParaRPr lang="en-IN" dirty="0"/>
          </a:p>
        </p:txBody>
      </p:sp>
      <p:sp>
        <p:nvSpPr>
          <p:cNvPr id="4" name="Content Placeholder 3">
            <a:extLst>
              <a:ext uri="{FF2B5EF4-FFF2-40B4-BE49-F238E27FC236}">
                <a16:creationId xmlns:a16="http://schemas.microsoft.com/office/drawing/2014/main" id="{279BFEF5-7A0D-4EDD-AD62-3A068A1BF9E9}"/>
              </a:ext>
            </a:extLst>
          </p:cNvPr>
          <p:cNvSpPr>
            <a:spLocks noGrp="1"/>
          </p:cNvSpPr>
          <p:nvPr>
            <p:ph idx="1"/>
          </p:nvPr>
        </p:nvSpPr>
        <p:spPr>
          <a:xfrm>
            <a:off x="591402" y="967398"/>
            <a:ext cx="9009797" cy="5507830"/>
          </a:xfrm>
        </p:spPr>
        <p:txBody>
          <a:bodyPr>
            <a:noAutofit/>
          </a:bodyPr>
          <a:lstStyle/>
          <a:p>
            <a:pPr marL="0" lvl="3" indent="0">
              <a:buNone/>
            </a:pPr>
            <a:r>
              <a:rPr lang="en-US" sz="1800" b="1" u="sng" dirty="0"/>
              <a:t>Error:</a:t>
            </a:r>
          </a:p>
          <a:p>
            <a:pPr marL="715963" lvl="3" indent="-285750">
              <a:buFont typeface="Wingdings" panose="05000000000000000000" pitchFamily="2" charset="2"/>
              <a:buChar char="Ø"/>
            </a:pPr>
            <a:r>
              <a:rPr lang="en-IN" sz="1800" dirty="0"/>
              <a:t>Indicate that something severe enough has gone wrong.</a:t>
            </a:r>
          </a:p>
          <a:p>
            <a:pPr marL="715963" lvl="3" indent="-285750">
              <a:buFont typeface="Wingdings" panose="05000000000000000000" pitchFamily="2" charset="2"/>
              <a:buChar char="Ø"/>
            </a:pPr>
            <a:r>
              <a:rPr lang="en-IN" sz="1800" dirty="0"/>
              <a:t>The application should crash rather than try to handle the error.</a:t>
            </a:r>
          </a:p>
          <a:p>
            <a:pPr marL="1173163" lvl="4" indent="-285750">
              <a:buFont typeface="Wingdings" panose="05000000000000000000" pitchFamily="2" charset="2"/>
              <a:buChar char="Ø"/>
            </a:pPr>
            <a:r>
              <a:rPr lang="en-IN" sz="1800" dirty="0"/>
              <a:t>Ex:</a:t>
            </a:r>
          </a:p>
          <a:p>
            <a:pPr marL="1173163" lvl="4" indent="-285750">
              <a:buFont typeface="Wingdings" panose="05000000000000000000" pitchFamily="2" charset="2"/>
              <a:buChar char="Ø"/>
            </a:pPr>
            <a:r>
              <a:rPr lang="en-IN" sz="1800" dirty="0"/>
              <a:t>Memory out of the error</a:t>
            </a:r>
          </a:p>
          <a:p>
            <a:pPr marL="1173163" lvl="4" indent="-285750">
              <a:buFont typeface="Wingdings" panose="05000000000000000000" pitchFamily="2" charset="2"/>
              <a:buChar char="Ø"/>
            </a:pPr>
            <a:r>
              <a:rPr lang="en-IN" sz="1800" dirty="0"/>
              <a:t>Stack Trace Error</a:t>
            </a:r>
          </a:p>
          <a:p>
            <a:pPr marL="430213" lvl="3" indent="0">
              <a:buNone/>
            </a:pPr>
            <a:endParaRPr lang="en-IN" sz="1800" b="1" u="sng" dirty="0"/>
          </a:p>
          <a:p>
            <a:pPr marL="0" lvl="3" indent="0">
              <a:buNone/>
            </a:pPr>
            <a:r>
              <a:rPr lang="en-IN" sz="1800" b="1" u="sng" dirty="0"/>
              <a:t>Exceptions </a:t>
            </a:r>
          </a:p>
          <a:p>
            <a:pPr marL="715963" lvl="3" indent="-285750">
              <a:buFont typeface="Wingdings" panose="05000000000000000000" pitchFamily="2" charset="2"/>
              <a:buChar char="Ø"/>
            </a:pPr>
            <a:r>
              <a:rPr lang="en-IN" sz="1800" dirty="0"/>
              <a:t>They are events that occurs in the code. </a:t>
            </a:r>
          </a:p>
          <a:p>
            <a:pPr marL="715963" lvl="3" indent="-285750">
              <a:buFont typeface="Wingdings" panose="05000000000000000000" pitchFamily="2" charset="2"/>
              <a:buChar char="Ø"/>
            </a:pPr>
            <a:r>
              <a:rPr lang="en-IN" sz="1800" dirty="0"/>
              <a:t>A programmer can handle such conditions and take necessary corrective actions</a:t>
            </a:r>
          </a:p>
          <a:p>
            <a:pPr marL="715963" lvl="3" indent="-285750">
              <a:buFont typeface="Wingdings" panose="05000000000000000000" pitchFamily="2" charset="2"/>
              <a:buChar char="Ø"/>
            </a:pPr>
            <a:r>
              <a:rPr lang="en-IN" sz="1800" dirty="0" err="1"/>
              <a:t>E.x</a:t>
            </a:r>
            <a:r>
              <a:rPr lang="en-IN" sz="1800" dirty="0"/>
              <a:t>: </a:t>
            </a:r>
          </a:p>
          <a:p>
            <a:pPr marL="1230313" lvl="4" indent="-342900">
              <a:buFont typeface="+mj-lt"/>
              <a:buAutoNum type="arabicPeriod"/>
            </a:pPr>
            <a:r>
              <a:rPr lang="en-IN" sz="1800" dirty="0"/>
              <a:t>Arithmetic Exception</a:t>
            </a:r>
          </a:p>
          <a:p>
            <a:pPr marL="1230313" lvl="4" indent="-342900">
              <a:buFont typeface="+mj-lt"/>
              <a:buAutoNum type="arabicPeriod"/>
            </a:pPr>
            <a:r>
              <a:rPr lang="en-IN" sz="1800" dirty="0" err="1"/>
              <a:t>IOException</a:t>
            </a:r>
            <a:endParaRPr lang="en-IN" sz="1800" dirty="0"/>
          </a:p>
          <a:p>
            <a:pPr marL="1230313" lvl="4" indent="-342900">
              <a:buFont typeface="+mj-lt"/>
              <a:buAutoNum type="arabicPeriod"/>
            </a:pPr>
            <a:r>
              <a:rPr lang="en-IN" sz="1800" dirty="0" err="1"/>
              <a:t>NullPointer</a:t>
            </a:r>
            <a:r>
              <a:rPr lang="en-IN" sz="1800" dirty="0"/>
              <a:t> Exception</a:t>
            </a:r>
          </a:p>
        </p:txBody>
      </p:sp>
    </p:spTree>
    <p:extLst>
      <p:ext uri="{BB962C8B-B14F-4D97-AF65-F5344CB8AC3E}">
        <p14:creationId xmlns:p14="http://schemas.microsoft.com/office/powerpoint/2010/main" val="8517776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B6CE3-459E-7687-C528-7C30CCB70FA4}"/>
              </a:ext>
            </a:extLst>
          </p:cNvPr>
          <p:cNvSpPr>
            <a:spLocks noGrp="1"/>
          </p:cNvSpPr>
          <p:nvPr>
            <p:ph type="title"/>
          </p:nvPr>
        </p:nvSpPr>
        <p:spPr>
          <a:xfrm>
            <a:off x="677334" y="258725"/>
            <a:ext cx="8596668" cy="655674"/>
          </a:xfrm>
        </p:spPr>
        <p:txBody>
          <a:bodyPr>
            <a:normAutofit/>
          </a:bodyPr>
          <a:lstStyle/>
          <a:p>
            <a:r>
              <a:rPr lang="en-IN" dirty="0"/>
              <a:t>Multithreading</a:t>
            </a:r>
          </a:p>
        </p:txBody>
      </p:sp>
      <p:sp>
        <p:nvSpPr>
          <p:cNvPr id="3" name="Content Placeholder 2">
            <a:extLst>
              <a:ext uri="{FF2B5EF4-FFF2-40B4-BE49-F238E27FC236}">
                <a16:creationId xmlns:a16="http://schemas.microsoft.com/office/drawing/2014/main" id="{3F46CC1E-3342-0A0E-08CF-610EFF22F480}"/>
              </a:ext>
            </a:extLst>
          </p:cNvPr>
          <p:cNvSpPr>
            <a:spLocks noGrp="1"/>
          </p:cNvSpPr>
          <p:nvPr>
            <p:ph idx="1"/>
          </p:nvPr>
        </p:nvSpPr>
        <p:spPr>
          <a:xfrm>
            <a:off x="677334" y="1105787"/>
            <a:ext cx="8596668" cy="4935576"/>
          </a:xfrm>
        </p:spPr>
        <p:txBody>
          <a:bodyPr>
            <a:normAutofit/>
          </a:bodyPr>
          <a:lstStyle/>
          <a:p>
            <a:pPr marL="0" indent="0">
              <a:buNone/>
            </a:pPr>
            <a:r>
              <a:rPr lang="en-US" sz="2000" b="0" i="0" dirty="0">
                <a:solidFill>
                  <a:srgbClr val="273239"/>
                </a:solidFill>
                <a:effectLst/>
                <a:latin typeface="Nunito" pitchFamily="2" charset="0"/>
              </a:rPr>
              <a:t>Multithreading is a Java feature that allows concurrent execution of two or more parts of a program for maximum utilization of CPU. Each part of such program is called a thread. So, threads are light-weight processes within a process.</a:t>
            </a:r>
          </a:p>
          <a:p>
            <a:pPr marL="0" indent="0" algn="just" fontAlgn="base">
              <a:buNone/>
            </a:pPr>
            <a:r>
              <a:rPr lang="en-US" sz="2000" b="0" i="0" dirty="0" err="1">
                <a:solidFill>
                  <a:srgbClr val="273239"/>
                </a:solidFill>
                <a:effectLst/>
                <a:latin typeface="Nunito" pitchFamily="2" charset="0"/>
              </a:rPr>
              <a:t>hreads</a:t>
            </a:r>
            <a:r>
              <a:rPr lang="en-US" sz="2000" b="0" i="0" dirty="0">
                <a:solidFill>
                  <a:srgbClr val="273239"/>
                </a:solidFill>
                <a:effectLst/>
                <a:latin typeface="Nunito" pitchFamily="2" charset="0"/>
              </a:rPr>
              <a:t> can be created by using </a:t>
            </a:r>
            <a:r>
              <a:rPr lang="en-US" sz="2000" b="1" i="0" u="sng" dirty="0">
                <a:solidFill>
                  <a:srgbClr val="273239"/>
                </a:solidFill>
                <a:effectLst/>
                <a:latin typeface="Nunito" pitchFamily="2" charset="0"/>
              </a:rPr>
              <a:t>two mechanisms </a:t>
            </a:r>
            <a:r>
              <a:rPr lang="en-US" sz="2000" b="0" i="0" dirty="0">
                <a:solidFill>
                  <a:srgbClr val="273239"/>
                </a:solidFill>
                <a:effectLst/>
                <a:latin typeface="Nunito" pitchFamily="2" charset="0"/>
              </a:rPr>
              <a:t>: </a:t>
            </a:r>
          </a:p>
          <a:p>
            <a:pPr algn="just" fontAlgn="base">
              <a:buFont typeface="+mj-lt"/>
              <a:buAutoNum type="arabicPeriod"/>
            </a:pPr>
            <a:r>
              <a:rPr lang="en-US" sz="2000" b="0" i="0" dirty="0">
                <a:solidFill>
                  <a:srgbClr val="273239"/>
                </a:solidFill>
                <a:effectLst/>
                <a:latin typeface="Nunito" pitchFamily="2" charset="0"/>
              </a:rPr>
              <a:t>Extending the Thread class </a:t>
            </a:r>
          </a:p>
          <a:p>
            <a:pPr algn="just" fontAlgn="base">
              <a:buFont typeface="+mj-lt"/>
              <a:buAutoNum type="arabicPeriod"/>
            </a:pPr>
            <a:r>
              <a:rPr lang="en-US" sz="2000" b="0" i="0" dirty="0">
                <a:solidFill>
                  <a:srgbClr val="273239"/>
                </a:solidFill>
                <a:effectLst/>
                <a:latin typeface="Nunito" pitchFamily="2" charset="0"/>
              </a:rPr>
              <a:t>Implementing the Runnable Interface</a:t>
            </a:r>
          </a:p>
          <a:p>
            <a:pPr marL="0" indent="0" algn="just" fontAlgn="base">
              <a:buNone/>
            </a:pPr>
            <a:endParaRPr lang="en-US" sz="2000" b="0" i="0" dirty="0">
              <a:solidFill>
                <a:srgbClr val="273239"/>
              </a:solidFill>
              <a:effectLst/>
              <a:latin typeface="Nunito" pitchFamily="2" charset="0"/>
            </a:endParaRPr>
          </a:p>
          <a:p>
            <a:pPr marL="0" indent="0">
              <a:buNone/>
            </a:pPr>
            <a:endParaRPr lang="en-IN" sz="2000" dirty="0"/>
          </a:p>
        </p:txBody>
      </p:sp>
    </p:spTree>
    <p:extLst>
      <p:ext uri="{BB962C8B-B14F-4D97-AF65-F5344CB8AC3E}">
        <p14:creationId xmlns:p14="http://schemas.microsoft.com/office/powerpoint/2010/main" val="4761155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664E5-4ED3-EA3A-2875-A0DEFF6397E3}"/>
              </a:ext>
            </a:extLst>
          </p:cNvPr>
          <p:cNvSpPr>
            <a:spLocks noGrp="1"/>
          </p:cNvSpPr>
          <p:nvPr>
            <p:ph type="title"/>
          </p:nvPr>
        </p:nvSpPr>
        <p:spPr>
          <a:xfrm>
            <a:off x="645437" y="237460"/>
            <a:ext cx="8596668" cy="655674"/>
          </a:xfrm>
        </p:spPr>
        <p:txBody>
          <a:bodyPr>
            <a:normAutofit/>
          </a:bodyPr>
          <a:lstStyle/>
          <a:p>
            <a:r>
              <a:rPr lang="en-IN" dirty="0"/>
              <a:t>Thread Life Cycle</a:t>
            </a:r>
          </a:p>
        </p:txBody>
      </p:sp>
      <p:pic>
        <p:nvPicPr>
          <p:cNvPr id="5" name="Content Placeholder 4">
            <a:extLst>
              <a:ext uri="{FF2B5EF4-FFF2-40B4-BE49-F238E27FC236}">
                <a16:creationId xmlns:a16="http://schemas.microsoft.com/office/drawing/2014/main" id="{5823ABA0-CDE2-85A9-685A-D7E6AD240A7F}"/>
              </a:ext>
            </a:extLst>
          </p:cNvPr>
          <p:cNvPicPr>
            <a:picLocks noGrp="1" noChangeAspect="1"/>
          </p:cNvPicPr>
          <p:nvPr>
            <p:ph idx="1"/>
          </p:nvPr>
        </p:nvPicPr>
        <p:blipFill>
          <a:blip r:embed="rId2"/>
          <a:stretch>
            <a:fillRect/>
          </a:stretch>
        </p:blipFill>
        <p:spPr>
          <a:xfrm>
            <a:off x="1640151" y="1010094"/>
            <a:ext cx="6142882" cy="5692358"/>
          </a:xfrm>
          <a:ln w="12700">
            <a:solidFill>
              <a:schemeClr val="tx1"/>
            </a:solidFill>
          </a:ln>
        </p:spPr>
      </p:pic>
    </p:spTree>
    <p:extLst>
      <p:ext uri="{BB962C8B-B14F-4D97-AF65-F5344CB8AC3E}">
        <p14:creationId xmlns:p14="http://schemas.microsoft.com/office/powerpoint/2010/main" val="19401861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68495-5D83-D88A-3830-60CE569CF703}"/>
              </a:ext>
            </a:extLst>
          </p:cNvPr>
          <p:cNvSpPr>
            <a:spLocks noGrp="1"/>
          </p:cNvSpPr>
          <p:nvPr>
            <p:ph type="title"/>
          </p:nvPr>
        </p:nvSpPr>
        <p:spPr>
          <a:xfrm>
            <a:off x="677334" y="365051"/>
            <a:ext cx="8596668" cy="613144"/>
          </a:xfrm>
        </p:spPr>
        <p:txBody>
          <a:bodyPr>
            <a:normAutofit fontScale="90000"/>
          </a:bodyPr>
          <a:lstStyle/>
          <a:p>
            <a:r>
              <a:rPr lang="en-IN" dirty="0"/>
              <a:t>Real Time Example</a:t>
            </a:r>
          </a:p>
        </p:txBody>
      </p:sp>
      <p:pic>
        <p:nvPicPr>
          <p:cNvPr id="5" name="Content Placeholder 4">
            <a:extLst>
              <a:ext uri="{FF2B5EF4-FFF2-40B4-BE49-F238E27FC236}">
                <a16:creationId xmlns:a16="http://schemas.microsoft.com/office/drawing/2014/main" id="{FC761365-7C34-9C36-1099-C373DD7AD420}"/>
              </a:ext>
            </a:extLst>
          </p:cNvPr>
          <p:cNvPicPr>
            <a:picLocks noGrp="1" noChangeAspect="1"/>
          </p:cNvPicPr>
          <p:nvPr>
            <p:ph idx="1"/>
          </p:nvPr>
        </p:nvPicPr>
        <p:blipFill>
          <a:blip r:embed="rId2"/>
          <a:stretch>
            <a:fillRect/>
          </a:stretch>
        </p:blipFill>
        <p:spPr>
          <a:xfrm>
            <a:off x="1784309" y="1541721"/>
            <a:ext cx="6825610" cy="4380614"/>
          </a:xfrm>
        </p:spPr>
      </p:pic>
    </p:spTree>
    <p:extLst>
      <p:ext uri="{BB962C8B-B14F-4D97-AF65-F5344CB8AC3E}">
        <p14:creationId xmlns:p14="http://schemas.microsoft.com/office/powerpoint/2010/main" val="3173485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569D4-EBD6-A221-EABA-8BFA1CB0636E}"/>
              </a:ext>
            </a:extLst>
          </p:cNvPr>
          <p:cNvSpPr>
            <a:spLocks noGrp="1"/>
          </p:cNvSpPr>
          <p:nvPr>
            <p:ph type="title"/>
          </p:nvPr>
        </p:nvSpPr>
        <p:spPr>
          <a:xfrm>
            <a:off x="581641" y="322521"/>
            <a:ext cx="8596668" cy="687572"/>
          </a:xfrm>
        </p:spPr>
        <p:txBody>
          <a:bodyPr>
            <a:normAutofit/>
          </a:bodyPr>
          <a:lstStyle/>
          <a:p>
            <a:r>
              <a:rPr lang="en-IN" dirty="0"/>
              <a:t>Another Example</a:t>
            </a:r>
          </a:p>
        </p:txBody>
      </p:sp>
      <p:pic>
        <p:nvPicPr>
          <p:cNvPr id="5" name="Content Placeholder 4">
            <a:extLst>
              <a:ext uri="{FF2B5EF4-FFF2-40B4-BE49-F238E27FC236}">
                <a16:creationId xmlns:a16="http://schemas.microsoft.com/office/drawing/2014/main" id="{69E5EA93-00C9-983D-192D-8090067436B2}"/>
              </a:ext>
            </a:extLst>
          </p:cNvPr>
          <p:cNvPicPr>
            <a:picLocks noGrp="1" noChangeAspect="1"/>
          </p:cNvPicPr>
          <p:nvPr>
            <p:ph idx="1"/>
          </p:nvPr>
        </p:nvPicPr>
        <p:blipFill>
          <a:blip r:embed="rId2"/>
          <a:stretch>
            <a:fillRect/>
          </a:stretch>
        </p:blipFill>
        <p:spPr>
          <a:xfrm>
            <a:off x="677863" y="1424281"/>
            <a:ext cx="9312484" cy="4795766"/>
          </a:xfrm>
        </p:spPr>
      </p:pic>
    </p:spTree>
    <p:extLst>
      <p:ext uri="{BB962C8B-B14F-4D97-AF65-F5344CB8AC3E}">
        <p14:creationId xmlns:p14="http://schemas.microsoft.com/office/powerpoint/2010/main" val="20956123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lstStyle/>
          <a:p>
            <a:r>
              <a:rPr lang="en-US" dirty="0"/>
              <a:t>Collections</a:t>
            </a:r>
            <a:endParaRPr lang="en-IN" dirty="0"/>
          </a:p>
        </p:txBody>
      </p:sp>
      <p:sp>
        <p:nvSpPr>
          <p:cNvPr id="4" name="Content Placeholder 3">
            <a:extLst>
              <a:ext uri="{FF2B5EF4-FFF2-40B4-BE49-F238E27FC236}">
                <a16:creationId xmlns:a16="http://schemas.microsoft.com/office/drawing/2014/main" id="{279BFEF5-7A0D-4EDD-AD62-3A068A1BF9E9}"/>
              </a:ext>
            </a:extLst>
          </p:cNvPr>
          <p:cNvSpPr>
            <a:spLocks noGrp="1"/>
          </p:cNvSpPr>
          <p:nvPr>
            <p:ph idx="1"/>
          </p:nvPr>
        </p:nvSpPr>
        <p:spPr>
          <a:xfrm>
            <a:off x="591403" y="1521664"/>
            <a:ext cx="8596668" cy="4923204"/>
          </a:xfrm>
        </p:spPr>
        <p:txBody>
          <a:bodyPr>
            <a:normAutofit/>
          </a:bodyPr>
          <a:lstStyle/>
          <a:p>
            <a:pPr marL="0" indent="0" algn="just">
              <a:buNone/>
            </a:pPr>
            <a:r>
              <a:rPr lang="en-US" sz="2400" b="1" i="0" dirty="0">
                <a:solidFill>
                  <a:srgbClr val="333333"/>
                </a:solidFill>
                <a:effectLst/>
                <a:latin typeface="inter-regular"/>
              </a:rPr>
              <a:t>What is Collections?</a:t>
            </a:r>
          </a:p>
          <a:p>
            <a:pPr marL="0" indent="0" algn="just">
              <a:buNone/>
            </a:pPr>
            <a:r>
              <a:rPr lang="en-US" sz="2000" b="0" i="0" dirty="0">
                <a:solidFill>
                  <a:srgbClr val="333333"/>
                </a:solidFill>
                <a:effectLst/>
                <a:latin typeface="inter-regular"/>
              </a:rPr>
              <a:t>The </a:t>
            </a:r>
            <a:r>
              <a:rPr lang="en-US" sz="2000" b="1" i="0" dirty="0">
                <a:solidFill>
                  <a:srgbClr val="333333"/>
                </a:solidFill>
                <a:effectLst/>
                <a:latin typeface="inter-bold"/>
              </a:rPr>
              <a:t>Collection in Java</a:t>
            </a:r>
            <a:r>
              <a:rPr lang="en-US" sz="2000" b="0" i="0" dirty="0">
                <a:solidFill>
                  <a:srgbClr val="333333"/>
                </a:solidFill>
                <a:effectLst/>
                <a:latin typeface="inter-regular"/>
              </a:rPr>
              <a:t> is a framework that provides an architecture to store and manipulate the group of objects. Java Collections can achieve all the operations that you perform on a data such as searching, sorting, insertion, manipulation, and deletion.</a:t>
            </a:r>
          </a:p>
          <a:p>
            <a:pPr marL="0" lvl="3" indent="0">
              <a:buNone/>
            </a:pPr>
            <a:endParaRPr lang="en-US" sz="2000" dirty="0"/>
          </a:p>
          <a:p>
            <a:pPr marL="0" lvl="3" indent="0">
              <a:buNone/>
            </a:pPr>
            <a:r>
              <a:rPr lang="en-US" sz="2400" b="1" dirty="0"/>
              <a:t>Why Collections?</a:t>
            </a:r>
          </a:p>
          <a:p>
            <a:pPr marL="342900" lvl="3" indent="-342900">
              <a:buFont typeface="+mj-lt"/>
              <a:buAutoNum type="arabicPeriod"/>
            </a:pPr>
            <a:r>
              <a:rPr lang="en-US" sz="2000" dirty="0"/>
              <a:t>To handle group of objects</a:t>
            </a:r>
          </a:p>
          <a:p>
            <a:pPr marL="342900" lvl="3" indent="-342900">
              <a:buFont typeface="+mj-lt"/>
              <a:buAutoNum type="arabicPeriod"/>
            </a:pPr>
            <a:r>
              <a:rPr lang="en-US" sz="2000" dirty="0"/>
              <a:t>It provides dynamically growing or shrinking size whereas array cannot provide this because it is fixed size.</a:t>
            </a:r>
          </a:p>
          <a:p>
            <a:pPr marL="342900" lvl="3" indent="-342900">
              <a:buFont typeface="+mj-lt"/>
              <a:buAutoNum type="arabicPeriod"/>
            </a:pPr>
            <a:endParaRPr lang="en-US" sz="2000" dirty="0"/>
          </a:p>
          <a:p>
            <a:pPr marL="342900" lvl="3" indent="-342900">
              <a:buFont typeface="+mj-lt"/>
              <a:buAutoNum type="arabicPeriod"/>
            </a:pPr>
            <a:endParaRPr lang="en-IN" sz="2000" dirty="0"/>
          </a:p>
        </p:txBody>
      </p:sp>
    </p:spTree>
    <p:extLst>
      <p:ext uri="{BB962C8B-B14F-4D97-AF65-F5344CB8AC3E}">
        <p14:creationId xmlns:p14="http://schemas.microsoft.com/office/powerpoint/2010/main" val="19105965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8D9CB-C855-93EC-1564-20CA278C1400}"/>
              </a:ext>
            </a:extLst>
          </p:cNvPr>
          <p:cNvSpPr>
            <a:spLocks noGrp="1"/>
          </p:cNvSpPr>
          <p:nvPr>
            <p:ph type="title"/>
          </p:nvPr>
        </p:nvSpPr>
        <p:spPr>
          <a:xfrm>
            <a:off x="677334" y="609600"/>
            <a:ext cx="8596668" cy="721360"/>
          </a:xfrm>
        </p:spPr>
        <p:txBody>
          <a:bodyPr/>
          <a:lstStyle/>
          <a:p>
            <a:r>
              <a:rPr lang="en-US" dirty="0"/>
              <a:t>Wrapper Class</a:t>
            </a:r>
            <a:endParaRPr lang="en-IN" dirty="0"/>
          </a:p>
        </p:txBody>
      </p:sp>
      <p:sp>
        <p:nvSpPr>
          <p:cNvPr id="3" name="Content Placeholder 2">
            <a:extLst>
              <a:ext uri="{FF2B5EF4-FFF2-40B4-BE49-F238E27FC236}">
                <a16:creationId xmlns:a16="http://schemas.microsoft.com/office/drawing/2014/main" id="{19B62B48-107D-C0C5-87E9-7872F5E83B88}"/>
              </a:ext>
            </a:extLst>
          </p:cNvPr>
          <p:cNvSpPr>
            <a:spLocks noGrp="1"/>
          </p:cNvSpPr>
          <p:nvPr>
            <p:ph idx="1"/>
          </p:nvPr>
        </p:nvSpPr>
        <p:spPr>
          <a:xfrm>
            <a:off x="677334" y="1330960"/>
            <a:ext cx="8596668" cy="5283199"/>
          </a:xfrm>
        </p:spPr>
        <p:txBody>
          <a:bodyPr/>
          <a:lstStyle/>
          <a:p>
            <a:pPr marL="0" indent="0">
              <a:buNone/>
            </a:pPr>
            <a:endParaRPr lang="en-US" dirty="0"/>
          </a:p>
          <a:p>
            <a:pPr marL="0" indent="0">
              <a:buNone/>
            </a:pPr>
            <a:endParaRPr lang="en-IN" dirty="0"/>
          </a:p>
        </p:txBody>
      </p:sp>
      <p:graphicFrame>
        <p:nvGraphicFramePr>
          <p:cNvPr id="4" name="Table 3">
            <a:extLst>
              <a:ext uri="{FF2B5EF4-FFF2-40B4-BE49-F238E27FC236}">
                <a16:creationId xmlns:a16="http://schemas.microsoft.com/office/drawing/2014/main" id="{19BAF627-4077-7EE7-6B92-A153ED3C109F}"/>
              </a:ext>
            </a:extLst>
          </p:cNvPr>
          <p:cNvGraphicFramePr>
            <a:graphicFrameLocks noGrp="1"/>
          </p:cNvGraphicFramePr>
          <p:nvPr>
            <p:extLst>
              <p:ext uri="{D42A27DB-BD31-4B8C-83A1-F6EECF244321}">
                <p14:modId xmlns:p14="http://schemas.microsoft.com/office/powerpoint/2010/main" val="3350192218"/>
              </p:ext>
            </p:extLst>
          </p:nvPr>
        </p:nvGraphicFramePr>
        <p:xfrm>
          <a:off x="1938482" y="3413759"/>
          <a:ext cx="4533438" cy="3200400"/>
        </p:xfrm>
        <a:graphic>
          <a:graphicData uri="http://schemas.openxmlformats.org/drawingml/2006/table">
            <a:tbl>
              <a:tblPr firstRow="1" bandRow="1">
                <a:tableStyleId>{5C22544A-7EE6-4342-B048-85BDC9FD1C3A}</a:tableStyleId>
              </a:tblPr>
              <a:tblGrid>
                <a:gridCol w="1674868">
                  <a:extLst>
                    <a:ext uri="{9D8B030D-6E8A-4147-A177-3AD203B41FA5}">
                      <a16:colId xmlns:a16="http://schemas.microsoft.com/office/drawing/2014/main" val="3815945759"/>
                    </a:ext>
                  </a:extLst>
                </a:gridCol>
                <a:gridCol w="2858570">
                  <a:extLst>
                    <a:ext uri="{9D8B030D-6E8A-4147-A177-3AD203B41FA5}">
                      <a16:colId xmlns:a16="http://schemas.microsoft.com/office/drawing/2014/main" val="4284770575"/>
                    </a:ext>
                  </a:extLst>
                </a:gridCol>
              </a:tblGrid>
              <a:tr h="370840">
                <a:tc>
                  <a:txBody>
                    <a:bodyPr/>
                    <a:lstStyle/>
                    <a:p>
                      <a:r>
                        <a:rPr lang="en-US" sz="2200" dirty="0"/>
                        <a:t>Data Type</a:t>
                      </a:r>
                      <a:endParaRPr lang="en-IN" sz="2200" dirty="0"/>
                    </a:p>
                  </a:txBody>
                  <a:tcPr/>
                </a:tc>
                <a:tc>
                  <a:txBody>
                    <a:bodyPr/>
                    <a:lstStyle/>
                    <a:p>
                      <a:r>
                        <a:rPr lang="en-US" sz="2200" dirty="0"/>
                        <a:t>Wrapper Class</a:t>
                      </a:r>
                      <a:endParaRPr lang="en-IN" sz="2200" dirty="0"/>
                    </a:p>
                  </a:txBody>
                  <a:tcPr/>
                </a:tc>
                <a:extLst>
                  <a:ext uri="{0D108BD9-81ED-4DB2-BD59-A6C34878D82A}">
                    <a16:rowId xmlns:a16="http://schemas.microsoft.com/office/drawing/2014/main" val="1690075012"/>
                  </a:ext>
                </a:extLst>
              </a:tr>
              <a:tr h="370840">
                <a:tc>
                  <a:txBody>
                    <a:bodyPr/>
                    <a:lstStyle/>
                    <a:p>
                      <a:r>
                        <a:rPr lang="en-US" sz="2000" dirty="0"/>
                        <a:t>int </a:t>
                      </a:r>
                      <a:endParaRPr lang="en-IN" sz="2000" dirty="0"/>
                    </a:p>
                  </a:txBody>
                  <a:tcPr/>
                </a:tc>
                <a:tc>
                  <a:txBody>
                    <a:bodyPr/>
                    <a:lstStyle/>
                    <a:p>
                      <a:r>
                        <a:rPr lang="en-US" sz="2000" dirty="0"/>
                        <a:t>Integer</a:t>
                      </a:r>
                      <a:endParaRPr lang="en-IN" sz="2000" dirty="0"/>
                    </a:p>
                  </a:txBody>
                  <a:tcPr/>
                </a:tc>
                <a:extLst>
                  <a:ext uri="{0D108BD9-81ED-4DB2-BD59-A6C34878D82A}">
                    <a16:rowId xmlns:a16="http://schemas.microsoft.com/office/drawing/2014/main" val="4231908336"/>
                  </a:ext>
                </a:extLst>
              </a:tr>
              <a:tr h="370840">
                <a:tc>
                  <a:txBody>
                    <a:bodyPr/>
                    <a:lstStyle/>
                    <a:p>
                      <a:r>
                        <a:rPr lang="en-US" sz="2000" dirty="0"/>
                        <a:t>char</a:t>
                      </a:r>
                      <a:endParaRPr lang="en-IN" sz="2000" dirty="0"/>
                    </a:p>
                  </a:txBody>
                  <a:tcPr/>
                </a:tc>
                <a:tc>
                  <a:txBody>
                    <a:bodyPr/>
                    <a:lstStyle/>
                    <a:p>
                      <a:r>
                        <a:rPr lang="en-US" sz="2000" dirty="0"/>
                        <a:t>Character</a:t>
                      </a:r>
                      <a:endParaRPr lang="en-IN" sz="2000" dirty="0"/>
                    </a:p>
                  </a:txBody>
                  <a:tcPr/>
                </a:tc>
                <a:extLst>
                  <a:ext uri="{0D108BD9-81ED-4DB2-BD59-A6C34878D82A}">
                    <a16:rowId xmlns:a16="http://schemas.microsoft.com/office/drawing/2014/main" val="1122396875"/>
                  </a:ext>
                </a:extLst>
              </a:tr>
              <a:tr h="370840">
                <a:tc>
                  <a:txBody>
                    <a:bodyPr/>
                    <a:lstStyle/>
                    <a:p>
                      <a:r>
                        <a:rPr lang="en-US" sz="2000" dirty="0"/>
                        <a:t>float</a:t>
                      </a:r>
                      <a:endParaRPr lang="en-IN" sz="2000" dirty="0"/>
                    </a:p>
                  </a:txBody>
                  <a:tcPr/>
                </a:tc>
                <a:tc>
                  <a:txBody>
                    <a:bodyPr/>
                    <a:lstStyle/>
                    <a:p>
                      <a:r>
                        <a:rPr lang="en-US" sz="2000" dirty="0"/>
                        <a:t>Float</a:t>
                      </a:r>
                      <a:endParaRPr lang="en-IN" sz="2000" dirty="0"/>
                    </a:p>
                  </a:txBody>
                  <a:tcPr/>
                </a:tc>
                <a:extLst>
                  <a:ext uri="{0D108BD9-81ED-4DB2-BD59-A6C34878D82A}">
                    <a16:rowId xmlns:a16="http://schemas.microsoft.com/office/drawing/2014/main" val="1161811161"/>
                  </a:ext>
                </a:extLst>
              </a:tr>
              <a:tr h="370840">
                <a:tc>
                  <a:txBody>
                    <a:bodyPr/>
                    <a:lstStyle/>
                    <a:p>
                      <a:r>
                        <a:rPr lang="en-US" sz="2000" dirty="0"/>
                        <a:t>double</a:t>
                      </a:r>
                      <a:endParaRPr lang="en-IN" sz="2000" dirty="0"/>
                    </a:p>
                  </a:txBody>
                  <a:tcPr/>
                </a:tc>
                <a:tc>
                  <a:txBody>
                    <a:bodyPr/>
                    <a:lstStyle/>
                    <a:p>
                      <a:r>
                        <a:rPr lang="en-US" sz="2000" dirty="0"/>
                        <a:t>Double</a:t>
                      </a:r>
                      <a:endParaRPr lang="en-IN" sz="2000" dirty="0"/>
                    </a:p>
                  </a:txBody>
                  <a:tcPr/>
                </a:tc>
                <a:extLst>
                  <a:ext uri="{0D108BD9-81ED-4DB2-BD59-A6C34878D82A}">
                    <a16:rowId xmlns:a16="http://schemas.microsoft.com/office/drawing/2014/main" val="3829907577"/>
                  </a:ext>
                </a:extLst>
              </a:tr>
              <a:tr h="370840">
                <a:tc>
                  <a:txBody>
                    <a:bodyPr/>
                    <a:lstStyle/>
                    <a:p>
                      <a:r>
                        <a:rPr lang="en-US" sz="2000" dirty="0"/>
                        <a:t>long</a:t>
                      </a:r>
                      <a:endParaRPr lang="en-IN" sz="2000" dirty="0"/>
                    </a:p>
                  </a:txBody>
                  <a:tcPr/>
                </a:tc>
                <a:tc>
                  <a:txBody>
                    <a:bodyPr/>
                    <a:lstStyle/>
                    <a:p>
                      <a:r>
                        <a:rPr lang="en-US" sz="2000" dirty="0"/>
                        <a:t>Long</a:t>
                      </a:r>
                      <a:endParaRPr lang="en-IN" sz="2000" dirty="0"/>
                    </a:p>
                  </a:txBody>
                  <a:tcPr/>
                </a:tc>
                <a:extLst>
                  <a:ext uri="{0D108BD9-81ED-4DB2-BD59-A6C34878D82A}">
                    <a16:rowId xmlns:a16="http://schemas.microsoft.com/office/drawing/2014/main" val="2503768431"/>
                  </a:ext>
                </a:extLst>
              </a:tr>
              <a:tr h="370840">
                <a:tc>
                  <a:txBody>
                    <a:bodyPr/>
                    <a:lstStyle/>
                    <a:p>
                      <a:r>
                        <a:rPr lang="en-US" sz="2000" dirty="0" err="1"/>
                        <a:t>boolean</a:t>
                      </a:r>
                      <a:endParaRPr lang="en-IN" sz="2000" dirty="0"/>
                    </a:p>
                  </a:txBody>
                  <a:tcPr/>
                </a:tc>
                <a:tc>
                  <a:txBody>
                    <a:bodyPr/>
                    <a:lstStyle/>
                    <a:p>
                      <a:r>
                        <a:rPr lang="en-US" sz="2000" dirty="0"/>
                        <a:t>Boolean</a:t>
                      </a:r>
                      <a:endParaRPr lang="en-IN" sz="2000" dirty="0"/>
                    </a:p>
                  </a:txBody>
                  <a:tcPr/>
                </a:tc>
                <a:extLst>
                  <a:ext uri="{0D108BD9-81ED-4DB2-BD59-A6C34878D82A}">
                    <a16:rowId xmlns:a16="http://schemas.microsoft.com/office/drawing/2014/main" val="977391602"/>
                  </a:ext>
                </a:extLst>
              </a:tr>
              <a:tr h="370840">
                <a:tc>
                  <a:txBody>
                    <a:bodyPr/>
                    <a:lstStyle/>
                    <a:p>
                      <a:endParaRPr lang="en-IN" sz="2000" dirty="0"/>
                    </a:p>
                  </a:txBody>
                  <a:tcPr/>
                </a:tc>
                <a:tc>
                  <a:txBody>
                    <a:bodyPr/>
                    <a:lstStyle/>
                    <a:p>
                      <a:r>
                        <a:rPr lang="en-US" sz="2000" dirty="0"/>
                        <a:t>String (Already class)</a:t>
                      </a:r>
                      <a:endParaRPr lang="en-IN" sz="2000" dirty="0"/>
                    </a:p>
                  </a:txBody>
                  <a:tcPr/>
                </a:tc>
                <a:extLst>
                  <a:ext uri="{0D108BD9-81ED-4DB2-BD59-A6C34878D82A}">
                    <a16:rowId xmlns:a16="http://schemas.microsoft.com/office/drawing/2014/main" val="182238709"/>
                  </a:ext>
                </a:extLst>
              </a:tr>
            </a:tbl>
          </a:graphicData>
        </a:graphic>
      </p:graphicFrame>
      <p:sp>
        <p:nvSpPr>
          <p:cNvPr id="5" name="TextBox 4">
            <a:extLst>
              <a:ext uri="{FF2B5EF4-FFF2-40B4-BE49-F238E27FC236}">
                <a16:creationId xmlns:a16="http://schemas.microsoft.com/office/drawing/2014/main" id="{C57F55C2-6B0C-8A9E-9E19-044AB872FF53}"/>
              </a:ext>
            </a:extLst>
          </p:cNvPr>
          <p:cNvSpPr txBox="1"/>
          <p:nvPr/>
        </p:nvSpPr>
        <p:spPr>
          <a:xfrm>
            <a:off x="872452" y="1595120"/>
            <a:ext cx="8596668" cy="1446550"/>
          </a:xfrm>
          <a:prstGeom prst="rect">
            <a:avLst/>
          </a:prstGeom>
          <a:noFill/>
        </p:spPr>
        <p:txBody>
          <a:bodyPr wrap="square" rtlCol="0">
            <a:spAutoFit/>
          </a:bodyPr>
          <a:lstStyle/>
          <a:p>
            <a:r>
              <a:rPr lang="en-US" sz="2200" b="0" i="0" dirty="0">
                <a:solidFill>
                  <a:srgbClr val="333333"/>
                </a:solidFill>
                <a:effectLst/>
                <a:latin typeface="inter-regular"/>
              </a:rPr>
              <a:t>The </a:t>
            </a:r>
            <a:r>
              <a:rPr lang="en-US" sz="2200" b="1" i="0" dirty="0">
                <a:solidFill>
                  <a:srgbClr val="333333"/>
                </a:solidFill>
                <a:effectLst/>
                <a:latin typeface="inter-bold"/>
              </a:rPr>
              <a:t>wrapper class in Java</a:t>
            </a:r>
            <a:r>
              <a:rPr lang="en-US" sz="2200" b="0" i="0" dirty="0">
                <a:solidFill>
                  <a:srgbClr val="333333"/>
                </a:solidFill>
                <a:effectLst/>
                <a:latin typeface="inter-regular"/>
              </a:rPr>
              <a:t> provides the mechanism </a:t>
            </a:r>
            <a:r>
              <a:rPr lang="en-US" sz="2200" b="0" i="1" dirty="0">
                <a:solidFill>
                  <a:srgbClr val="333333"/>
                </a:solidFill>
                <a:effectLst/>
                <a:latin typeface="inter-regular"/>
              </a:rPr>
              <a:t>to convert primitive into object and object into primitive</a:t>
            </a:r>
            <a:r>
              <a:rPr lang="en-US" sz="2200" b="0" i="0" dirty="0">
                <a:solidFill>
                  <a:srgbClr val="333333"/>
                </a:solidFill>
                <a:effectLst/>
                <a:latin typeface="inter-regular"/>
              </a:rPr>
              <a:t>.</a:t>
            </a:r>
            <a:br>
              <a:rPr lang="en-US" sz="2200" b="0" i="0" dirty="0">
                <a:solidFill>
                  <a:srgbClr val="333333"/>
                </a:solidFill>
                <a:effectLst/>
                <a:latin typeface="inter-regular"/>
              </a:rPr>
            </a:br>
            <a:r>
              <a:rPr lang="en-US" sz="2200" b="0" i="0" dirty="0">
                <a:solidFill>
                  <a:srgbClr val="333333"/>
                </a:solidFill>
                <a:effectLst/>
                <a:latin typeface="inter-regular"/>
              </a:rPr>
              <a:t>The automatic conversion of primitive into an object is known as </a:t>
            </a:r>
            <a:r>
              <a:rPr lang="en-US" sz="2200" b="1" i="0" dirty="0">
                <a:solidFill>
                  <a:srgbClr val="333333"/>
                </a:solidFill>
                <a:effectLst/>
                <a:latin typeface="inter-regular"/>
              </a:rPr>
              <a:t>autoboxing</a:t>
            </a:r>
            <a:r>
              <a:rPr lang="en-US" sz="2200" b="0" i="0" dirty="0">
                <a:solidFill>
                  <a:srgbClr val="333333"/>
                </a:solidFill>
                <a:effectLst/>
                <a:latin typeface="inter-regular"/>
              </a:rPr>
              <a:t> and vice-versa </a:t>
            </a:r>
            <a:r>
              <a:rPr lang="en-US" sz="2200" b="1" i="0" dirty="0">
                <a:solidFill>
                  <a:srgbClr val="333333"/>
                </a:solidFill>
                <a:effectLst/>
                <a:latin typeface="inter-regular"/>
              </a:rPr>
              <a:t>auto-unboxing</a:t>
            </a:r>
            <a:r>
              <a:rPr lang="en-US" sz="2200" b="0" i="0" dirty="0">
                <a:solidFill>
                  <a:srgbClr val="333333"/>
                </a:solidFill>
                <a:effectLst/>
                <a:latin typeface="inter-regular"/>
              </a:rPr>
              <a:t>.</a:t>
            </a:r>
            <a:endParaRPr lang="en-IN" sz="2200" dirty="0"/>
          </a:p>
        </p:txBody>
      </p:sp>
    </p:spTree>
    <p:extLst>
      <p:ext uri="{BB962C8B-B14F-4D97-AF65-F5344CB8AC3E}">
        <p14:creationId xmlns:p14="http://schemas.microsoft.com/office/powerpoint/2010/main" val="10493910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itle 1">
            <a:extLst>
              <a:ext uri="{FF2B5EF4-FFF2-40B4-BE49-F238E27FC236}">
                <a16:creationId xmlns:a16="http://schemas.microsoft.com/office/drawing/2014/main" id="{37852605-BFD2-40BE-81F5-1D531F391B67}"/>
              </a:ext>
            </a:extLst>
          </p:cNvPr>
          <p:cNvSpPr>
            <a:spLocks noGrp="1"/>
          </p:cNvSpPr>
          <p:nvPr>
            <p:ph type="title"/>
          </p:nvPr>
        </p:nvSpPr>
        <p:spPr>
          <a:xfrm>
            <a:off x="691705" y="179412"/>
            <a:ext cx="8596668" cy="778525"/>
          </a:xfrm>
        </p:spPr>
        <p:txBody>
          <a:bodyPr/>
          <a:lstStyle/>
          <a:p>
            <a:r>
              <a:rPr lang="en-US" dirty="0"/>
              <a:t>Collection Framework</a:t>
            </a:r>
            <a:endParaRPr lang="en-IN" dirty="0"/>
          </a:p>
        </p:txBody>
      </p:sp>
      <p:grpSp>
        <p:nvGrpSpPr>
          <p:cNvPr id="55" name="Group 54">
            <a:extLst>
              <a:ext uri="{FF2B5EF4-FFF2-40B4-BE49-F238E27FC236}">
                <a16:creationId xmlns:a16="http://schemas.microsoft.com/office/drawing/2014/main" id="{D923FB52-53EA-4ED5-8566-1CAB8D1FC7D3}"/>
              </a:ext>
            </a:extLst>
          </p:cNvPr>
          <p:cNvGrpSpPr/>
          <p:nvPr/>
        </p:nvGrpSpPr>
        <p:grpSpPr>
          <a:xfrm>
            <a:off x="852777" y="846482"/>
            <a:ext cx="9018105" cy="5165035"/>
            <a:chOff x="152400" y="838200"/>
            <a:chExt cx="9329960" cy="5715000"/>
          </a:xfrm>
        </p:grpSpPr>
        <p:cxnSp>
          <p:nvCxnSpPr>
            <p:cNvPr id="57" name="Elbow Connector 32">
              <a:extLst>
                <a:ext uri="{FF2B5EF4-FFF2-40B4-BE49-F238E27FC236}">
                  <a16:creationId xmlns:a16="http://schemas.microsoft.com/office/drawing/2014/main" id="{A586BD8D-FCCE-410B-939F-E00DA1B6046E}"/>
                </a:ext>
              </a:extLst>
            </p:cNvPr>
            <p:cNvCxnSpPr>
              <a:stCxn id="118" idx="0"/>
              <a:endCxn id="124" idx="2"/>
            </p:cNvCxnSpPr>
            <p:nvPr/>
          </p:nvCxnSpPr>
          <p:spPr>
            <a:xfrm rot="16200000" flipV="1">
              <a:off x="4241759" y="1730432"/>
              <a:ext cx="546183" cy="876300"/>
            </a:xfrm>
            <a:prstGeom prst="bentConnector3">
              <a:avLst>
                <a:gd name="adj1" fmla="val 50000"/>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47DF8442-05B9-47A5-A512-C2DDD9DF2A57}"/>
                </a:ext>
              </a:extLst>
            </p:cNvPr>
            <p:cNvGrpSpPr/>
            <p:nvPr/>
          </p:nvGrpSpPr>
          <p:grpSpPr>
            <a:xfrm>
              <a:off x="152400" y="838200"/>
              <a:ext cx="9329960" cy="5715000"/>
              <a:chOff x="152400" y="838200"/>
              <a:chExt cx="9329960" cy="5703332"/>
            </a:xfrm>
          </p:grpSpPr>
          <p:sp>
            <p:nvSpPr>
              <p:cNvPr id="60" name="TextBox 59">
                <a:extLst>
                  <a:ext uri="{FF2B5EF4-FFF2-40B4-BE49-F238E27FC236}">
                    <a16:creationId xmlns:a16="http://schemas.microsoft.com/office/drawing/2014/main" id="{F996572C-A92F-45E3-B732-D1F1062AFA8D}"/>
                  </a:ext>
                </a:extLst>
              </p:cNvPr>
              <p:cNvSpPr txBox="1"/>
              <p:nvPr/>
            </p:nvSpPr>
            <p:spPr>
              <a:xfrm>
                <a:off x="4419600" y="6172200"/>
                <a:ext cx="1447800" cy="369332"/>
              </a:xfrm>
              <a:prstGeom prst="rect">
                <a:avLst/>
              </a:prstGeom>
              <a:solidFill>
                <a:srgbClr val="92D050"/>
              </a:solidFill>
            </p:spPr>
            <p:txBody>
              <a:bodyPr wrap="square" rtlCol="0">
                <a:spAutoFit/>
              </a:bodyPr>
              <a:lstStyle/>
              <a:p>
                <a:pPr algn="ctr"/>
                <a:r>
                  <a:rPr lang="en-US" dirty="0"/>
                  <a:t>Class</a:t>
                </a:r>
              </a:p>
            </p:txBody>
          </p:sp>
          <p:sp>
            <p:nvSpPr>
              <p:cNvPr id="62" name="TextBox 61">
                <a:extLst>
                  <a:ext uri="{FF2B5EF4-FFF2-40B4-BE49-F238E27FC236}">
                    <a16:creationId xmlns:a16="http://schemas.microsoft.com/office/drawing/2014/main" id="{FB1A5700-3D11-4113-9F69-F18A5C958B86}"/>
                  </a:ext>
                </a:extLst>
              </p:cNvPr>
              <p:cNvSpPr txBox="1"/>
              <p:nvPr/>
            </p:nvSpPr>
            <p:spPr>
              <a:xfrm>
                <a:off x="4419600" y="5486400"/>
                <a:ext cx="1447800" cy="369332"/>
              </a:xfrm>
              <a:prstGeom prst="rect">
                <a:avLst/>
              </a:prstGeom>
              <a:solidFill>
                <a:srgbClr val="00B0F0"/>
              </a:solidFill>
            </p:spPr>
            <p:txBody>
              <a:bodyPr wrap="square" rtlCol="0">
                <a:spAutoFit/>
              </a:bodyPr>
              <a:lstStyle/>
              <a:p>
                <a:pPr algn="ctr"/>
                <a:r>
                  <a:rPr lang="en-US" dirty="0"/>
                  <a:t>Interface</a:t>
                </a:r>
              </a:p>
            </p:txBody>
          </p:sp>
          <p:cxnSp>
            <p:nvCxnSpPr>
              <p:cNvPr id="63" name="Straight Arrow Connector 62">
                <a:extLst>
                  <a:ext uri="{FF2B5EF4-FFF2-40B4-BE49-F238E27FC236}">
                    <a16:creationId xmlns:a16="http://schemas.microsoft.com/office/drawing/2014/main" id="{FF1B92D1-0BEA-41BB-8EED-3554373A5CA8}"/>
                  </a:ext>
                </a:extLst>
              </p:cNvPr>
              <p:cNvCxnSpPr/>
              <p:nvPr/>
            </p:nvCxnSpPr>
            <p:spPr>
              <a:xfrm rot="5400000" flipH="1" flipV="1">
                <a:off x="4039394" y="5638800"/>
                <a:ext cx="304800" cy="1588"/>
              </a:xfrm>
              <a:prstGeom prst="straightConnector1">
                <a:avLst/>
              </a:prstGeom>
              <a:ln w="1905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5470D857-F789-407A-8594-74BC17CD42C8}"/>
                  </a:ext>
                </a:extLst>
              </p:cNvPr>
              <p:cNvCxnSpPr/>
              <p:nvPr/>
            </p:nvCxnSpPr>
            <p:spPr>
              <a:xfrm rot="5400000" flipH="1" flipV="1">
                <a:off x="4039394" y="6324600"/>
                <a:ext cx="305594" cy="794"/>
              </a:xfrm>
              <a:prstGeom prst="straightConnector1">
                <a:avLst/>
              </a:prstGeom>
              <a:ln w="19050">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C91C6E6C-4FBA-4DEB-99C0-C845934B050B}"/>
                  </a:ext>
                </a:extLst>
              </p:cNvPr>
              <p:cNvSpPr txBox="1"/>
              <p:nvPr/>
            </p:nvSpPr>
            <p:spPr>
              <a:xfrm>
                <a:off x="2743200" y="5791200"/>
                <a:ext cx="1143000" cy="369332"/>
              </a:xfrm>
              <a:prstGeom prst="rect">
                <a:avLst/>
              </a:prstGeom>
              <a:noFill/>
            </p:spPr>
            <p:txBody>
              <a:bodyPr wrap="square" rtlCol="0">
                <a:spAutoFit/>
              </a:bodyPr>
              <a:lstStyle/>
              <a:p>
                <a:pPr algn="ctr"/>
                <a:r>
                  <a:rPr lang="en-US" dirty="0"/>
                  <a:t>Legend</a:t>
                </a:r>
              </a:p>
            </p:txBody>
          </p:sp>
          <p:grpSp>
            <p:nvGrpSpPr>
              <p:cNvPr id="68" name="Group 67">
                <a:extLst>
                  <a:ext uri="{FF2B5EF4-FFF2-40B4-BE49-F238E27FC236}">
                    <a16:creationId xmlns:a16="http://schemas.microsoft.com/office/drawing/2014/main" id="{5B2B68BB-F476-4FA5-B265-1EBC51E9A3F1}"/>
                  </a:ext>
                </a:extLst>
              </p:cNvPr>
              <p:cNvGrpSpPr/>
              <p:nvPr/>
            </p:nvGrpSpPr>
            <p:grpSpPr>
              <a:xfrm>
                <a:off x="152400" y="838200"/>
                <a:ext cx="9329960" cy="4788932"/>
                <a:chOff x="152400" y="838200"/>
                <a:chExt cx="9329960" cy="4788932"/>
              </a:xfrm>
            </p:grpSpPr>
            <p:sp>
              <p:nvSpPr>
                <p:cNvPr id="69" name="TextBox 68">
                  <a:extLst>
                    <a:ext uri="{FF2B5EF4-FFF2-40B4-BE49-F238E27FC236}">
                      <a16:creationId xmlns:a16="http://schemas.microsoft.com/office/drawing/2014/main" id="{D96F4A5A-598F-4C18-9792-6A833A076554}"/>
                    </a:ext>
                  </a:extLst>
                </p:cNvPr>
                <p:cNvSpPr txBox="1"/>
                <p:nvPr/>
              </p:nvSpPr>
              <p:spPr>
                <a:xfrm>
                  <a:off x="7429500" y="4284231"/>
                  <a:ext cx="1371600" cy="369332"/>
                </a:xfrm>
                <a:prstGeom prst="rect">
                  <a:avLst/>
                </a:prstGeom>
                <a:solidFill>
                  <a:srgbClr val="92D050"/>
                </a:solidFill>
              </p:spPr>
              <p:txBody>
                <a:bodyPr wrap="square" rtlCol="0">
                  <a:spAutoFit/>
                </a:bodyPr>
                <a:lstStyle/>
                <a:p>
                  <a:pPr algn="ctr"/>
                  <a:r>
                    <a:rPr lang="en-US" dirty="0" err="1"/>
                    <a:t>TreeMap</a:t>
                  </a:r>
                  <a:endParaRPr lang="en-US" dirty="0"/>
                </a:p>
              </p:txBody>
            </p:sp>
            <p:sp>
              <p:nvSpPr>
                <p:cNvPr id="70" name="TextBox 69">
                  <a:extLst>
                    <a:ext uri="{FF2B5EF4-FFF2-40B4-BE49-F238E27FC236}">
                      <a16:creationId xmlns:a16="http://schemas.microsoft.com/office/drawing/2014/main" id="{30638D5B-FC22-465E-9719-831E17065795}"/>
                    </a:ext>
                  </a:extLst>
                </p:cNvPr>
                <p:cNvSpPr txBox="1"/>
                <p:nvPr/>
              </p:nvSpPr>
              <p:spPr>
                <a:xfrm>
                  <a:off x="7620000" y="4873154"/>
                  <a:ext cx="1371600" cy="369332"/>
                </a:xfrm>
                <a:prstGeom prst="rect">
                  <a:avLst/>
                </a:prstGeom>
                <a:solidFill>
                  <a:srgbClr val="92D050"/>
                </a:solidFill>
              </p:spPr>
              <p:txBody>
                <a:bodyPr wrap="square" rtlCol="0">
                  <a:spAutoFit/>
                </a:bodyPr>
                <a:lstStyle/>
                <a:p>
                  <a:pPr algn="ctr"/>
                  <a:r>
                    <a:rPr lang="en-US" dirty="0" err="1"/>
                    <a:t>HashTable</a:t>
                  </a:r>
                  <a:endParaRPr lang="en-US" dirty="0"/>
                </a:p>
              </p:txBody>
            </p:sp>
            <p:sp>
              <p:nvSpPr>
                <p:cNvPr id="71" name="TextBox 70">
                  <a:extLst>
                    <a:ext uri="{FF2B5EF4-FFF2-40B4-BE49-F238E27FC236}">
                      <a16:creationId xmlns:a16="http://schemas.microsoft.com/office/drawing/2014/main" id="{930107E2-3C35-4CB7-9C06-1372D14B1B65}"/>
                    </a:ext>
                  </a:extLst>
                </p:cNvPr>
                <p:cNvSpPr txBox="1"/>
                <p:nvPr/>
              </p:nvSpPr>
              <p:spPr>
                <a:xfrm>
                  <a:off x="7391400" y="3613665"/>
                  <a:ext cx="2090960" cy="407824"/>
                </a:xfrm>
                <a:prstGeom prst="rect">
                  <a:avLst/>
                </a:prstGeom>
                <a:solidFill>
                  <a:srgbClr val="92D050"/>
                </a:solidFill>
              </p:spPr>
              <p:txBody>
                <a:bodyPr wrap="square" rtlCol="0">
                  <a:spAutoFit/>
                </a:bodyPr>
                <a:lstStyle/>
                <a:p>
                  <a:pPr algn="ctr"/>
                  <a:r>
                    <a:rPr lang="en-US" dirty="0" err="1"/>
                    <a:t>LinkedHashMap</a:t>
                  </a:r>
                  <a:endParaRPr lang="en-US" dirty="0"/>
                </a:p>
              </p:txBody>
            </p:sp>
            <p:sp>
              <p:nvSpPr>
                <p:cNvPr id="72" name="TextBox 71">
                  <a:extLst>
                    <a:ext uri="{FF2B5EF4-FFF2-40B4-BE49-F238E27FC236}">
                      <a16:creationId xmlns:a16="http://schemas.microsoft.com/office/drawing/2014/main" id="{02307B19-4466-464D-A47F-57C4226E0258}"/>
                    </a:ext>
                  </a:extLst>
                </p:cNvPr>
                <p:cNvSpPr txBox="1"/>
                <p:nvPr/>
              </p:nvSpPr>
              <p:spPr>
                <a:xfrm>
                  <a:off x="7467600" y="2940476"/>
                  <a:ext cx="1371600" cy="369332"/>
                </a:xfrm>
                <a:prstGeom prst="rect">
                  <a:avLst/>
                </a:prstGeom>
                <a:solidFill>
                  <a:srgbClr val="92D050"/>
                </a:solidFill>
              </p:spPr>
              <p:txBody>
                <a:bodyPr wrap="square" rtlCol="0">
                  <a:spAutoFit/>
                </a:bodyPr>
                <a:lstStyle/>
                <a:p>
                  <a:pPr algn="ctr"/>
                  <a:r>
                    <a:rPr lang="en-US" dirty="0" err="1"/>
                    <a:t>HashMap</a:t>
                  </a:r>
                  <a:endParaRPr lang="en-US" dirty="0"/>
                </a:p>
              </p:txBody>
            </p:sp>
            <p:grpSp>
              <p:nvGrpSpPr>
                <p:cNvPr id="74" name="Group 73">
                  <a:extLst>
                    <a:ext uri="{FF2B5EF4-FFF2-40B4-BE49-F238E27FC236}">
                      <a16:creationId xmlns:a16="http://schemas.microsoft.com/office/drawing/2014/main" id="{E46A5B75-68FB-4B7F-A9F6-7E5C433E4A2F}"/>
                    </a:ext>
                  </a:extLst>
                </p:cNvPr>
                <p:cNvGrpSpPr/>
                <p:nvPr/>
              </p:nvGrpSpPr>
              <p:grpSpPr>
                <a:xfrm>
                  <a:off x="152400" y="838200"/>
                  <a:ext cx="7467600" cy="4788932"/>
                  <a:chOff x="152400" y="838200"/>
                  <a:chExt cx="7467600" cy="4788932"/>
                </a:xfrm>
              </p:grpSpPr>
              <p:sp>
                <p:nvSpPr>
                  <p:cNvPr id="84" name="TextBox 83">
                    <a:extLst>
                      <a:ext uri="{FF2B5EF4-FFF2-40B4-BE49-F238E27FC236}">
                        <a16:creationId xmlns:a16="http://schemas.microsoft.com/office/drawing/2014/main" id="{EFE071F9-B5DA-4919-A842-9B6CA4425113}"/>
                      </a:ext>
                    </a:extLst>
                  </p:cNvPr>
                  <p:cNvSpPr txBox="1"/>
                  <p:nvPr/>
                </p:nvSpPr>
                <p:spPr>
                  <a:xfrm>
                    <a:off x="5257800" y="4267200"/>
                    <a:ext cx="1524000" cy="369332"/>
                  </a:xfrm>
                  <a:prstGeom prst="rect">
                    <a:avLst/>
                  </a:prstGeom>
                  <a:solidFill>
                    <a:srgbClr val="92D050"/>
                  </a:solidFill>
                </p:spPr>
                <p:txBody>
                  <a:bodyPr wrap="square" rtlCol="0">
                    <a:spAutoFit/>
                  </a:bodyPr>
                  <a:lstStyle/>
                  <a:p>
                    <a:pPr algn="ctr"/>
                    <a:r>
                      <a:rPr lang="en-US" dirty="0" err="1"/>
                      <a:t>TreeSet</a:t>
                    </a:r>
                    <a:endParaRPr lang="en-US" dirty="0"/>
                  </a:p>
                </p:txBody>
              </p:sp>
              <p:sp>
                <p:nvSpPr>
                  <p:cNvPr id="85" name="TextBox 84">
                    <a:extLst>
                      <a:ext uri="{FF2B5EF4-FFF2-40B4-BE49-F238E27FC236}">
                        <a16:creationId xmlns:a16="http://schemas.microsoft.com/office/drawing/2014/main" id="{4243F6E4-A2DC-4DFD-9D58-0EAB17D1F027}"/>
                      </a:ext>
                    </a:extLst>
                  </p:cNvPr>
                  <p:cNvSpPr txBox="1"/>
                  <p:nvPr/>
                </p:nvSpPr>
                <p:spPr>
                  <a:xfrm>
                    <a:off x="5181599" y="3657600"/>
                    <a:ext cx="1790698" cy="407824"/>
                  </a:xfrm>
                  <a:prstGeom prst="rect">
                    <a:avLst/>
                  </a:prstGeom>
                  <a:solidFill>
                    <a:srgbClr val="92D050"/>
                  </a:solidFill>
                </p:spPr>
                <p:txBody>
                  <a:bodyPr wrap="square" rtlCol="0">
                    <a:spAutoFit/>
                  </a:bodyPr>
                  <a:lstStyle/>
                  <a:p>
                    <a:pPr algn="ctr"/>
                    <a:r>
                      <a:rPr lang="en-US" dirty="0" err="1"/>
                      <a:t>LinkedHashSet</a:t>
                    </a:r>
                    <a:endParaRPr lang="en-US" dirty="0"/>
                  </a:p>
                </p:txBody>
              </p:sp>
              <p:sp>
                <p:nvSpPr>
                  <p:cNvPr id="86" name="TextBox 85">
                    <a:extLst>
                      <a:ext uri="{FF2B5EF4-FFF2-40B4-BE49-F238E27FC236}">
                        <a16:creationId xmlns:a16="http://schemas.microsoft.com/office/drawing/2014/main" id="{4053DFC0-E552-49C6-B3E8-4B08CB13C538}"/>
                      </a:ext>
                    </a:extLst>
                  </p:cNvPr>
                  <p:cNvSpPr txBox="1"/>
                  <p:nvPr/>
                </p:nvSpPr>
                <p:spPr>
                  <a:xfrm>
                    <a:off x="5181600" y="2971800"/>
                    <a:ext cx="1524000" cy="369332"/>
                  </a:xfrm>
                  <a:prstGeom prst="rect">
                    <a:avLst/>
                  </a:prstGeom>
                  <a:solidFill>
                    <a:srgbClr val="92D050"/>
                  </a:solidFill>
                </p:spPr>
                <p:txBody>
                  <a:bodyPr wrap="square" rtlCol="0">
                    <a:spAutoFit/>
                  </a:bodyPr>
                  <a:lstStyle/>
                  <a:p>
                    <a:pPr algn="ctr"/>
                    <a:r>
                      <a:rPr lang="en-US" dirty="0" err="1"/>
                      <a:t>HashSet</a:t>
                    </a:r>
                    <a:endParaRPr lang="en-US" dirty="0"/>
                  </a:p>
                </p:txBody>
              </p:sp>
              <p:grpSp>
                <p:nvGrpSpPr>
                  <p:cNvPr id="87" name="Group 86">
                    <a:extLst>
                      <a:ext uri="{FF2B5EF4-FFF2-40B4-BE49-F238E27FC236}">
                        <a16:creationId xmlns:a16="http://schemas.microsoft.com/office/drawing/2014/main" id="{F7216BB7-9CC8-446E-8D47-3079E4AD733A}"/>
                      </a:ext>
                    </a:extLst>
                  </p:cNvPr>
                  <p:cNvGrpSpPr/>
                  <p:nvPr/>
                </p:nvGrpSpPr>
                <p:grpSpPr>
                  <a:xfrm>
                    <a:off x="152400" y="838200"/>
                    <a:ext cx="7467600" cy="4788932"/>
                    <a:chOff x="152400" y="838200"/>
                    <a:chExt cx="7467600" cy="4788932"/>
                  </a:xfrm>
                </p:grpSpPr>
                <p:sp>
                  <p:nvSpPr>
                    <p:cNvPr id="90" name="TextBox 89">
                      <a:extLst>
                        <a:ext uri="{FF2B5EF4-FFF2-40B4-BE49-F238E27FC236}">
                          <a16:creationId xmlns:a16="http://schemas.microsoft.com/office/drawing/2014/main" id="{AB016A8B-CDC3-4F4F-9A92-DB24B4158F87}"/>
                        </a:ext>
                      </a:extLst>
                    </p:cNvPr>
                    <p:cNvSpPr txBox="1"/>
                    <p:nvPr/>
                  </p:nvSpPr>
                  <p:spPr>
                    <a:xfrm>
                      <a:off x="152400" y="3124200"/>
                      <a:ext cx="1371600" cy="369332"/>
                    </a:xfrm>
                    <a:prstGeom prst="rect">
                      <a:avLst/>
                    </a:prstGeom>
                    <a:solidFill>
                      <a:srgbClr val="92D050"/>
                    </a:solidFill>
                  </p:spPr>
                  <p:txBody>
                    <a:bodyPr wrap="square" rtlCol="0">
                      <a:spAutoFit/>
                    </a:bodyPr>
                    <a:lstStyle/>
                    <a:p>
                      <a:pPr algn="ctr"/>
                      <a:r>
                        <a:rPr lang="en-US" dirty="0" err="1"/>
                        <a:t>ArrayList</a:t>
                      </a:r>
                      <a:endParaRPr lang="en-US" dirty="0"/>
                    </a:p>
                  </p:txBody>
                </p:sp>
                <p:grpSp>
                  <p:nvGrpSpPr>
                    <p:cNvPr id="92" name="Group 91">
                      <a:extLst>
                        <a:ext uri="{FF2B5EF4-FFF2-40B4-BE49-F238E27FC236}">
                          <a16:creationId xmlns:a16="http://schemas.microsoft.com/office/drawing/2014/main" id="{BBAB4876-7A80-43AF-B267-6D4A3ECB74C3}"/>
                        </a:ext>
                      </a:extLst>
                    </p:cNvPr>
                    <p:cNvGrpSpPr/>
                    <p:nvPr/>
                  </p:nvGrpSpPr>
                  <p:grpSpPr>
                    <a:xfrm>
                      <a:off x="1143000" y="838200"/>
                      <a:ext cx="6477000" cy="1969532"/>
                      <a:chOff x="1143000" y="838200"/>
                      <a:chExt cx="6477000" cy="1969532"/>
                    </a:xfrm>
                  </p:grpSpPr>
                  <p:sp>
                    <p:nvSpPr>
                      <p:cNvPr id="116" name="TextBox 115">
                        <a:extLst>
                          <a:ext uri="{FF2B5EF4-FFF2-40B4-BE49-F238E27FC236}">
                            <a16:creationId xmlns:a16="http://schemas.microsoft.com/office/drawing/2014/main" id="{EDE062DC-E8CD-45D8-8A23-0A90D6BD448C}"/>
                          </a:ext>
                        </a:extLst>
                      </p:cNvPr>
                      <p:cNvSpPr txBox="1"/>
                      <p:nvPr/>
                    </p:nvSpPr>
                    <p:spPr>
                      <a:xfrm>
                        <a:off x="1143000" y="2438400"/>
                        <a:ext cx="1219200" cy="369332"/>
                      </a:xfrm>
                      <a:prstGeom prst="rect">
                        <a:avLst/>
                      </a:prstGeom>
                      <a:solidFill>
                        <a:srgbClr val="00B0F0"/>
                      </a:solidFill>
                    </p:spPr>
                    <p:txBody>
                      <a:bodyPr wrap="square" rtlCol="0">
                        <a:spAutoFit/>
                      </a:bodyPr>
                      <a:lstStyle/>
                      <a:p>
                        <a:pPr algn="ctr"/>
                        <a:r>
                          <a:rPr lang="en-US" dirty="0"/>
                          <a:t>List</a:t>
                        </a:r>
                      </a:p>
                    </p:txBody>
                  </p:sp>
                  <p:sp>
                    <p:nvSpPr>
                      <p:cNvPr id="117" name="TextBox 116">
                        <a:extLst>
                          <a:ext uri="{FF2B5EF4-FFF2-40B4-BE49-F238E27FC236}">
                            <a16:creationId xmlns:a16="http://schemas.microsoft.com/office/drawing/2014/main" id="{BBAB40B2-1474-4145-8B7F-C162C4438C23}"/>
                          </a:ext>
                        </a:extLst>
                      </p:cNvPr>
                      <p:cNvSpPr txBox="1"/>
                      <p:nvPr/>
                    </p:nvSpPr>
                    <p:spPr>
                      <a:xfrm>
                        <a:off x="2895600" y="2438400"/>
                        <a:ext cx="1219200" cy="369332"/>
                      </a:xfrm>
                      <a:prstGeom prst="rect">
                        <a:avLst/>
                      </a:prstGeom>
                      <a:solidFill>
                        <a:srgbClr val="00B0F0"/>
                      </a:solidFill>
                    </p:spPr>
                    <p:txBody>
                      <a:bodyPr wrap="square" rtlCol="0">
                        <a:spAutoFit/>
                      </a:bodyPr>
                      <a:lstStyle/>
                      <a:p>
                        <a:pPr algn="ctr"/>
                        <a:r>
                          <a:rPr lang="en-US" dirty="0"/>
                          <a:t>Queue</a:t>
                        </a:r>
                      </a:p>
                    </p:txBody>
                  </p:sp>
                  <p:sp>
                    <p:nvSpPr>
                      <p:cNvPr id="118" name="TextBox 117">
                        <a:extLst>
                          <a:ext uri="{FF2B5EF4-FFF2-40B4-BE49-F238E27FC236}">
                            <a16:creationId xmlns:a16="http://schemas.microsoft.com/office/drawing/2014/main" id="{21A076EE-BA1D-486F-BC76-0C24804AF53C}"/>
                          </a:ext>
                        </a:extLst>
                      </p:cNvPr>
                      <p:cNvSpPr txBox="1"/>
                      <p:nvPr/>
                    </p:nvSpPr>
                    <p:spPr>
                      <a:xfrm>
                        <a:off x="4495800" y="2438400"/>
                        <a:ext cx="914400" cy="369332"/>
                      </a:xfrm>
                      <a:prstGeom prst="rect">
                        <a:avLst/>
                      </a:prstGeom>
                      <a:solidFill>
                        <a:srgbClr val="00B0F0"/>
                      </a:solidFill>
                    </p:spPr>
                    <p:txBody>
                      <a:bodyPr wrap="square" rtlCol="0">
                        <a:spAutoFit/>
                      </a:bodyPr>
                      <a:lstStyle/>
                      <a:p>
                        <a:pPr algn="ctr"/>
                        <a:r>
                          <a:rPr lang="en-US" dirty="0"/>
                          <a:t>Set</a:t>
                        </a:r>
                      </a:p>
                    </p:txBody>
                  </p:sp>
                  <p:sp>
                    <p:nvSpPr>
                      <p:cNvPr id="119" name="TextBox 118">
                        <a:extLst>
                          <a:ext uri="{FF2B5EF4-FFF2-40B4-BE49-F238E27FC236}">
                            <a16:creationId xmlns:a16="http://schemas.microsoft.com/office/drawing/2014/main" id="{6DBAF527-2734-43E8-8624-07FFD3CDFAF8}"/>
                          </a:ext>
                        </a:extLst>
                      </p:cNvPr>
                      <p:cNvSpPr txBox="1"/>
                      <p:nvPr/>
                    </p:nvSpPr>
                    <p:spPr>
                      <a:xfrm>
                        <a:off x="6477000" y="2362200"/>
                        <a:ext cx="1143000" cy="369332"/>
                      </a:xfrm>
                      <a:prstGeom prst="rect">
                        <a:avLst/>
                      </a:prstGeom>
                      <a:solidFill>
                        <a:srgbClr val="00B0F0"/>
                      </a:solidFill>
                    </p:spPr>
                    <p:txBody>
                      <a:bodyPr wrap="square" rtlCol="0">
                        <a:spAutoFit/>
                      </a:bodyPr>
                      <a:lstStyle/>
                      <a:p>
                        <a:pPr algn="ctr"/>
                        <a:r>
                          <a:rPr lang="en-US" dirty="0"/>
                          <a:t>Map</a:t>
                        </a:r>
                      </a:p>
                    </p:txBody>
                  </p:sp>
                  <p:grpSp>
                    <p:nvGrpSpPr>
                      <p:cNvPr id="120" name="Group 119">
                        <a:extLst>
                          <a:ext uri="{FF2B5EF4-FFF2-40B4-BE49-F238E27FC236}">
                            <a16:creationId xmlns:a16="http://schemas.microsoft.com/office/drawing/2014/main" id="{9A80F15C-62B5-4871-A6BD-D302A123A3C8}"/>
                          </a:ext>
                        </a:extLst>
                      </p:cNvPr>
                      <p:cNvGrpSpPr/>
                      <p:nvPr/>
                    </p:nvGrpSpPr>
                    <p:grpSpPr>
                      <a:xfrm>
                        <a:off x="3200400" y="838200"/>
                        <a:ext cx="1752600" cy="1055132"/>
                        <a:chOff x="3200400" y="838200"/>
                        <a:chExt cx="1752600" cy="1055132"/>
                      </a:xfrm>
                    </p:grpSpPr>
                    <p:sp>
                      <p:nvSpPr>
                        <p:cNvPr id="123" name="TextBox 122">
                          <a:extLst>
                            <a:ext uri="{FF2B5EF4-FFF2-40B4-BE49-F238E27FC236}">
                              <a16:creationId xmlns:a16="http://schemas.microsoft.com/office/drawing/2014/main" id="{DF2436A6-AA0C-461F-A712-197EFB11C645}"/>
                            </a:ext>
                          </a:extLst>
                        </p:cNvPr>
                        <p:cNvSpPr txBox="1"/>
                        <p:nvPr/>
                      </p:nvSpPr>
                      <p:spPr>
                        <a:xfrm>
                          <a:off x="3200400" y="838200"/>
                          <a:ext cx="1752600" cy="369332"/>
                        </a:xfrm>
                        <a:prstGeom prst="rect">
                          <a:avLst/>
                        </a:prstGeom>
                        <a:solidFill>
                          <a:srgbClr val="00B0F0"/>
                        </a:solidFill>
                      </p:spPr>
                      <p:txBody>
                        <a:bodyPr wrap="square" rtlCol="0">
                          <a:spAutoFit/>
                        </a:bodyPr>
                        <a:lstStyle/>
                        <a:p>
                          <a:pPr algn="ctr"/>
                          <a:r>
                            <a:rPr lang="en-US" dirty="0"/>
                            <a:t>Iterable</a:t>
                          </a:r>
                        </a:p>
                      </p:txBody>
                    </p:sp>
                    <p:sp>
                      <p:nvSpPr>
                        <p:cNvPr id="124" name="TextBox 123">
                          <a:extLst>
                            <a:ext uri="{FF2B5EF4-FFF2-40B4-BE49-F238E27FC236}">
                              <a16:creationId xmlns:a16="http://schemas.microsoft.com/office/drawing/2014/main" id="{1D67E089-1462-417A-9B1A-028113F51B79}"/>
                            </a:ext>
                          </a:extLst>
                        </p:cNvPr>
                        <p:cNvSpPr txBox="1"/>
                        <p:nvPr/>
                      </p:nvSpPr>
                      <p:spPr>
                        <a:xfrm>
                          <a:off x="3200400" y="1524000"/>
                          <a:ext cx="1752600" cy="369332"/>
                        </a:xfrm>
                        <a:prstGeom prst="rect">
                          <a:avLst/>
                        </a:prstGeom>
                        <a:solidFill>
                          <a:srgbClr val="00B0F0"/>
                        </a:solidFill>
                      </p:spPr>
                      <p:txBody>
                        <a:bodyPr wrap="square" rtlCol="0">
                          <a:spAutoFit/>
                        </a:bodyPr>
                        <a:lstStyle/>
                        <a:p>
                          <a:pPr algn="ctr"/>
                          <a:r>
                            <a:rPr lang="en-US" dirty="0"/>
                            <a:t>Collection</a:t>
                          </a:r>
                        </a:p>
                      </p:txBody>
                    </p:sp>
                    <p:cxnSp>
                      <p:nvCxnSpPr>
                        <p:cNvPr id="125" name="Elbow Connector 19">
                          <a:extLst>
                            <a:ext uri="{FF2B5EF4-FFF2-40B4-BE49-F238E27FC236}">
                              <a16:creationId xmlns:a16="http://schemas.microsoft.com/office/drawing/2014/main" id="{ECAC1098-F713-428D-8326-C0CC7A5D40B0}"/>
                            </a:ext>
                          </a:extLst>
                        </p:cNvPr>
                        <p:cNvCxnSpPr>
                          <a:stCxn id="124" idx="0"/>
                          <a:endCxn id="123" idx="2"/>
                        </p:cNvCxnSpPr>
                        <p:nvPr/>
                      </p:nvCxnSpPr>
                      <p:spPr>
                        <a:xfrm rot="5400000" flipH="1" flipV="1">
                          <a:off x="3918466" y="1365766"/>
                          <a:ext cx="316468" cy="1588"/>
                        </a:xfrm>
                        <a:prstGeom prst="bentConnector3">
                          <a:avLst>
                            <a:gd name="adj1" fmla="val 50000"/>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21" name="Elbow Connector 22">
                        <a:extLst>
                          <a:ext uri="{FF2B5EF4-FFF2-40B4-BE49-F238E27FC236}">
                            <a16:creationId xmlns:a16="http://schemas.microsoft.com/office/drawing/2014/main" id="{07FEDFAB-E1D0-435B-B218-ECAC8B125D41}"/>
                          </a:ext>
                        </a:extLst>
                      </p:cNvPr>
                      <p:cNvCxnSpPr>
                        <a:stCxn id="116" idx="0"/>
                        <a:endCxn id="124" idx="2"/>
                      </p:cNvCxnSpPr>
                      <p:nvPr/>
                    </p:nvCxnSpPr>
                    <p:spPr>
                      <a:xfrm rot="5400000" flipH="1" flipV="1">
                        <a:off x="2642116" y="1003816"/>
                        <a:ext cx="545068" cy="2324100"/>
                      </a:xfrm>
                      <a:prstGeom prst="bentConnector3">
                        <a:avLst>
                          <a:gd name="adj1" fmla="val 50000"/>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2" name="Elbow Connector 30">
                        <a:extLst>
                          <a:ext uri="{FF2B5EF4-FFF2-40B4-BE49-F238E27FC236}">
                            <a16:creationId xmlns:a16="http://schemas.microsoft.com/office/drawing/2014/main" id="{2DB16F58-BA89-4180-AF55-29689E033BB6}"/>
                          </a:ext>
                        </a:extLst>
                      </p:cNvPr>
                      <p:cNvCxnSpPr>
                        <a:stCxn id="117" idx="0"/>
                        <a:endCxn id="124" idx="2"/>
                      </p:cNvCxnSpPr>
                      <p:nvPr/>
                    </p:nvCxnSpPr>
                    <p:spPr>
                      <a:xfrm rot="5400000" flipH="1" flipV="1">
                        <a:off x="3518416" y="1880116"/>
                        <a:ext cx="545068" cy="571500"/>
                      </a:xfrm>
                      <a:prstGeom prst="bentConnector3">
                        <a:avLst>
                          <a:gd name="adj1" fmla="val 50000"/>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93" name="TextBox 92">
                      <a:extLst>
                        <a:ext uri="{FF2B5EF4-FFF2-40B4-BE49-F238E27FC236}">
                          <a16:creationId xmlns:a16="http://schemas.microsoft.com/office/drawing/2014/main" id="{5A616FEC-6B4D-4477-B2A1-C897FE0D1426}"/>
                        </a:ext>
                      </a:extLst>
                    </p:cNvPr>
                    <p:cNvSpPr txBox="1"/>
                    <p:nvPr/>
                  </p:nvSpPr>
                  <p:spPr>
                    <a:xfrm>
                      <a:off x="152400" y="3733800"/>
                      <a:ext cx="1371600" cy="369332"/>
                    </a:xfrm>
                    <a:prstGeom prst="rect">
                      <a:avLst/>
                    </a:prstGeom>
                    <a:solidFill>
                      <a:srgbClr val="92D050"/>
                    </a:solidFill>
                  </p:spPr>
                  <p:txBody>
                    <a:bodyPr wrap="square" rtlCol="0">
                      <a:spAutoFit/>
                    </a:bodyPr>
                    <a:lstStyle/>
                    <a:p>
                      <a:pPr algn="ctr"/>
                      <a:r>
                        <a:rPr lang="en-US" dirty="0" err="1"/>
                        <a:t>LinkedList</a:t>
                      </a:r>
                      <a:endParaRPr lang="en-US" dirty="0"/>
                    </a:p>
                  </p:txBody>
                </p:sp>
                <p:sp>
                  <p:nvSpPr>
                    <p:cNvPr id="94" name="TextBox 93">
                      <a:extLst>
                        <a:ext uri="{FF2B5EF4-FFF2-40B4-BE49-F238E27FC236}">
                          <a16:creationId xmlns:a16="http://schemas.microsoft.com/office/drawing/2014/main" id="{94F3AF15-EFE7-4890-9CB3-6095D6DF3968}"/>
                        </a:ext>
                      </a:extLst>
                    </p:cNvPr>
                    <p:cNvSpPr txBox="1"/>
                    <p:nvPr/>
                  </p:nvSpPr>
                  <p:spPr>
                    <a:xfrm>
                      <a:off x="3048000" y="3864166"/>
                      <a:ext cx="1600200" cy="369332"/>
                    </a:xfrm>
                    <a:prstGeom prst="rect">
                      <a:avLst/>
                    </a:prstGeom>
                    <a:solidFill>
                      <a:srgbClr val="00B0F0"/>
                    </a:solidFill>
                  </p:spPr>
                  <p:txBody>
                    <a:bodyPr wrap="square" rtlCol="0">
                      <a:spAutoFit/>
                    </a:bodyPr>
                    <a:lstStyle/>
                    <a:p>
                      <a:pPr algn="ctr"/>
                      <a:r>
                        <a:rPr lang="en-US" dirty="0"/>
                        <a:t>Dequeue</a:t>
                      </a:r>
                    </a:p>
                  </p:txBody>
                </p:sp>
                <p:sp>
                  <p:nvSpPr>
                    <p:cNvPr id="95" name="TextBox 94">
                      <a:extLst>
                        <a:ext uri="{FF2B5EF4-FFF2-40B4-BE49-F238E27FC236}">
                          <a16:creationId xmlns:a16="http://schemas.microsoft.com/office/drawing/2014/main" id="{B9803781-EBF3-468C-92BC-36D12B9589D7}"/>
                        </a:ext>
                      </a:extLst>
                    </p:cNvPr>
                    <p:cNvSpPr txBox="1"/>
                    <p:nvPr/>
                  </p:nvSpPr>
                  <p:spPr>
                    <a:xfrm>
                      <a:off x="3048000" y="4724400"/>
                      <a:ext cx="1600200" cy="369332"/>
                    </a:xfrm>
                    <a:prstGeom prst="rect">
                      <a:avLst/>
                    </a:prstGeom>
                    <a:solidFill>
                      <a:srgbClr val="92D050"/>
                    </a:solidFill>
                  </p:spPr>
                  <p:txBody>
                    <a:bodyPr wrap="square" rtlCol="0">
                      <a:spAutoFit/>
                    </a:bodyPr>
                    <a:lstStyle/>
                    <a:p>
                      <a:pPr algn="ctr"/>
                      <a:r>
                        <a:rPr lang="en-US" dirty="0"/>
                        <a:t>ArrayQueue</a:t>
                      </a:r>
                    </a:p>
                  </p:txBody>
                </p:sp>
                <p:sp>
                  <p:nvSpPr>
                    <p:cNvPr id="96" name="TextBox 95">
                      <a:extLst>
                        <a:ext uri="{FF2B5EF4-FFF2-40B4-BE49-F238E27FC236}">
                          <a16:creationId xmlns:a16="http://schemas.microsoft.com/office/drawing/2014/main" id="{6ED55BC8-4FA4-46F3-A409-B9C3491F1D13}"/>
                        </a:ext>
                      </a:extLst>
                    </p:cNvPr>
                    <p:cNvSpPr txBox="1"/>
                    <p:nvPr/>
                  </p:nvSpPr>
                  <p:spPr>
                    <a:xfrm>
                      <a:off x="152400" y="4343400"/>
                      <a:ext cx="1371600" cy="369332"/>
                    </a:xfrm>
                    <a:prstGeom prst="rect">
                      <a:avLst/>
                    </a:prstGeom>
                    <a:solidFill>
                      <a:srgbClr val="92D050"/>
                    </a:solidFill>
                  </p:spPr>
                  <p:txBody>
                    <a:bodyPr wrap="square" rtlCol="0">
                      <a:spAutoFit/>
                    </a:bodyPr>
                    <a:lstStyle/>
                    <a:p>
                      <a:pPr algn="ctr"/>
                      <a:r>
                        <a:rPr lang="en-US" dirty="0"/>
                        <a:t>Vector</a:t>
                      </a:r>
                    </a:p>
                  </p:txBody>
                </p:sp>
                <p:sp>
                  <p:nvSpPr>
                    <p:cNvPr id="97" name="TextBox 96">
                      <a:extLst>
                        <a:ext uri="{FF2B5EF4-FFF2-40B4-BE49-F238E27FC236}">
                          <a16:creationId xmlns:a16="http://schemas.microsoft.com/office/drawing/2014/main" id="{D4DCEEAA-CE03-4613-AD9E-A10ABF2BF6B8}"/>
                        </a:ext>
                      </a:extLst>
                    </p:cNvPr>
                    <p:cNvSpPr txBox="1"/>
                    <p:nvPr/>
                  </p:nvSpPr>
                  <p:spPr>
                    <a:xfrm>
                      <a:off x="2057400" y="3266368"/>
                      <a:ext cx="1750216" cy="407824"/>
                    </a:xfrm>
                    <a:prstGeom prst="rect">
                      <a:avLst/>
                    </a:prstGeom>
                    <a:solidFill>
                      <a:srgbClr val="92D050"/>
                    </a:solidFill>
                  </p:spPr>
                  <p:txBody>
                    <a:bodyPr wrap="square" rtlCol="0">
                      <a:spAutoFit/>
                    </a:bodyPr>
                    <a:lstStyle/>
                    <a:p>
                      <a:pPr algn="ctr"/>
                      <a:r>
                        <a:rPr lang="en-US" dirty="0" err="1"/>
                        <a:t>PriorityQueue</a:t>
                      </a:r>
                      <a:endParaRPr lang="en-US" dirty="0"/>
                    </a:p>
                  </p:txBody>
                </p:sp>
                <p:sp>
                  <p:nvSpPr>
                    <p:cNvPr id="98" name="TextBox 97">
                      <a:extLst>
                        <a:ext uri="{FF2B5EF4-FFF2-40B4-BE49-F238E27FC236}">
                          <a16:creationId xmlns:a16="http://schemas.microsoft.com/office/drawing/2014/main" id="{AFA3206D-C805-43C4-8235-741FDDBC5664}"/>
                        </a:ext>
                      </a:extLst>
                    </p:cNvPr>
                    <p:cNvSpPr txBox="1"/>
                    <p:nvPr/>
                  </p:nvSpPr>
                  <p:spPr>
                    <a:xfrm>
                      <a:off x="152400" y="5257800"/>
                      <a:ext cx="1371600" cy="369332"/>
                    </a:xfrm>
                    <a:prstGeom prst="rect">
                      <a:avLst/>
                    </a:prstGeom>
                    <a:solidFill>
                      <a:srgbClr val="92D050"/>
                    </a:solidFill>
                  </p:spPr>
                  <p:txBody>
                    <a:bodyPr wrap="square" rtlCol="0">
                      <a:spAutoFit/>
                    </a:bodyPr>
                    <a:lstStyle/>
                    <a:p>
                      <a:pPr algn="ctr"/>
                      <a:r>
                        <a:rPr lang="en-US" dirty="0"/>
                        <a:t>Stack</a:t>
                      </a:r>
                    </a:p>
                  </p:txBody>
                </p:sp>
                <p:cxnSp>
                  <p:nvCxnSpPr>
                    <p:cNvPr id="99" name="Shape 50">
                      <a:extLst>
                        <a:ext uri="{FF2B5EF4-FFF2-40B4-BE49-F238E27FC236}">
                          <a16:creationId xmlns:a16="http://schemas.microsoft.com/office/drawing/2014/main" id="{DC80F8D8-DE7F-4294-8A65-6F1956E7D620}"/>
                        </a:ext>
                      </a:extLst>
                    </p:cNvPr>
                    <p:cNvCxnSpPr>
                      <a:stCxn id="90" idx="3"/>
                      <a:endCxn id="116" idx="2"/>
                    </p:cNvCxnSpPr>
                    <p:nvPr/>
                  </p:nvCxnSpPr>
                  <p:spPr>
                    <a:xfrm flipV="1">
                      <a:off x="1524000" y="2807732"/>
                      <a:ext cx="228600" cy="501134"/>
                    </a:xfrm>
                    <a:prstGeom prst="bentConnector2">
                      <a:avLst/>
                    </a:prstGeom>
                    <a:ln w="1905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100" name="Shape 52">
                      <a:extLst>
                        <a:ext uri="{FF2B5EF4-FFF2-40B4-BE49-F238E27FC236}">
                          <a16:creationId xmlns:a16="http://schemas.microsoft.com/office/drawing/2014/main" id="{8A8BF034-718B-4958-AD87-867B4441D66C}"/>
                        </a:ext>
                      </a:extLst>
                    </p:cNvPr>
                    <p:cNvCxnSpPr>
                      <a:stCxn id="93" idx="3"/>
                      <a:endCxn id="116" idx="2"/>
                    </p:cNvCxnSpPr>
                    <p:nvPr/>
                  </p:nvCxnSpPr>
                  <p:spPr>
                    <a:xfrm flipV="1">
                      <a:off x="1524000" y="2807732"/>
                      <a:ext cx="228600" cy="1110734"/>
                    </a:xfrm>
                    <a:prstGeom prst="bentConnector2">
                      <a:avLst/>
                    </a:prstGeom>
                    <a:ln w="1905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101" name="Shape 55">
                      <a:extLst>
                        <a:ext uri="{FF2B5EF4-FFF2-40B4-BE49-F238E27FC236}">
                          <a16:creationId xmlns:a16="http://schemas.microsoft.com/office/drawing/2014/main" id="{5B6C588A-BA7D-41F3-9CB7-DBD7DD0D91CD}"/>
                        </a:ext>
                      </a:extLst>
                    </p:cNvPr>
                    <p:cNvCxnSpPr>
                      <a:stCxn id="96" idx="3"/>
                      <a:endCxn id="116" idx="2"/>
                    </p:cNvCxnSpPr>
                    <p:nvPr/>
                  </p:nvCxnSpPr>
                  <p:spPr>
                    <a:xfrm flipV="1">
                      <a:off x="1524000" y="2807732"/>
                      <a:ext cx="228600" cy="1720334"/>
                    </a:xfrm>
                    <a:prstGeom prst="bentConnector2">
                      <a:avLst/>
                    </a:prstGeom>
                    <a:ln w="1905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0891CB88-DF7F-410B-BEE8-EA09E0AA1A3E}"/>
                        </a:ext>
                      </a:extLst>
                    </p:cNvPr>
                    <p:cNvCxnSpPr>
                      <a:stCxn id="98" idx="0"/>
                      <a:endCxn id="96" idx="2"/>
                    </p:cNvCxnSpPr>
                    <p:nvPr/>
                  </p:nvCxnSpPr>
                  <p:spPr>
                    <a:xfrm rot="5400000" flipH="1" flipV="1">
                      <a:off x="565666" y="4985266"/>
                      <a:ext cx="545068"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128E115A-2E53-45FB-BBFC-FB194CB24BBF}"/>
                        </a:ext>
                      </a:extLst>
                    </p:cNvPr>
                    <p:cNvCxnSpPr/>
                    <p:nvPr/>
                  </p:nvCxnSpPr>
                  <p:spPr>
                    <a:xfrm rot="5400000" flipH="1" flipV="1">
                      <a:off x="2816090" y="3024228"/>
                      <a:ext cx="436737" cy="27083"/>
                    </a:xfrm>
                    <a:prstGeom prst="straightConnector1">
                      <a:avLst/>
                    </a:prstGeom>
                    <a:ln w="1905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C0C21D68-C25B-4FB7-9E16-88DFE022F481}"/>
                        </a:ext>
                      </a:extLst>
                    </p:cNvPr>
                    <p:cNvCxnSpPr/>
                    <p:nvPr/>
                  </p:nvCxnSpPr>
                  <p:spPr>
                    <a:xfrm rot="5400000" flipH="1" flipV="1">
                      <a:off x="3505200" y="3330766"/>
                      <a:ext cx="1066800"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B835C281-BFA7-4452-8DBF-59C6B52C0B3F}"/>
                        </a:ext>
                      </a:extLst>
                    </p:cNvPr>
                    <p:cNvCxnSpPr>
                      <a:stCxn id="95" idx="0"/>
                      <a:endCxn id="94" idx="2"/>
                    </p:cNvCxnSpPr>
                    <p:nvPr/>
                  </p:nvCxnSpPr>
                  <p:spPr>
                    <a:xfrm rot="5400000" flipH="1" flipV="1">
                      <a:off x="3602649" y="4478949"/>
                      <a:ext cx="490902" cy="1588"/>
                    </a:xfrm>
                    <a:prstGeom prst="straightConnector1">
                      <a:avLst/>
                    </a:prstGeom>
                    <a:ln w="1905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4B2AF04F-4707-4322-BD7E-77422C18DC9A}"/>
                        </a:ext>
                      </a:extLst>
                    </p:cNvPr>
                    <p:cNvCxnSpPr>
                      <a:endCxn id="94" idx="1"/>
                    </p:cNvCxnSpPr>
                    <p:nvPr/>
                  </p:nvCxnSpPr>
                  <p:spPr>
                    <a:xfrm>
                      <a:off x="1524000" y="4038600"/>
                      <a:ext cx="1524000" cy="10232"/>
                    </a:xfrm>
                    <a:prstGeom prst="straightConnector1">
                      <a:avLst/>
                    </a:prstGeom>
                    <a:ln w="1905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grpSp>
              <p:cxnSp>
                <p:nvCxnSpPr>
                  <p:cNvPr id="88" name="Shape 81">
                    <a:extLst>
                      <a:ext uri="{FF2B5EF4-FFF2-40B4-BE49-F238E27FC236}">
                        <a16:creationId xmlns:a16="http://schemas.microsoft.com/office/drawing/2014/main" id="{9D9605A6-94D9-48CE-B897-F277CD7C1951}"/>
                      </a:ext>
                    </a:extLst>
                  </p:cNvPr>
                  <p:cNvCxnSpPr>
                    <a:endCxn id="118" idx="2"/>
                  </p:cNvCxnSpPr>
                  <p:nvPr/>
                </p:nvCxnSpPr>
                <p:spPr>
                  <a:xfrm rot="16200000" flipV="1">
                    <a:off x="4544199" y="3216533"/>
                    <a:ext cx="1046202" cy="228600"/>
                  </a:xfrm>
                  <a:prstGeom prst="bentConnector3">
                    <a:avLst>
                      <a:gd name="adj1" fmla="val 507"/>
                    </a:avLst>
                  </a:prstGeom>
                  <a:ln w="1905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grpSp>
            <p:cxnSp>
              <p:nvCxnSpPr>
                <p:cNvPr id="75" name="Shape 90">
                  <a:extLst>
                    <a:ext uri="{FF2B5EF4-FFF2-40B4-BE49-F238E27FC236}">
                      <a16:creationId xmlns:a16="http://schemas.microsoft.com/office/drawing/2014/main" id="{A7EF30AB-ED4D-4A51-94A2-EE25CDC909C8}"/>
                    </a:ext>
                  </a:extLst>
                </p:cNvPr>
                <p:cNvCxnSpPr>
                  <a:cxnSpLocks/>
                  <a:stCxn id="70" idx="1"/>
                </p:cNvCxnSpPr>
                <p:nvPr/>
              </p:nvCxnSpPr>
              <p:spPr>
                <a:xfrm rot="10800000">
                  <a:off x="7067553" y="2719230"/>
                  <a:ext cx="552449" cy="2338592"/>
                </a:xfrm>
                <a:prstGeom prst="bentConnector2">
                  <a:avLst/>
                </a:prstGeom>
                <a:ln w="1905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34F3F66-3D2D-4FBB-A0DB-02D583B7B0D0}"/>
                    </a:ext>
                  </a:extLst>
                </p:cNvPr>
                <p:cNvCxnSpPr>
                  <a:cxnSpLocks/>
                </p:cNvCxnSpPr>
                <p:nvPr/>
              </p:nvCxnSpPr>
              <p:spPr>
                <a:xfrm flipH="1" flipV="1">
                  <a:off x="7086599" y="4468896"/>
                  <a:ext cx="365221" cy="5544"/>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7FBD7F4A-E137-4B17-B72B-C1BDDFC049F6}"/>
                    </a:ext>
                  </a:extLst>
                </p:cNvPr>
                <p:cNvCxnSpPr>
                  <a:cxnSpLocks/>
                </p:cNvCxnSpPr>
                <p:nvPr/>
              </p:nvCxnSpPr>
              <p:spPr>
                <a:xfrm flipH="1">
                  <a:off x="7086599" y="3777286"/>
                  <a:ext cx="304803"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9B7717B9-3EB8-4FC6-9784-7CE04F78AC46}"/>
                    </a:ext>
                  </a:extLst>
                </p:cNvPr>
                <p:cNvCxnSpPr>
                  <a:cxnSpLocks/>
                </p:cNvCxnSpPr>
                <p:nvPr/>
              </p:nvCxnSpPr>
              <p:spPr>
                <a:xfrm flipH="1" flipV="1">
                  <a:off x="7086599" y="3124200"/>
                  <a:ext cx="381003" cy="1216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2778188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B1A3F-1AF7-EE21-FA3D-E9FA77EF71A7}"/>
              </a:ext>
            </a:extLst>
          </p:cNvPr>
          <p:cNvSpPr>
            <a:spLocks noGrp="1"/>
          </p:cNvSpPr>
          <p:nvPr>
            <p:ph type="title"/>
          </p:nvPr>
        </p:nvSpPr>
        <p:spPr>
          <a:xfrm>
            <a:off x="677334" y="186718"/>
            <a:ext cx="8596668" cy="629920"/>
          </a:xfrm>
        </p:spPr>
        <p:txBody>
          <a:bodyPr>
            <a:normAutofit fontScale="90000"/>
          </a:bodyPr>
          <a:lstStyle/>
          <a:p>
            <a:r>
              <a:rPr lang="en-IN" dirty="0"/>
              <a:t>Generics</a:t>
            </a:r>
          </a:p>
        </p:txBody>
      </p:sp>
      <p:sp>
        <p:nvSpPr>
          <p:cNvPr id="3" name="Content Placeholder 2">
            <a:extLst>
              <a:ext uri="{FF2B5EF4-FFF2-40B4-BE49-F238E27FC236}">
                <a16:creationId xmlns:a16="http://schemas.microsoft.com/office/drawing/2014/main" id="{8AE70110-E9FA-5404-5CEB-02FDB2BCD766}"/>
              </a:ext>
            </a:extLst>
          </p:cNvPr>
          <p:cNvSpPr>
            <a:spLocks noGrp="1"/>
          </p:cNvSpPr>
          <p:nvPr>
            <p:ph idx="1"/>
          </p:nvPr>
        </p:nvSpPr>
        <p:spPr>
          <a:xfrm>
            <a:off x="677334" y="1127761"/>
            <a:ext cx="8596668" cy="4913602"/>
          </a:xfrm>
        </p:spPr>
        <p:txBody>
          <a:bodyPr/>
          <a:lstStyle/>
          <a:p>
            <a:pPr marL="0" indent="0">
              <a:buNone/>
            </a:pPr>
            <a:r>
              <a:rPr lang="en-US"/>
              <a:t>	Generics </a:t>
            </a:r>
            <a:r>
              <a:rPr lang="en-US" dirty="0"/>
              <a:t>are a powerful feature in Java that allows you to define classes, interfaces, and methods with </a:t>
            </a:r>
            <a:r>
              <a:rPr lang="en-US" dirty="0">
                <a:highlight>
                  <a:srgbClr val="FFFF00"/>
                </a:highlight>
              </a:rPr>
              <a:t>type parameters</a:t>
            </a:r>
            <a:r>
              <a:rPr lang="en-US" dirty="0"/>
              <a:t>. They enable </a:t>
            </a:r>
            <a:r>
              <a:rPr lang="en-US" dirty="0">
                <a:highlight>
                  <a:srgbClr val="FFFF00"/>
                </a:highlight>
              </a:rPr>
              <a:t>type safety </a:t>
            </a:r>
            <a:r>
              <a:rPr lang="en-US" dirty="0"/>
              <a:t>and reusability by ensuring that a collection or data structure works with specific types </a:t>
            </a:r>
            <a:r>
              <a:rPr lang="en-US" dirty="0">
                <a:highlight>
                  <a:srgbClr val="FFFF00"/>
                </a:highlight>
              </a:rPr>
              <a:t>without requiring type casting</a:t>
            </a:r>
            <a:r>
              <a:rPr lang="en-US" dirty="0"/>
              <a:t>.</a:t>
            </a:r>
          </a:p>
          <a:p>
            <a:pPr marL="0" indent="0">
              <a:buNone/>
            </a:pPr>
            <a:endParaRPr lang="en-US" dirty="0"/>
          </a:p>
          <a:p>
            <a:pPr>
              <a:buAutoNum type="arabicPeriod"/>
            </a:pPr>
            <a:r>
              <a:rPr lang="en-US" b="1" dirty="0"/>
              <a:t>Type Safety</a:t>
            </a:r>
          </a:p>
          <a:p>
            <a:pPr marL="0" indent="0">
              <a:buNone/>
            </a:pPr>
            <a:r>
              <a:rPr lang="en-US" dirty="0"/>
              <a:t>		List&lt;String&gt; list = new </a:t>
            </a:r>
            <a:r>
              <a:rPr lang="en-US" dirty="0" err="1"/>
              <a:t>ArrayList</a:t>
            </a:r>
            <a:r>
              <a:rPr lang="en-US" dirty="0"/>
              <a:t>&lt;&gt;();</a:t>
            </a:r>
          </a:p>
          <a:p>
            <a:pPr marL="0" indent="0">
              <a:buNone/>
            </a:pPr>
            <a:r>
              <a:rPr lang="en-US" dirty="0"/>
              <a:t>		</a:t>
            </a:r>
            <a:r>
              <a:rPr lang="en-US" dirty="0" err="1"/>
              <a:t>list.add</a:t>
            </a:r>
            <a:r>
              <a:rPr lang="en-US" dirty="0"/>
              <a:t>("Hello"); // Type-safe, only Strings allowed.</a:t>
            </a:r>
          </a:p>
          <a:p>
            <a:pPr marL="0" indent="0">
              <a:spcAft>
                <a:spcPts val="1200"/>
              </a:spcAft>
              <a:buNone/>
            </a:pPr>
            <a:r>
              <a:rPr lang="en-US" dirty="0"/>
              <a:t>		// </a:t>
            </a:r>
            <a:r>
              <a:rPr lang="en-US" dirty="0" err="1"/>
              <a:t>list.add</a:t>
            </a:r>
            <a:r>
              <a:rPr lang="en-US" dirty="0"/>
              <a:t>(123); // Compile-time error.</a:t>
            </a:r>
          </a:p>
        </p:txBody>
      </p:sp>
    </p:spTree>
    <p:extLst>
      <p:ext uri="{BB962C8B-B14F-4D97-AF65-F5344CB8AC3E}">
        <p14:creationId xmlns:p14="http://schemas.microsoft.com/office/powerpoint/2010/main" val="7956271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A93CE-3284-9816-5EF6-0A86B03956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A95846-B120-A1C0-1674-4ADE5570BDEF}"/>
              </a:ext>
            </a:extLst>
          </p:cNvPr>
          <p:cNvSpPr>
            <a:spLocks noGrp="1"/>
          </p:cNvSpPr>
          <p:nvPr>
            <p:ph type="title"/>
          </p:nvPr>
        </p:nvSpPr>
        <p:spPr>
          <a:xfrm>
            <a:off x="677334" y="186718"/>
            <a:ext cx="8596668" cy="629920"/>
          </a:xfrm>
        </p:spPr>
        <p:txBody>
          <a:bodyPr>
            <a:normAutofit fontScale="90000"/>
          </a:bodyPr>
          <a:lstStyle/>
          <a:p>
            <a:r>
              <a:rPr lang="en-IN" dirty="0"/>
              <a:t>Generics</a:t>
            </a:r>
          </a:p>
        </p:txBody>
      </p:sp>
      <p:sp>
        <p:nvSpPr>
          <p:cNvPr id="3" name="Content Placeholder 2">
            <a:extLst>
              <a:ext uri="{FF2B5EF4-FFF2-40B4-BE49-F238E27FC236}">
                <a16:creationId xmlns:a16="http://schemas.microsoft.com/office/drawing/2014/main" id="{F8C9784C-8FC3-1D78-FDDA-FF3D93E811F8}"/>
              </a:ext>
            </a:extLst>
          </p:cNvPr>
          <p:cNvSpPr>
            <a:spLocks noGrp="1"/>
          </p:cNvSpPr>
          <p:nvPr>
            <p:ph idx="1"/>
          </p:nvPr>
        </p:nvSpPr>
        <p:spPr>
          <a:xfrm>
            <a:off x="677334" y="1127761"/>
            <a:ext cx="8596668" cy="4913602"/>
          </a:xfrm>
        </p:spPr>
        <p:txBody>
          <a:bodyPr/>
          <a:lstStyle/>
          <a:p>
            <a:pPr>
              <a:buFont typeface="+mj-lt"/>
              <a:buAutoNum type="arabicPeriod" startAt="2"/>
            </a:pPr>
            <a:r>
              <a:rPr lang="en-IN" b="1" dirty="0"/>
              <a:t>Eliminates Type Casting:</a:t>
            </a:r>
          </a:p>
          <a:p>
            <a:pPr marL="0" indent="0">
              <a:buNone/>
            </a:pPr>
            <a:r>
              <a:rPr lang="en-US" dirty="0"/>
              <a:t>Without generics, type casting is required when retrieving objects from collections.</a:t>
            </a:r>
          </a:p>
          <a:p>
            <a:pPr marL="0" indent="0">
              <a:buNone/>
            </a:pPr>
            <a:endParaRPr lang="en-US" b="1" dirty="0"/>
          </a:p>
          <a:p>
            <a:pPr marL="0" indent="0">
              <a:buNone/>
            </a:pPr>
            <a:r>
              <a:rPr lang="en-US" b="1" dirty="0"/>
              <a:t>Ex:</a:t>
            </a:r>
          </a:p>
          <a:p>
            <a:pPr marL="400050" lvl="1" indent="0">
              <a:buNone/>
            </a:pPr>
            <a:r>
              <a:rPr lang="en-US" b="1" dirty="0"/>
              <a:t>List </a:t>
            </a:r>
            <a:r>
              <a:rPr lang="en-US" b="1" dirty="0" err="1"/>
              <a:t>list</a:t>
            </a:r>
            <a:r>
              <a:rPr lang="en-US" b="1" dirty="0"/>
              <a:t> = new </a:t>
            </a:r>
            <a:r>
              <a:rPr lang="en-US" b="1" dirty="0" err="1"/>
              <a:t>ArrayList</a:t>
            </a:r>
            <a:r>
              <a:rPr lang="en-US" b="1" dirty="0"/>
              <a:t>();</a:t>
            </a:r>
          </a:p>
          <a:p>
            <a:pPr marL="400050" lvl="1" indent="0">
              <a:buNone/>
            </a:pPr>
            <a:r>
              <a:rPr lang="en-US" b="1" dirty="0" err="1"/>
              <a:t>list.add</a:t>
            </a:r>
            <a:r>
              <a:rPr lang="en-US" b="1" dirty="0"/>
              <a:t>("Hello");</a:t>
            </a:r>
          </a:p>
          <a:p>
            <a:pPr marL="400050" lvl="1" indent="0">
              <a:buNone/>
            </a:pPr>
            <a:r>
              <a:rPr lang="en-US" b="1" dirty="0"/>
              <a:t>String str = (String) </a:t>
            </a:r>
            <a:r>
              <a:rPr lang="en-US" b="1" dirty="0" err="1"/>
              <a:t>list.get</a:t>
            </a:r>
            <a:r>
              <a:rPr lang="en-US" b="1" dirty="0"/>
              <a:t>(0); // Manual casting required.</a:t>
            </a:r>
          </a:p>
          <a:p>
            <a:pPr marL="0" indent="0">
              <a:buNone/>
            </a:pPr>
            <a:endParaRPr lang="en-IN" b="1" dirty="0"/>
          </a:p>
        </p:txBody>
      </p:sp>
    </p:spTree>
    <p:extLst>
      <p:ext uri="{BB962C8B-B14F-4D97-AF65-F5344CB8AC3E}">
        <p14:creationId xmlns:p14="http://schemas.microsoft.com/office/powerpoint/2010/main" val="42578047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F4D63-B1DA-3C60-3EEA-9FE024AAEBB9}"/>
              </a:ext>
            </a:extLst>
          </p:cNvPr>
          <p:cNvSpPr>
            <a:spLocks noGrp="1"/>
          </p:cNvSpPr>
          <p:nvPr>
            <p:ph type="title"/>
          </p:nvPr>
        </p:nvSpPr>
        <p:spPr>
          <a:xfrm>
            <a:off x="677334" y="196878"/>
            <a:ext cx="8596668" cy="619760"/>
          </a:xfrm>
        </p:spPr>
        <p:txBody>
          <a:bodyPr>
            <a:normAutofit fontScale="90000"/>
          </a:bodyPr>
          <a:lstStyle/>
          <a:p>
            <a:r>
              <a:rPr lang="en-US" dirty="0"/>
              <a:t>Object Class Hierarchy</a:t>
            </a:r>
            <a:endParaRPr lang="en-IN" dirty="0"/>
          </a:p>
        </p:txBody>
      </p:sp>
      <p:pic>
        <p:nvPicPr>
          <p:cNvPr id="5" name="Content Placeholder 4">
            <a:extLst>
              <a:ext uri="{FF2B5EF4-FFF2-40B4-BE49-F238E27FC236}">
                <a16:creationId xmlns:a16="http://schemas.microsoft.com/office/drawing/2014/main" id="{DE3B89D7-CEC8-953E-939B-70389AED8F9D}"/>
              </a:ext>
            </a:extLst>
          </p:cNvPr>
          <p:cNvPicPr>
            <a:picLocks noGrp="1" noChangeAspect="1"/>
          </p:cNvPicPr>
          <p:nvPr>
            <p:ph idx="1"/>
          </p:nvPr>
        </p:nvPicPr>
        <p:blipFill>
          <a:blip r:embed="rId2"/>
          <a:stretch>
            <a:fillRect/>
          </a:stretch>
        </p:blipFill>
        <p:spPr>
          <a:xfrm>
            <a:off x="774521" y="934616"/>
            <a:ext cx="9192439" cy="5766913"/>
          </a:xfrm>
        </p:spPr>
      </p:pic>
    </p:spTree>
    <p:extLst>
      <p:ext uri="{BB962C8B-B14F-4D97-AF65-F5344CB8AC3E}">
        <p14:creationId xmlns:p14="http://schemas.microsoft.com/office/powerpoint/2010/main" val="39736652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8D73876-9457-C22B-BD35-8713F58E2748}"/>
              </a:ext>
            </a:extLst>
          </p:cNvPr>
          <p:cNvPicPr>
            <a:picLocks noGrp="1" noChangeAspect="1"/>
          </p:cNvPicPr>
          <p:nvPr>
            <p:ph idx="1"/>
          </p:nvPr>
        </p:nvPicPr>
        <p:blipFill>
          <a:blip r:embed="rId2"/>
          <a:stretch>
            <a:fillRect/>
          </a:stretch>
        </p:blipFill>
        <p:spPr>
          <a:xfrm>
            <a:off x="568123" y="1149728"/>
            <a:ext cx="9595782" cy="4389834"/>
          </a:xfrm>
        </p:spPr>
      </p:pic>
    </p:spTree>
    <p:extLst>
      <p:ext uri="{BB962C8B-B14F-4D97-AF65-F5344CB8AC3E}">
        <p14:creationId xmlns:p14="http://schemas.microsoft.com/office/powerpoint/2010/main" val="26283487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45B9B97-D645-0EDC-C640-9E426E4286C7}"/>
              </a:ext>
            </a:extLst>
          </p:cNvPr>
          <p:cNvPicPr>
            <a:picLocks noGrp="1" noChangeAspect="1"/>
          </p:cNvPicPr>
          <p:nvPr>
            <p:ph idx="1"/>
          </p:nvPr>
        </p:nvPicPr>
        <p:blipFill>
          <a:blip r:embed="rId2"/>
          <a:stretch>
            <a:fillRect/>
          </a:stretch>
        </p:blipFill>
        <p:spPr>
          <a:xfrm>
            <a:off x="1911432" y="609977"/>
            <a:ext cx="4773847" cy="6249027"/>
          </a:xfrm>
        </p:spPr>
      </p:pic>
    </p:spTree>
    <p:extLst>
      <p:ext uri="{BB962C8B-B14F-4D97-AF65-F5344CB8AC3E}">
        <p14:creationId xmlns:p14="http://schemas.microsoft.com/office/powerpoint/2010/main" val="10478029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3D529D1-50B5-0CE6-4102-D62827FC13D6}"/>
              </a:ext>
            </a:extLst>
          </p:cNvPr>
          <p:cNvPicPr>
            <a:picLocks noGrp="1" noChangeAspect="1"/>
          </p:cNvPicPr>
          <p:nvPr>
            <p:ph idx="1"/>
          </p:nvPr>
        </p:nvPicPr>
        <p:blipFill>
          <a:blip r:embed="rId2"/>
          <a:stretch>
            <a:fillRect/>
          </a:stretch>
        </p:blipFill>
        <p:spPr>
          <a:xfrm>
            <a:off x="111760" y="920824"/>
            <a:ext cx="12030680" cy="4880536"/>
          </a:xfrm>
        </p:spPr>
      </p:pic>
    </p:spTree>
    <p:extLst>
      <p:ext uri="{BB962C8B-B14F-4D97-AF65-F5344CB8AC3E}">
        <p14:creationId xmlns:p14="http://schemas.microsoft.com/office/powerpoint/2010/main" val="29139686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7108E-8AF1-3BAA-1C46-A114045AADC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D2E49EC-3963-F6C4-22BD-C76C21B3632D}"/>
              </a:ext>
            </a:extLst>
          </p:cNvPr>
          <p:cNvPicPr>
            <a:picLocks noGrp="1" noChangeAspect="1"/>
          </p:cNvPicPr>
          <p:nvPr>
            <p:ph idx="1"/>
          </p:nvPr>
        </p:nvPicPr>
        <p:blipFill>
          <a:blip r:embed="rId2"/>
          <a:stretch>
            <a:fillRect/>
          </a:stretch>
        </p:blipFill>
        <p:spPr>
          <a:xfrm>
            <a:off x="531505" y="2537434"/>
            <a:ext cx="11303071" cy="1993926"/>
          </a:xfrm>
        </p:spPr>
      </p:pic>
    </p:spTree>
    <p:extLst>
      <p:ext uri="{BB962C8B-B14F-4D97-AF65-F5344CB8AC3E}">
        <p14:creationId xmlns:p14="http://schemas.microsoft.com/office/powerpoint/2010/main" val="17370074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620BF-4191-B572-C6A8-D9278AFD68C1}"/>
              </a:ext>
            </a:extLst>
          </p:cNvPr>
          <p:cNvSpPr>
            <a:spLocks noGrp="1"/>
          </p:cNvSpPr>
          <p:nvPr>
            <p:ph type="title"/>
          </p:nvPr>
        </p:nvSpPr>
        <p:spPr>
          <a:xfrm>
            <a:off x="677334" y="257838"/>
            <a:ext cx="8596668" cy="558800"/>
          </a:xfrm>
        </p:spPr>
        <p:txBody>
          <a:bodyPr>
            <a:normAutofit fontScale="90000"/>
          </a:bodyPr>
          <a:lstStyle/>
          <a:p>
            <a:r>
              <a:rPr lang="en-US" dirty="0"/>
              <a:t>List vs Set vs Map</a:t>
            </a:r>
            <a:endParaRPr lang="en-IN" dirty="0"/>
          </a:p>
        </p:txBody>
      </p:sp>
      <p:graphicFrame>
        <p:nvGraphicFramePr>
          <p:cNvPr id="4" name="Content Placeholder 3">
            <a:extLst>
              <a:ext uri="{FF2B5EF4-FFF2-40B4-BE49-F238E27FC236}">
                <a16:creationId xmlns:a16="http://schemas.microsoft.com/office/drawing/2014/main" id="{F9BB2B12-FF2F-E75C-D04F-E3B468A47E62}"/>
              </a:ext>
            </a:extLst>
          </p:cNvPr>
          <p:cNvGraphicFramePr>
            <a:graphicFrameLocks noGrp="1"/>
          </p:cNvGraphicFramePr>
          <p:nvPr>
            <p:ph idx="1"/>
            <p:extLst>
              <p:ext uri="{D42A27DB-BD31-4B8C-83A1-F6EECF244321}">
                <p14:modId xmlns:p14="http://schemas.microsoft.com/office/powerpoint/2010/main" val="602920783"/>
              </p:ext>
            </p:extLst>
          </p:nvPr>
        </p:nvGraphicFramePr>
        <p:xfrm>
          <a:off x="497840" y="1581468"/>
          <a:ext cx="10156613" cy="4095823"/>
        </p:xfrm>
        <a:graphic>
          <a:graphicData uri="http://schemas.openxmlformats.org/drawingml/2006/table">
            <a:tbl>
              <a:tblPr firstRow="1" bandRow="1">
                <a:tableStyleId>{5C22544A-7EE6-4342-B048-85BDC9FD1C3A}</a:tableStyleId>
              </a:tblPr>
              <a:tblGrid>
                <a:gridCol w="3349123">
                  <a:extLst>
                    <a:ext uri="{9D8B030D-6E8A-4147-A177-3AD203B41FA5}">
                      <a16:colId xmlns:a16="http://schemas.microsoft.com/office/drawing/2014/main" val="2998966545"/>
                    </a:ext>
                  </a:extLst>
                </a:gridCol>
                <a:gridCol w="3403745">
                  <a:extLst>
                    <a:ext uri="{9D8B030D-6E8A-4147-A177-3AD203B41FA5}">
                      <a16:colId xmlns:a16="http://schemas.microsoft.com/office/drawing/2014/main" val="726704646"/>
                    </a:ext>
                  </a:extLst>
                </a:gridCol>
                <a:gridCol w="3403745">
                  <a:extLst>
                    <a:ext uri="{9D8B030D-6E8A-4147-A177-3AD203B41FA5}">
                      <a16:colId xmlns:a16="http://schemas.microsoft.com/office/drawing/2014/main" val="1324979827"/>
                    </a:ext>
                  </a:extLst>
                </a:gridCol>
              </a:tblGrid>
              <a:tr h="694372">
                <a:tc>
                  <a:txBody>
                    <a:bodyPr/>
                    <a:lstStyle/>
                    <a:p>
                      <a:pPr algn="ctr"/>
                      <a:r>
                        <a:rPr lang="en-US" sz="3400" dirty="0"/>
                        <a:t>List</a:t>
                      </a:r>
                      <a:endParaRPr lang="en-IN" sz="3400" dirty="0"/>
                    </a:p>
                  </a:txBody>
                  <a:tcPr anchor="ctr"/>
                </a:tc>
                <a:tc>
                  <a:txBody>
                    <a:bodyPr/>
                    <a:lstStyle/>
                    <a:p>
                      <a:pPr algn="ctr"/>
                      <a:r>
                        <a:rPr lang="en-US" sz="3400" dirty="0"/>
                        <a:t>Set</a:t>
                      </a:r>
                      <a:endParaRPr lang="en-IN" sz="3400" dirty="0"/>
                    </a:p>
                  </a:txBody>
                  <a:tcPr anchor="ctr"/>
                </a:tc>
                <a:tc>
                  <a:txBody>
                    <a:bodyPr/>
                    <a:lstStyle/>
                    <a:p>
                      <a:pPr algn="ctr"/>
                      <a:r>
                        <a:rPr lang="en-US" sz="3400" dirty="0"/>
                        <a:t>Map</a:t>
                      </a:r>
                      <a:endParaRPr lang="en-IN" sz="3400" dirty="0"/>
                    </a:p>
                  </a:txBody>
                  <a:tcPr anchor="ctr"/>
                </a:tc>
                <a:extLst>
                  <a:ext uri="{0D108BD9-81ED-4DB2-BD59-A6C34878D82A}">
                    <a16:rowId xmlns:a16="http://schemas.microsoft.com/office/drawing/2014/main" val="246228216"/>
                  </a:ext>
                </a:extLst>
              </a:tr>
              <a:tr h="871611">
                <a:tc>
                  <a:txBody>
                    <a:bodyPr/>
                    <a:lstStyle/>
                    <a:p>
                      <a:r>
                        <a:rPr lang="en-US" sz="2200" dirty="0"/>
                        <a:t>List maintains </a:t>
                      </a:r>
                      <a:r>
                        <a:rPr lang="en-US" sz="2200" dirty="0">
                          <a:highlight>
                            <a:srgbClr val="FFFF00"/>
                          </a:highlight>
                        </a:rPr>
                        <a:t>insertion order</a:t>
                      </a:r>
                      <a:endParaRPr lang="en-IN" sz="2200" dirty="0">
                        <a:highlight>
                          <a:srgbClr val="FFFF00"/>
                        </a:highlight>
                      </a:endParaRPr>
                    </a:p>
                  </a:txBody>
                  <a:tcPr/>
                </a:tc>
                <a:tc>
                  <a:txBody>
                    <a:bodyPr/>
                    <a:lstStyle/>
                    <a:p>
                      <a:r>
                        <a:rPr lang="en-US" sz="2200" dirty="0"/>
                        <a:t>Set </a:t>
                      </a:r>
                      <a:r>
                        <a:rPr lang="en-US" sz="2200" dirty="0">
                          <a:highlight>
                            <a:srgbClr val="FFFF00"/>
                          </a:highlight>
                        </a:rPr>
                        <a:t>does not maintain </a:t>
                      </a:r>
                      <a:r>
                        <a:rPr lang="en-US" sz="2200" dirty="0"/>
                        <a:t>insertion order</a:t>
                      </a:r>
                      <a:endParaRPr lang="en-IN" sz="2200" dirty="0"/>
                    </a:p>
                  </a:txBody>
                  <a:tcPr/>
                </a:tc>
                <a:tc>
                  <a:txBody>
                    <a:bodyPr/>
                    <a:lstStyle/>
                    <a:p>
                      <a:r>
                        <a:rPr lang="en-US" sz="2200" dirty="0"/>
                        <a:t>May is Key Value pair.</a:t>
                      </a:r>
                    </a:p>
                    <a:p>
                      <a:r>
                        <a:rPr lang="en-IN" sz="2200" dirty="0"/>
                        <a:t>Insertion order depends </a:t>
                      </a:r>
                      <a:r>
                        <a:rPr lang="en-IN" sz="2200"/>
                        <a:t>upon which map we use.</a:t>
                      </a:r>
                      <a:endParaRPr lang="en-IN" sz="2200" dirty="0"/>
                    </a:p>
                  </a:txBody>
                  <a:tcPr/>
                </a:tc>
                <a:extLst>
                  <a:ext uri="{0D108BD9-81ED-4DB2-BD59-A6C34878D82A}">
                    <a16:rowId xmlns:a16="http://schemas.microsoft.com/office/drawing/2014/main" val="3439875969"/>
                  </a:ext>
                </a:extLst>
              </a:tr>
              <a:tr h="871611">
                <a:tc>
                  <a:txBody>
                    <a:bodyPr/>
                    <a:lstStyle/>
                    <a:p>
                      <a:r>
                        <a:rPr lang="en-US" sz="2200" dirty="0"/>
                        <a:t>List allows the duplicate</a:t>
                      </a:r>
                      <a:endParaRPr lang="en-IN" sz="2200" dirty="0"/>
                    </a:p>
                  </a:txBody>
                  <a:tcPr/>
                </a:tc>
                <a:tc>
                  <a:txBody>
                    <a:bodyPr/>
                    <a:lstStyle/>
                    <a:p>
                      <a:r>
                        <a:rPr lang="en-US" sz="2200" dirty="0"/>
                        <a:t>Set does not allow duplicate</a:t>
                      </a:r>
                      <a:endParaRPr lang="en-IN" sz="2200" dirty="0"/>
                    </a:p>
                  </a:txBody>
                  <a:tcPr/>
                </a:tc>
                <a:tc>
                  <a:txBody>
                    <a:bodyPr/>
                    <a:lstStyle/>
                    <a:p>
                      <a:endParaRPr lang="en-IN" sz="2200" dirty="0"/>
                    </a:p>
                  </a:txBody>
                  <a:tcPr/>
                </a:tc>
                <a:extLst>
                  <a:ext uri="{0D108BD9-81ED-4DB2-BD59-A6C34878D82A}">
                    <a16:rowId xmlns:a16="http://schemas.microsoft.com/office/drawing/2014/main" val="3708640654"/>
                  </a:ext>
                </a:extLst>
              </a:tr>
              <a:tr h="871611">
                <a:tc>
                  <a:txBody>
                    <a:bodyPr/>
                    <a:lstStyle/>
                    <a:p>
                      <a:r>
                        <a:rPr lang="en-US" sz="2200" dirty="0"/>
                        <a:t>Elements </a:t>
                      </a:r>
                      <a:r>
                        <a:rPr lang="en-US" sz="2200" dirty="0">
                          <a:highlight>
                            <a:srgbClr val="FFFF00"/>
                          </a:highlight>
                        </a:rPr>
                        <a:t>can be inserted </a:t>
                      </a:r>
                      <a:r>
                        <a:rPr lang="en-US" sz="2200" dirty="0"/>
                        <a:t>at specified index</a:t>
                      </a:r>
                      <a:endParaRPr lang="en-IN" sz="2200" dirty="0"/>
                    </a:p>
                  </a:txBody>
                  <a:tcPr/>
                </a:tc>
                <a:tc>
                  <a:txBody>
                    <a:bodyPr/>
                    <a:lstStyle/>
                    <a:p>
                      <a:r>
                        <a:rPr lang="en-US" sz="2200" dirty="0"/>
                        <a:t>Elements </a:t>
                      </a:r>
                      <a:r>
                        <a:rPr lang="en-US" sz="2200" dirty="0">
                          <a:highlight>
                            <a:srgbClr val="FFFF00"/>
                          </a:highlight>
                        </a:rPr>
                        <a:t>cannot be inserted </a:t>
                      </a:r>
                      <a:r>
                        <a:rPr lang="en-US" sz="2200" dirty="0"/>
                        <a:t>at specified Index. Because Set does not maintain index.</a:t>
                      </a:r>
                      <a:endParaRPr lang="en-IN" sz="2200" dirty="0"/>
                    </a:p>
                  </a:txBody>
                  <a:tcPr/>
                </a:tc>
                <a:tc>
                  <a:txBody>
                    <a:bodyPr/>
                    <a:lstStyle/>
                    <a:p>
                      <a:endParaRPr lang="en-IN" sz="2200" dirty="0"/>
                    </a:p>
                  </a:txBody>
                  <a:tcPr/>
                </a:tc>
                <a:extLst>
                  <a:ext uri="{0D108BD9-81ED-4DB2-BD59-A6C34878D82A}">
                    <a16:rowId xmlns:a16="http://schemas.microsoft.com/office/drawing/2014/main" val="1225620571"/>
                  </a:ext>
                </a:extLst>
              </a:tr>
            </a:tbl>
          </a:graphicData>
        </a:graphic>
      </p:graphicFrame>
    </p:spTree>
    <p:extLst>
      <p:ext uri="{BB962C8B-B14F-4D97-AF65-F5344CB8AC3E}">
        <p14:creationId xmlns:p14="http://schemas.microsoft.com/office/powerpoint/2010/main" val="19825448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E16CC64-C363-F707-0EC7-CF3E736B28FF}"/>
              </a:ext>
            </a:extLst>
          </p:cNvPr>
          <p:cNvSpPr txBox="1"/>
          <p:nvPr/>
        </p:nvSpPr>
        <p:spPr>
          <a:xfrm>
            <a:off x="1056640" y="733246"/>
            <a:ext cx="8666480" cy="4893647"/>
          </a:xfrm>
          <a:prstGeom prst="rect">
            <a:avLst/>
          </a:prstGeom>
          <a:noFill/>
        </p:spPr>
        <p:txBody>
          <a:bodyPr wrap="square">
            <a:spAutoFit/>
          </a:bodyPr>
          <a:lstStyle/>
          <a:p>
            <a:r>
              <a:rPr lang="en-US" sz="2400" b="0" i="0" dirty="0">
                <a:solidFill>
                  <a:srgbClr val="1F1F1F"/>
                </a:solidFill>
                <a:effectLst/>
                <a:latin typeface="Google Sans"/>
              </a:rPr>
              <a:t>	</a:t>
            </a:r>
          </a:p>
          <a:p>
            <a:endParaRPr lang="en-US" sz="2400" b="1" i="0" dirty="0">
              <a:solidFill>
                <a:srgbClr val="1F1F1F"/>
              </a:solidFill>
              <a:effectLst/>
              <a:latin typeface="Google Sans"/>
            </a:endParaRPr>
          </a:p>
          <a:p>
            <a:r>
              <a:rPr lang="en-US" sz="2200" b="1" i="0" dirty="0">
                <a:solidFill>
                  <a:srgbClr val="1F1F1F"/>
                </a:solidFill>
                <a:effectLst/>
                <a:latin typeface="Google Sans"/>
              </a:rPr>
              <a:t>	A Vector </a:t>
            </a:r>
            <a:r>
              <a:rPr lang="en-US" sz="2200" b="0" i="0" dirty="0">
                <a:solidFill>
                  <a:srgbClr val="1F1F1F"/>
                </a:solidFill>
                <a:effectLst/>
                <a:latin typeface="Google Sans"/>
              </a:rPr>
              <a:t>in Java is a part of the Java Collections Framework and is </a:t>
            </a:r>
            <a:r>
              <a:rPr lang="en-US" sz="2200" b="0" i="0" dirty="0">
                <a:solidFill>
                  <a:srgbClr val="040C28"/>
                </a:solidFill>
                <a:effectLst/>
                <a:latin typeface="Google Sans"/>
              </a:rPr>
              <a:t>a </a:t>
            </a:r>
            <a:r>
              <a:rPr lang="en-US" sz="2200" b="0" i="0" dirty="0">
                <a:solidFill>
                  <a:srgbClr val="040C28"/>
                </a:solidFill>
                <a:effectLst/>
                <a:highlight>
                  <a:srgbClr val="FFFF00"/>
                </a:highlight>
                <a:latin typeface="Google Sans"/>
              </a:rPr>
              <a:t>dynamic array </a:t>
            </a:r>
            <a:r>
              <a:rPr lang="en-US" sz="2200" b="0" i="0" dirty="0">
                <a:solidFill>
                  <a:srgbClr val="040C28"/>
                </a:solidFill>
                <a:effectLst/>
                <a:latin typeface="Google Sans"/>
              </a:rPr>
              <a:t>that can grow or shrink in size as needed</a:t>
            </a:r>
            <a:r>
              <a:rPr lang="en-US" sz="2200" b="0" i="0" dirty="0">
                <a:solidFill>
                  <a:srgbClr val="1F1F1F"/>
                </a:solidFill>
                <a:effectLst/>
                <a:latin typeface="Google Sans"/>
              </a:rPr>
              <a:t>. It is similar to an </a:t>
            </a:r>
            <a:r>
              <a:rPr lang="en-US" sz="2200" b="0" i="0" dirty="0" err="1">
                <a:solidFill>
                  <a:srgbClr val="1F1F1F"/>
                </a:solidFill>
                <a:effectLst/>
                <a:highlight>
                  <a:srgbClr val="FFFF00"/>
                </a:highlight>
                <a:latin typeface="Google Sans"/>
              </a:rPr>
              <a:t>ArrayList</a:t>
            </a:r>
            <a:r>
              <a:rPr lang="en-US" sz="2200" b="0" i="0" dirty="0">
                <a:solidFill>
                  <a:srgbClr val="1F1F1F"/>
                </a:solidFill>
                <a:effectLst/>
                <a:highlight>
                  <a:srgbClr val="FFFF00"/>
                </a:highlight>
                <a:latin typeface="Google Sans"/>
              </a:rPr>
              <a:t> but with two key differences</a:t>
            </a:r>
            <a:r>
              <a:rPr lang="en-US" sz="2200" b="0" i="0" dirty="0">
                <a:solidFill>
                  <a:srgbClr val="1F1F1F"/>
                </a:solidFill>
                <a:effectLst/>
                <a:latin typeface="Google Sans"/>
              </a:rPr>
              <a:t>: it is </a:t>
            </a:r>
            <a:r>
              <a:rPr lang="en-US" sz="2200" b="0" i="0" dirty="0">
                <a:solidFill>
                  <a:srgbClr val="1F1F1F"/>
                </a:solidFill>
                <a:effectLst/>
                <a:highlight>
                  <a:srgbClr val="FFFF00"/>
                </a:highlight>
                <a:latin typeface="Google Sans"/>
              </a:rPr>
              <a:t>synchronized</a:t>
            </a:r>
            <a:r>
              <a:rPr lang="en-US" sz="2200" b="0" i="0" dirty="0">
                <a:solidFill>
                  <a:srgbClr val="1F1F1F"/>
                </a:solidFill>
                <a:effectLst/>
                <a:latin typeface="Google Sans"/>
              </a:rPr>
              <a:t>, and it contains many </a:t>
            </a:r>
            <a:r>
              <a:rPr lang="en-US" sz="2200" b="0" i="0" dirty="0">
                <a:solidFill>
                  <a:srgbClr val="1F1F1F"/>
                </a:solidFill>
                <a:effectLst/>
                <a:highlight>
                  <a:srgbClr val="FFFF00"/>
                </a:highlight>
                <a:latin typeface="Google Sans"/>
              </a:rPr>
              <a:t>legacy methods </a:t>
            </a:r>
            <a:r>
              <a:rPr lang="en-US" sz="2200" b="0" i="0" dirty="0">
                <a:solidFill>
                  <a:srgbClr val="1F1F1F"/>
                </a:solidFill>
                <a:effectLst/>
                <a:latin typeface="Google Sans"/>
              </a:rPr>
              <a:t>that are not part of the collections framework</a:t>
            </a:r>
          </a:p>
          <a:p>
            <a:endParaRPr lang="en-US" sz="2200" dirty="0">
              <a:solidFill>
                <a:srgbClr val="1F1F1F"/>
              </a:solidFill>
              <a:latin typeface="Google Sans"/>
            </a:endParaRPr>
          </a:p>
          <a:p>
            <a:r>
              <a:rPr lang="en-US" sz="2000" dirty="0">
                <a:solidFill>
                  <a:srgbClr val="1F1F1F"/>
                </a:solidFill>
                <a:latin typeface="Google Sans"/>
              </a:rPr>
              <a:t>	</a:t>
            </a:r>
            <a:r>
              <a:rPr lang="en-US" sz="2200" b="1" dirty="0">
                <a:solidFill>
                  <a:srgbClr val="1F1F1F"/>
                </a:solidFill>
                <a:latin typeface="Google Sans"/>
              </a:rPr>
              <a:t>A Stack </a:t>
            </a:r>
            <a:r>
              <a:rPr lang="en-US" sz="2200" dirty="0">
                <a:solidFill>
                  <a:srgbClr val="1F1F1F"/>
                </a:solidFill>
                <a:latin typeface="Google Sans"/>
              </a:rPr>
              <a:t>is in collection framework which implements list interface and extends Vector class. It is based on the basic principle of </a:t>
            </a:r>
            <a:r>
              <a:rPr lang="en-US" sz="2200" dirty="0">
                <a:solidFill>
                  <a:srgbClr val="1F1F1F"/>
                </a:solidFill>
                <a:highlight>
                  <a:srgbClr val="FFFF00"/>
                </a:highlight>
                <a:latin typeface="Google Sans"/>
              </a:rPr>
              <a:t>last-in-first-out (LIFO)</a:t>
            </a:r>
            <a:r>
              <a:rPr lang="en-US" sz="2200" dirty="0">
                <a:solidFill>
                  <a:srgbClr val="1F1F1F"/>
                </a:solidFill>
                <a:latin typeface="Google Sans"/>
              </a:rPr>
              <a:t>. It has two basic operations </a:t>
            </a:r>
            <a:r>
              <a:rPr lang="en-US" sz="2200" dirty="0">
                <a:solidFill>
                  <a:srgbClr val="1F1F1F"/>
                </a:solidFill>
                <a:highlight>
                  <a:srgbClr val="FFFF00"/>
                </a:highlight>
                <a:latin typeface="Google Sans"/>
              </a:rPr>
              <a:t>called push and pop </a:t>
            </a:r>
            <a:r>
              <a:rPr lang="en-US" sz="2200" dirty="0">
                <a:solidFill>
                  <a:srgbClr val="1F1F1F"/>
                </a:solidFill>
                <a:latin typeface="Google Sans"/>
              </a:rPr>
              <a:t>which is used to insert and remove the elements. In addition to that it also provide few more operations empty, search and peek </a:t>
            </a:r>
            <a:r>
              <a:rPr lang="en-US" sz="2200" dirty="0" err="1">
                <a:solidFill>
                  <a:srgbClr val="1F1F1F"/>
                </a:solidFill>
                <a:latin typeface="Google Sans"/>
              </a:rPr>
              <a:t>opeations</a:t>
            </a:r>
            <a:r>
              <a:rPr lang="en-US" sz="2200" dirty="0">
                <a:solidFill>
                  <a:srgbClr val="1F1F1F"/>
                </a:solidFill>
                <a:latin typeface="Google Sans"/>
              </a:rPr>
              <a:t>.</a:t>
            </a:r>
          </a:p>
          <a:p>
            <a:endParaRPr lang="en-US" sz="2200" b="1" dirty="0">
              <a:solidFill>
                <a:srgbClr val="1F1F1F"/>
              </a:solidFill>
              <a:latin typeface="Google Sans"/>
            </a:endParaRPr>
          </a:p>
          <a:p>
            <a:endParaRPr lang="en-IN" sz="2200" b="1" dirty="0"/>
          </a:p>
        </p:txBody>
      </p:sp>
      <p:sp>
        <p:nvSpPr>
          <p:cNvPr id="6" name="Subtitle 2">
            <a:extLst>
              <a:ext uri="{FF2B5EF4-FFF2-40B4-BE49-F238E27FC236}">
                <a16:creationId xmlns:a16="http://schemas.microsoft.com/office/drawing/2014/main" id="{093F4C26-A88A-CFB3-63D3-6FD67AC48C4C}"/>
              </a:ext>
            </a:extLst>
          </p:cNvPr>
          <p:cNvSpPr txBox="1">
            <a:spLocks/>
          </p:cNvSpPr>
          <p:nvPr/>
        </p:nvSpPr>
        <p:spPr>
          <a:xfrm>
            <a:off x="1303866" y="125651"/>
            <a:ext cx="7766936" cy="72436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IN" sz="3400" b="1" dirty="0">
                <a:solidFill>
                  <a:schemeClr val="tx1"/>
                </a:solidFill>
              </a:rPr>
              <a:t>Vector Vs Stack</a:t>
            </a:r>
          </a:p>
        </p:txBody>
      </p:sp>
    </p:spTree>
    <p:extLst>
      <p:ext uri="{BB962C8B-B14F-4D97-AF65-F5344CB8AC3E}">
        <p14:creationId xmlns:p14="http://schemas.microsoft.com/office/powerpoint/2010/main" val="18677114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A5D01ED9-5DE9-3509-26C4-6C11DE8AC3FF}"/>
              </a:ext>
            </a:extLst>
          </p:cNvPr>
          <p:cNvSpPr txBox="1">
            <a:spLocks/>
          </p:cNvSpPr>
          <p:nvPr/>
        </p:nvSpPr>
        <p:spPr>
          <a:xfrm>
            <a:off x="1303866" y="125651"/>
            <a:ext cx="7766936" cy="72436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IN" sz="3400" b="1" dirty="0">
                <a:solidFill>
                  <a:schemeClr val="tx1"/>
                </a:solidFill>
              </a:rPr>
              <a:t>Vector Vs Stack</a:t>
            </a:r>
          </a:p>
        </p:txBody>
      </p:sp>
      <p:sp>
        <p:nvSpPr>
          <p:cNvPr id="8" name="Rectangle 1">
            <a:extLst>
              <a:ext uri="{FF2B5EF4-FFF2-40B4-BE49-F238E27FC236}">
                <a16:creationId xmlns:a16="http://schemas.microsoft.com/office/drawing/2014/main" id="{B3540A8A-0AC1-723E-79F0-822FDEA75623}"/>
              </a:ext>
            </a:extLst>
          </p:cNvPr>
          <p:cNvSpPr>
            <a:spLocks noChangeArrowheads="1"/>
          </p:cNvSpPr>
          <p:nvPr/>
        </p:nvSpPr>
        <p:spPr bwMode="auto">
          <a:xfrm>
            <a:off x="142240" y="850018"/>
            <a:ext cx="212269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Key Differences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graphicFrame>
        <p:nvGraphicFramePr>
          <p:cNvPr id="11" name="Content Placeholder 10">
            <a:extLst>
              <a:ext uri="{FF2B5EF4-FFF2-40B4-BE49-F238E27FC236}">
                <a16:creationId xmlns:a16="http://schemas.microsoft.com/office/drawing/2014/main" id="{DC35BF64-EE35-2C5A-988F-E7EE03536F43}"/>
              </a:ext>
            </a:extLst>
          </p:cNvPr>
          <p:cNvGraphicFramePr>
            <a:graphicFrameLocks noGrp="1"/>
          </p:cNvGraphicFramePr>
          <p:nvPr>
            <p:ph idx="1"/>
            <p:extLst>
              <p:ext uri="{D42A27DB-BD31-4B8C-83A1-F6EECF244321}">
                <p14:modId xmlns:p14="http://schemas.microsoft.com/office/powerpoint/2010/main" val="2143693763"/>
              </p:ext>
            </p:extLst>
          </p:nvPr>
        </p:nvGraphicFramePr>
        <p:xfrm>
          <a:off x="1303866" y="1513840"/>
          <a:ext cx="8642773" cy="4683761"/>
        </p:xfrm>
        <a:graphic>
          <a:graphicData uri="http://schemas.openxmlformats.org/drawingml/2006/table">
            <a:tbl>
              <a:tblPr>
                <a:tableStyleId>{5C22544A-7EE6-4342-B048-85BDC9FD1C3A}</a:tableStyleId>
              </a:tblPr>
              <a:tblGrid>
                <a:gridCol w="1994486">
                  <a:extLst>
                    <a:ext uri="{9D8B030D-6E8A-4147-A177-3AD203B41FA5}">
                      <a16:colId xmlns:a16="http://schemas.microsoft.com/office/drawing/2014/main" val="3094506459"/>
                    </a:ext>
                  </a:extLst>
                </a:gridCol>
                <a:gridCol w="3407247">
                  <a:extLst>
                    <a:ext uri="{9D8B030D-6E8A-4147-A177-3AD203B41FA5}">
                      <a16:colId xmlns:a16="http://schemas.microsoft.com/office/drawing/2014/main" val="3718840664"/>
                    </a:ext>
                  </a:extLst>
                </a:gridCol>
                <a:gridCol w="3241040">
                  <a:extLst>
                    <a:ext uri="{9D8B030D-6E8A-4147-A177-3AD203B41FA5}">
                      <a16:colId xmlns:a16="http://schemas.microsoft.com/office/drawing/2014/main" val="3191535443"/>
                    </a:ext>
                  </a:extLst>
                </a:gridCol>
              </a:tblGrid>
              <a:tr h="644235">
                <a:tc>
                  <a:txBody>
                    <a:bodyPr/>
                    <a:lstStyle/>
                    <a:p>
                      <a:pPr algn="ctr" fontAlgn="ctr"/>
                      <a:r>
                        <a:rPr lang="en-IN" sz="2400" u="none" strike="noStrike" dirty="0">
                          <a:effectLst/>
                        </a:rPr>
                        <a:t>Feature</a:t>
                      </a:r>
                      <a:endParaRPr lang="en-IN" sz="24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r>
                        <a:rPr lang="en-IN" sz="2400" u="none" strike="noStrike" dirty="0">
                          <a:effectLst/>
                        </a:rPr>
                        <a:t>Vector</a:t>
                      </a:r>
                      <a:endParaRPr lang="en-IN" sz="24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r>
                        <a:rPr lang="en-IN" sz="2400" u="none" strike="noStrike" dirty="0">
                          <a:effectLst/>
                        </a:rPr>
                        <a:t>Stack</a:t>
                      </a:r>
                      <a:endParaRPr lang="en-IN" sz="24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773290660"/>
                  </a:ext>
                </a:extLst>
              </a:tr>
              <a:tr h="504941">
                <a:tc>
                  <a:txBody>
                    <a:bodyPr/>
                    <a:lstStyle/>
                    <a:p>
                      <a:pPr algn="l" fontAlgn="ctr"/>
                      <a:r>
                        <a:rPr lang="en-IN" sz="1800" u="none" strike="noStrike" dirty="0">
                          <a:effectLst/>
                        </a:rPr>
                        <a:t>Data Structure</a:t>
                      </a:r>
                      <a:endParaRPr lang="en-IN" sz="18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1800" u="none" strike="noStrike">
                          <a:effectLst/>
                        </a:rPr>
                        <a:t>Dynamic array</a:t>
                      </a:r>
                      <a:endParaRPr lang="en-IN" sz="1800" b="0" i="0" u="none" strike="noStrike">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1800" u="none" strike="noStrike">
                          <a:effectLst/>
                        </a:rPr>
                        <a:t>LIFO (extends Vector)</a:t>
                      </a:r>
                      <a:endParaRPr lang="en-IN" sz="1800" b="0" i="0" u="none" strike="noStrike">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2183560"/>
                  </a:ext>
                </a:extLst>
              </a:tr>
              <a:tr h="504941">
                <a:tc>
                  <a:txBody>
                    <a:bodyPr/>
                    <a:lstStyle/>
                    <a:p>
                      <a:pPr algn="l" fontAlgn="ctr"/>
                      <a:r>
                        <a:rPr lang="en-IN" sz="1800" u="none" strike="noStrike" dirty="0">
                          <a:effectLst/>
                        </a:rPr>
                        <a:t>Access</a:t>
                      </a:r>
                      <a:endParaRPr lang="en-IN" sz="18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1800" u="none" strike="noStrike" dirty="0">
                          <a:effectLst/>
                        </a:rPr>
                        <a:t>Random access by index</a:t>
                      </a:r>
                      <a:endParaRPr lang="en-IN" sz="18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800" u="none" strike="noStrike">
                          <a:effectLst/>
                        </a:rPr>
                        <a:t>Access only to the top element</a:t>
                      </a:r>
                      <a:endParaRPr lang="en-US" sz="1800" b="0" i="0" u="none" strike="noStrike">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7498326"/>
                  </a:ext>
                </a:extLst>
              </a:tr>
              <a:tr h="504941">
                <a:tc>
                  <a:txBody>
                    <a:bodyPr/>
                    <a:lstStyle/>
                    <a:p>
                      <a:pPr algn="l" fontAlgn="ctr"/>
                      <a:r>
                        <a:rPr lang="en-IN" sz="1800" u="none" strike="noStrike">
                          <a:effectLst/>
                        </a:rPr>
                        <a:t>Order</a:t>
                      </a:r>
                      <a:endParaRPr lang="en-IN" sz="1800" b="1" i="0" u="none" strike="noStrike">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1800" u="none" strike="noStrike" dirty="0">
                          <a:effectLst/>
                        </a:rPr>
                        <a:t>Preserves insertion order</a:t>
                      </a:r>
                      <a:endParaRPr lang="en-IN" sz="18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800" u="none" strike="noStrike">
                          <a:effectLst/>
                        </a:rPr>
                        <a:t>LIFO (Last In, First Out)</a:t>
                      </a:r>
                      <a:endParaRPr lang="en-US" sz="1800" b="0" i="0" u="none" strike="noStrike">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3910432"/>
                  </a:ext>
                </a:extLst>
              </a:tr>
              <a:tr h="504941">
                <a:tc>
                  <a:txBody>
                    <a:bodyPr/>
                    <a:lstStyle/>
                    <a:p>
                      <a:pPr algn="l" fontAlgn="ctr"/>
                      <a:r>
                        <a:rPr lang="en-IN" sz="1800" u="none" strike="noStrike" dirty="0">
                          <a:effectLst/>
                        </a:rPr>
                        <a:t>Usage</a:t>
                      </a:r>
                      <a:endParaRPr lang="en-IN" sz="18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1800" u="none" strike="noStrike" dirty="0">
                          <a:effectLst/>
                        </a:rPr>
                        <a:t>General-purpose, thread-safe</a:t>
                      </a:r>
                      <a:endParaRPr lang="en-IN" sz="18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1800" u="none" strike="noStrike">
                          <a:effectLst/>
                        </a:rPr>
                        <a:t>LIFO-based operations</a:t>
                      </a:r>
                      <a:endParaRPr lang="en-IN" sz="1800" b="0" i="0" u="none" strike="noStrike">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157755"/>
                  </a:ext>
                </a:extLst>
              </a:tr>
              <a:tr h="1009881">
                <a:tc>
                  <a:txBody>
                    <a:bodyPr/>
                    <a:lstStyle/>
                    <a:p>
                      <a:pPr algn="l" fontAlgn="ctr"/>
                      <a:r>
                        <a:rPr lang="en-IN" sz="1800" u="none" strike="noStrike">
                          <a:effectLst/>
                        </a:rPr>
                        <a:t>Thread Safety</a:t>
                      </a:r>
                      <a:endParaRPr lang="en-IN" sz="1800" b="1" i="0" u="none" strike="noStrike">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1800" u="none" strike="noStrike" dirty="0">
                          <a:effectLst/>
                        </a:rPr>
                        <a:t>Synchronized</a:t>
                      </a:r>
                      <a:endParaRPr lang="en-IN" sz="18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1800" u="none" strike="noStrike" dirty="0">
                          <a:effectLst/>
                        </a:rPr>
                        <a:t>Synchronized (inherits from Vector)</a:t>
                      </a:r>
                      <a:endParaRPr lang="en-IN" sz="18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9006799"/>
                  </a:ext>
                </a:extLst>
              </a:tr>
              <a:tr h="1009881">
                <a:tc>
                  <a:txBody>
                    <a:bodyPr/>
                    <a:lstStyle/>
                    <a:p>
                      <a:pPr algn="l" fontAlgn="ctr"/>
                      <a:r>
                        <a:rPr lang="en-IN" sz="1800" u="none" strike="noStrike">
                          <a:effectLst/>
                        </a:rPr>
                        <a:t>Modern Alternative</a:t>
                      </a:r>
                      <a:endParaRPr lang="en-IN" sz="1800" b="1" i="0" u="none" strike="noStrike">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1800" u="none" strike="noStrike" dirty="0" err="1">
                          <a:effectLst/>
                        </a:rPr>
                        <a:t>ArrayList</a:t>
                      </a:r>
                      <a:endParaRPr lang="en-IN" sz="1800" b="0" i="0" u="none" strike="noStrike" dirty="0">
                        <a:solidFill>
                          <a:srgbClr val="000000"/>
                        </a:solidFill>
                        <a:effectLst/>
                        <a:latin typeface="Arial Unicode M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1800" u="none" strike="noStrike" dirty="0">
                          <a:effectLst/>
                        </a:rPr>
                        <a:t>Deque (such as </a:t>
                      </a:r>
                      <a:r>
                        <a:rPr lang="en-IN" sz="1800" u="none" strike="noStrike" dirty="0" err="1">
                          <a:effectLst/>
                        </a:rPr>
                        <a:t>ArrayDeque</a:t>
                      </a:r>
                      <a:r>
                        <a:rPr lang="en-IN" sz="1800" u="none" strike="noStrike" dirty="0">
                          <a:effectLst/>
                        </a:rPr>
                        <a:t>)</a:t>
                      </a:r>
                      <a:endParaRPr lang="en-IN" sz="1800" b="0" i="0" u="none" strike="noStrike" dirty="0">
                        <a:solidFill>
                          <a:srgbClr val="000000"/>
                        </a:solidFill>
                        <a:effectLst/>
                        <a:latin typeface="Arial Unicode M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7228595"/>
                  </a:ext>
                </a:extLst>
              </a:tr>
            </a:tbl>
          </a:graphicData>
        </a:graphic>
      </p:graphicFrame>
    </p:spTree>
    <p:extLst>
      <p:ext uri="{BB962C8B-B14F-4D97-AF65-F5344CB8AC3E}">
        <p14:creationId xmlns:p14="http://schemas.microsoft.com/office/powerpoint/2010/main" val="76622342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CA5A6E2-192A-A086-97DC-DDCB5F3BA7DF}"/>
              </a:ext>
            </a:extLst>
          </p:cNvPr>
          <p:cNvSpPr>
            <a:spLocks noGrp="1"/>
          </p:cNvSpPr>
          <p:nvPr>
            <p:ph type="subTitle" idx="1"/>
          </p:nvPr>
        </p:nvSpPr>
        <p:spPr>
          <a:xfrm>
            <a:off x="1303867" y="169713"/>
            <a:ext cx="7766936" cy="724367"/>
          </a:xfrm>
        </p:spPr>
        <p:txBody>
          <a:bodyPr>
            <a:normAutofit/>
          </a:bodyPr>
          <a:lstStyle/>
          <a:p>
            <a:pPr algn="ctr"/>
            <a:r>
              <a:rPr lang="en-IN" sz="3400" b="1" dirty="0">
                <a:solidFill>
                  <a:schemeClr val="tx1"/>
                </a:solidFill>
              </a:rPr>
              <a:t>Stack Vs Vector</a:t>
            </a:r>
          </a:p>
        </p:txBody>
      </p:sp>
      <p:sp>
        <p:nvSpPr>
          <p:cNvPr id="5" name="TextBox 4">
            <a:extLst>
              <a:ext uri="{FF2B5EF4-FFF2-40B4-BE49-F238E27FC236}">
                <a16:creationId xmlns:a16="http://schemas.microsoft.com/office/drawing/2014/main" id="{6E16CC64-C363-F707-0EC7-CF3E736B28FF}"/>
              </a:ext>
            </a:extLst>
          </p:cNvPr>
          <p:cNvSpPr txBox="1"/>
          <p:nvPr/>
        </p:nvSpPr>
        <p:spPr>
          <a:xfrm>
            <a:off x="1056640" y="733246"/>
            <a:ext cx="8666480" cy="5124480"/>
          </a:xfrm>
          <a:prstGeom prst="rect">
            <a:avLst/>
          </a:prstGeom>
          <a:noFill/>
        </p:spPr>
        <p:txBody>
          <a:bodyPr wrap="square">
            <a:spAutoFit/>
          </a:bodyPr>
          <a:lstStyle/>
          <a:p>
            <a:r>
              <a:rPr lang="en-IN" sz="2400" b="1" dirty="0"/>
              <a:t>Key differences:</a:t>
            </a:r>
          </a:p>
          <a:p>
            <a:pPr marL="342900" indent="-342900">
              <a:buAutoNum type="arabicPeriod"/>
            </a:pPr>
            <a:r>
              <a:rPr lang="en-IN" b="1" dirty="0"/>
              <a:t>Order of elements: </a:t>
            </a:r>
            <a:r>
              <a:rPr lang="en-IN" dirty="0"/>
              <a:t>Stack (LIFO) vs. Vector (maintains insertion order).</a:t>
            </a:r>
          </a:p>
          <a:p>
            <a:pPr marL="342900" indent="-342900">
              <a:buAutoNum type="arabicPeriod"/>
            </a:pPr>
            <a:r>
              <a:rPr lang="en-IN" b="1" dirty="0"/>
              <a:t>Access method: </a:t>
            </a:r>
            <a:r>
              <a:rPr lang="en-IN" dirty="0"/>
              <a:t>Stack (push/pop) vs. Vector (get/set).</a:t>
            </a:r>
          </a:p>
          <a:p>
            <a:pPr marL="342900" indent="-342900">
              <a:buAutoNum type="arabicPeriod"/>
            </a:pPr>
            <a:r>
              <a:rPr lang="en-IN" b="1" dirty="0"/>
              <a:t>Synchronization: </a:t>
            </a:r>
            <a:r>
              <a:rPr lang="en-IN" dirty="0"/>
              <a:t>Both are synchronized, but Stack is more efficient.</a:t>
            </a:r>
          </a:p>
          <a:p>
            <a:pPr marL="342900" indent="-342900">
              <a:spcAft>
                <a:spcPts val="1200"/>
              </a:spcAft>
              <a:buAutoNum type="arabicPeriod"/>
            </a:pPr>
            <a:r>
              <a:rPr lang="en-IN" b="1" dirty="0" err="1"/>
              <a:t>Resizeability</a:t>
            </a:r>
            <a:r>
              <a:rPr lang="en-IN" b="1" dirty="0"/>
              <a:t>: </a:t>
            </a:r>
            <a:r>
              <a:rPr lang="en-IN" dirty="0"/>
              <a:t>Vector is resizable, while Stack has fixed size or overflow handling.</a:t>
            </a:r>
          </a:p>
          <a:p>
            <a:pPr>
              <a:spcAft>
                <a:spcPts val="600"/>
              </a:spcAft>
            </a:pPr>
            <a:r>
              <a:rPr lang="en-IN" sz="2200" b="1" dirty="0"/>
              <a:t>When to use:</a:t>
            </a:r>
          </a:p>
          <a:p>
            <a:pPr marL="342900" indent="-342900">
              <a:buAutoNum type="arabicPeriod"/>
            </a:pPr>
            <a:r>
              <a:rPr lang="en-IN" sz="2000" b="1" dirty="0"/>
              <a:t>Stack:   </a:t>
            </a:r>
          </a:p>
          <a:p>
            <a:pPr lvl="1"/>
            <a:r>
              <a:rPr lang="en-IN" dirty="0"/>
              <a:t> - Evaluating postfix expressions.   </a:t>
            </a:r>
          </a:p>
          <a:p>
            <a:pPr lvl="1"/>
            <a:r>
              <a:rPr lang="en-IN" dirty="0"/>
              <a:t> - Implementing recursive algorithms.   </a:t>
            </a:r>
          </a:p>
          <a:p>
            <a:pPr lvl="1"/>
            <a:r>
              <a:rPr lang="en-IN" dirty="0"/>
              <a:t> - Parsing.   </a:t>
            </a:r>
          </a:p>
          <a:p>
            <a:pPr lvl="1">
              <a:spcAft>
                <a:spcPts val="1200"/>
              </a:spcAft>
            </a:pPr>
            <a:r>
              <a:rPr lang="en-IN" dirty="0"/>
              <a:t> - Backtracking</a:t>
            </a:r>
          </a:p>
          <a:p>
            <a:pPr marL="0" lvl="1"/>
            <a:r>
              <a:rPr lang="en-IN" sz="2000" dirty="0"/>
              <a:t>2. </a:t>
            </a:r>
            <a:r>
              <a:rPr lang="en-IN" sz="2000" b="1" dirty="0"/>
              <a:t>Vector:   </a:t>
            </a:r>
          </a:p>
          <a:p>
            <a:pPr marL="0" lvl="1"/>
            <a:r>
              <a:rPr lang="en-IN" dirty="0"/>
              <a:t>         - Dynamic memory allocation.   </a:t>
            </a:r>
          </a:p>
          <a:p>
            <a:pPr marL="0" lvl="1"/>
            <a:r>
              <a:rPr lang="en-IN" dirty="0"/>
              <a:t>         - Random-access requirements.  </a:t>
            </a:r>
          </a:p>
          <a:p>
            <a:pPr marL="0" lvl="1"/>
            <a:r>
              <a:rPr lang="en-IN" dirty="0"/>
              <a:t>         - Array-like operations.</a:t>
            </a:r>
          </a:p>
        </p:txBody>
      </p:sp>
    </p:spTree>
    <p:extLst>
      <p:ext uri="{BB962C8B-B14F-4D97-AF65-F5344CB8AC3E}">
        <p14:creationId xmlns:p14="http://schemas.microsoft.com/office/powerpoint/2010/main" val="269620528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5384F-698B-2765-6DC9-61B930580AF6}"/>
              </a:ext>
            </a:extLst>
          </p:cNvPr>
          <p:cNvSpPr>
            <a:spLocks noGrp="1"/>
          </p:cNvSpPr>
          <p:nvPr>
            <p:ph type="title"/>
          </p:nvPr>
        </p:nvSpPr>
        <p:spPr>
          <a:xfrm>
            <a:off x="677334" y="609600"/>
            <a:ext cx="8596668" cy="741680"/>
          </a:xfrm>
        </p:spPr>
        <p:txBody>
          <a:bodyPr/>
          <a:lstStyle/>
          <a:p>
            <a:r>
              <a:rPr lang="en-IN" dirty="0"/>
              <a:t>Deque</a:t>
            </a:r>
          </a:p>
        </p:txBody>
      </p:sp>
      <p:sp>
        <p:nvSpPr>
          <p:cNvPr id="3" name="Content Placeholder 2">
            <a:extLst>
              <a:ext uri="{FF2B5EF4-FFF2-40B4-BE49-F238E27FC236}">
                <a16:creationId xmlns:a16="http://schemas.microsoft.com/office/drawing/2014/main" id="{5FC385F6-2AE5-9E9E-6DDA-006917B147A1}"/>
              </a:ext>
            </a:extLst>
          </p:cNvPr>
          <p:cNvSpPr>
            <a:spLocks noGrp="1"/>
          </p:cNvSpPr>
          <p:nvPr>
            <p:ph idx="1"/>
          </p:nvPr>
        </p:nvSpPr>
        <p:spPr>
          <a:xfrm>
            <a:off x="677334" y="1554481"/>
            <a:ext cx="8596668" cy="4486882"/>
          </a:xfrm>
        </p:spPr>
        <p:txBody>
          <a:bodyPr>
            <a:normAutofit/>
          </a:bodyPr>
          <a:lstStyle/>
          <a:p>
            <a:pPr marL="0" indent="0">
              <a:buNone/>
            </a:pPr>
            <a:r>
              <a:rPr lang="en-US" sz="24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The </a:t>
            </a:r>
            <a:r>
              <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Deque</a:t>
            </a:r>
            <a:r>
              <a:rPr lang="en-US" sz="24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is related to the double-ended queue that supports adding or removing elements from either end of the data structure</a:t>
            </a:r>
          </a:p>
          <a:p>
            <a:pPr marL="0" indent="0">
              <a:buNone/>
            </a:pPr>
            <a:r>
              <a:rPr lang="en-US" sz="2400" b="0" i="0">
                <a:solidFill>
                  <a:srgbClr val="2B2A29"/>
                </a:solidFill>
                <a:effectLst/>
                <a:latin typeface="Calibri" panose="020F0502020204030204" pitchFamily="34" charset="0"/>
                <a:ea typeface="Calibri" panose="020F0502020204030204" pitchFamily="34" charset="0"/>
                <a:cs typeface="Calibri" panose="020F0502020204030204" pitchFamily="34" charset="0"/>
              </a:rPr>
              <a:t>	Therefore</a:t>
            </a:r>
            <a:r>
              <a:rPr lang="en-US" sz="2400" b="0" i="0" dirty="0">
                <a:solidFill>
                  <a:srgbClr val="2B2A29"/>
                </a:solidFill>
                <a:effectLst/>
                <a:latin typeface="Calibri" panose="020F0502020204030204" pitchFamily="34" charset="0"/>
                <a:ea typeface="Calibri" panose="020F0502020204030204" pitchFamily="34" charset="0"/>
                <a:cs typeface="Calibri" panose="020F0502020204030204" pitchFamily="34" charset="0"/>
              </a:rPr>
              <a:t>, a deque can be used </a:t>
            </a:r>
            <a:r>
              <a:rPr lang="en-US" sz="2400" b="0" i="0" dirty="0">
                <a:solidFill>
                  <a:srgbClr val="2B2A29"/>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as a stack or a queue</a:t>
            </a:r>
            <a:r>
              <a:rPr lang="en-US" sz="2400" b="0" i="0" dirty="0">
                <a:solidFill>
                  <a:srgbClr val="2B2A29"/>
                </a:solidFill>
                <a:effectLst/>
                <a:latin typeface="Calibri" panose="020F0502020204030204" pitchFamily="34" charset="0"/>
                <a:ea typeface="Calibri" panose="020F0502020204030204" pitchFamily="34" charset="0"/>
                <a:cs typeface="Calibri" panose="020F0502020204030204" pitchFamily="34" charset="0"/>
              </a:rPr>
              <a:t>. We know that the stack supports the Last-In-First-Out (LIFO) operation, and the operation First-In-First-Out is supported by a queue. As a deque supports both, either of the mentioned operations can be performed on it.</a:t>
            </a:r>
            <a:endParaRPr lang="en-US" sz="24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860476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3619B-1094-EFD7-DEA7-696BD273251A}"/>
              </a:ext>
            </a:extLst>
          </p:cNvPr>
          <p:cNvSpPr>
            <a:spLocks noGrp="1"/>
          </p:cNvSpPr>
          <p:nvPr>
            <p:ph type="title"/>
          </p:nvPr>
        </p:nvSpPr>
        <p:spPr>
          <a:xfrm>
            <a:off x="677334" y="609600"/>
            <a:ext cx="8596668" cy="782320"/>
          </a:xfrm>
        </p:spPr>
        <p:txBody>
          <a:bodyPr/>
          <a:lstStyle/>
          <a:p>
            <a:r>
              <a:rPr lang="en-US" dirty="0"/>
              <a:t>Autoboxing and Auto Unboxing</a:t>
            </a:r>
            <a:endParaRPr lang="en-IN" dirty="0"/>
          </a:p>
        </p:txBody>
      </p:sp>
      <p:sp>
        <p:nvSpPr>
          <p:cNvPr id="3" name="Content Placeholder 2">
            <a:extLst>
              <a:ext uri="{FF2B5EF4-FFF2-40B4-BE49-F238E27FC236}">
                <a16:creationId xmlns:a16="http://schemas.microsoft.com/office/drawing/2014/main" id="{1DC383A3-7155-6B02-51CE-BC222F54A57B}"/>
              </a:ext>
            </a:extLst>
          </p:cNvPr>
          <p:cNvSpPr>
            <a:spLocks noGrp="1"/>
          </p:cNvSpPr>
          <p:nvPr>
            <p:ph idx="1"/>
          </p:nvPr>
        </p:nvSpPr>
        <p:spPr>
          <a:xfrm>
            <a:off x="677334" y="1574801"/>
            <a:ext cx="8596668" cy="4466562"/>
          </a:xfrm>
        </p:spPr>
        <p:txBody>
          <a:bodyPr>
            <a:normAutofit/>
          </a:bodyPr>
          <a:lstStyle/>
          <a:p>
            <a:pPr marL="0" indent="0">
              <a:buNone/>
            </a:pPr>
            <a:r>
              <a:rPr lang="en-US" sz="2200" b="0" i="0" dirty="0">
                <a:solidFill>
                  <a:srgbClr val="202124"/>
                </a:solidFill>
                <a:effectLst/>
                <a:latin typeface="Google Sans"/>
              </a:rPr>
              <a:t>Autoboxing is </a:t>
            </a:r>
            <a:r>
              <a:rPr lang="en-US" sz="2200" b="0" i="0" dirty="0">
                <a:solidFill>
                  <a:srgbClr val="040C28"/>
                </a:solidFill>
                <a:effectLst/>
                <a:latin typeface="Google Sans"/>
              </a:rPr>
              <a:t>the automatic conversion that the Java compiler makes between </a:t>
            </a:r>
            <a:r>
              <a:rPr lang="en-US" sz="2200" b="1" i="0" u="sng" dirty="0">
                <a:solidFill>
                  <a:srgbClr val="040C28"/>
                </a:solidFill>
                <a:effectLst/>
                <a:latin typeface="Google Sans"/>
              </a:rPr>
              <a:t>the primitive types and their corresponding object wrapper classes</a:t>
            </a:r>
            <a:r>
              <a:rPr lang="en-US" sz="2200" b="1" i="0" u="sng" dirty="0">
                <a:solidFill>
                  <a:srgbClr val="202124"/>
                </a:solidFill>
                <a:effectLst/>
                <a:latin typeface="Google Sans"/>
              </a:rPr>
              <a:t>.</a:t>
            </a:r>
            <a:r>
              <a:rPr lang="en-US" sz="2200" b="0" i="0" dirty="0">
                <a:solidFill>
                  <a:srgbClr val="202124"/>
                </a:solidFill>
                <a:effectLst/>
                <a:latin typeface="Google Sans"/>
              </a:rPr>
              <a:t> For example, converting an int to an Integer, a double to a Double, and so on. If the </a:t>
            </a:r>
            <a:r>
              <a:rPr lang="en-US" sz="2200" b="1" i="0" u="sng" dirty="0">
                <a:solidFill>
                  <a:srgbClr val="202124"/>
                </a:solidFill>
                <a:effectLst/>
                <a:latin typeface="Google Sans"/>
              </a:rPr>
              <a:t>conversion goes the other way, this is called unboxing.</a:t>
            </a:r>
            <a:endParaRPr lang="en-IN" sz="2200" b="1" u="sng" dirty="0"/>
          </a:p>
        </p:txBody>
      </p:sp>
    </p:spTree>
    <p:extLst>
      <p:ext uri="{BB962C8B-B14F-4D97-AF65-F5344CB8AC3E}">
        <p14:creationId xmlns:p14="http://schemas.microsoft.com/office/powerpoint/2010/main" val="23862252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lstStyle/>
          <a:p>
            <a:r>
              <a:rPr lang="en-US" dirty="0"/>
              <a:t>Collections</a:t>
            </a:r>
            <a:endParaRPr lang="en-IN" dirty="0"/>
          </a:p>
        </p:txBody>
      </p:sp>
      <p:sp>
        <p:nvSpPr>
          <p:cNvPr id="4" name="Content Placeholder 3">
            <a:extLst>
              <a:ext uri="{FF2B5EF4-FFF2-40B4-BE49-F238E27FC236}">
                <a16:creationId xmlns:a16="http://schemas.microsoft.com/office/drawing/2014/main" id="{279BFEF5-7A0D-4EDD-AD62-3A068A1BF9E9}"/>
              </a:ext>
            </a:extLst>
          </p:cNvPr>
          <p:cNvSpPr>
            <a:spLocks noGrp="1"/>
          </p:cNvSpPr>
          <p:nvPr>
            <p:ph idx="1"/>
          </p:nvPr>
        </p:nvSpPr>
        <p:spPr>
          <a:xfrm>
            <a:off x="591403" y="1521664"/>
            <a:ext cx="8596668" cy="4923204"/>
          </a:xfrm>
        </p:spPr>
        <p:txBody>
          <a:bodyPr>
            <a:normAutofit/>
          </a:bodyPr>
          <a:lstStyle/>
          <a:p>
            <a:pPr marL="0" indent="0">
              <a:buNone/>
            </a:pPr>
            <a:r>
              <a:rPr lang="en-IN" sz="2400" b="1" dirty="0"/>
              <a:t>Iterator</a:t>
            </a:r>
            <a:r>
              <a:rPr lang="en-IN" sz="1600" b="1" dirty="0"/>
              <a:t>:</a:t>
            </a:r>
            <a:endParaRPr lang="en-IN" sz="2400" b="1" dirty="0"/>
          </a:p>
          <a:p>
            <a:pPr marL="0" indent="0">
              <a:buNone/>
            </a:pPr>
            <a:r>
              <a:rPr lang="en-IN" dirty="0"/>
              <a:t>‘Iterator’ is an interface which belongs to collection framework. It allows us to traverse the collection, access the data element and remove the data elements of the collection.</a:t>
            </a:r>
          </a:p>
          <a:p>
            <a:pPr marL="0" indent="0">
              <a:buNone/>
            </a:pPr>
            <a:r>
              <a:rPr lang="en-IN" b="1" dirty="0" err="1"/>
              <a:t>java.util</a:t>
            </a:r>
            <a:r>
              <a:rPr lang="en-IN" dirty="0"/>
              <a:t> package has </a:t>
            </a:r>
            <a:r>
              <a:rPr lang="en-IN" b="1" dirty="0"/>
              <a:t>public interface Iterator</a:t>
            </a:r>
            <a:r>
              <a:rPr lang="en-IN" dirty="0"/>
              <a:t> and contains three methods:</a:t>
            </a:r>
          </a:p>
          <a:p>
            <a:pPr marL="900113" fontAlgn="base">
              <a:buFont typeface="+mj-lt"/>
              <a:buAutoNum type="arabicPeriod"/>
            </a:pPr>
            <a:r>
              <a:rPr lang="en-IN" b="1" dirty="0" err="1"/>
              <a:t>boolean</a:t>
            </a:r>
            <a:r>
              <a:rPr lang="en-IN" b="1" dirty="0"/>
              <a:t> </a:t>
            </a:r>
            <a:r>
              <a:rPr lang="en-IN" b="1" dirty="0" err="1"/>
              <a:t>hasNext</a:t>
            </a:r>
            <a:r>
              <a:rPr lang="en-IN" b="1" dirty="0"/>
              <a:t>()</a:t>
            </a:r>
            <a:r>
              <a:rPr lang="en-IN" dirty="0"/>
              <a:t>: It returns true if Iterator has more element to iterate.</a:t>
            </a:r>
          </a:p>
          <a:p>
            <a:pPr marL="900113" fontAlgn="base">
              <a:buFont typeface="+mj-lt"/>
              <a:buAutoNum type="arabicPeriod"/>
            </a:pPr>
            <a:r>
              <a:rPr lang="en-IN" b="1" dirty="0"/>
              <a:t>Object next()</a:t>
            </a:r>
            <a:r>
              <a:rPr lang="en-IN" dirty="0"/>
              <a:t>: It returns the next element in the collection until the </a:t>
            </a:r>
            <a:r>
              <a:rPr lang="en-IN" dirty="0" err="1"/>
              <a:t>hasNext</a:t>
            </a:r>
            <a:r>
              <a:rPr lang="en-IN" dirty="0"/>
              <a:t>()method return true. This method throws ‘</a:t>
            </a:r>
            <a:r>
              <a:rPr lang="en-IN" dirty="0" err="1"/>
              <a:t>NoSuchElementException</a:t>
            </a:r>
            <a:r>
              <a:rPr lang="en-IN" dirty="0"/>
              <a:t>’ if there is no next element.</a:t>
            </a:r>
          </a:p>
          <a:p>
            <a:pPr marL="900113" fontAlgn="base">
              <a:buFont typeface="+mj-lt"/>
              <a:buAutoNum type="arabicPeriod"/>
            </a:pPr>
            <a:r>
              <a:rPr lang="en-IN" b="1" dirty="0"/>
              <a:t>void remove()</a:t>
            </a:r>
            <a:r>
              <a:rPr lang="en-IN" dirty="0"/>
              <a:t>: It removes the current element in the collection. This method throws ‘</a:t>
            </a:r>
            <a:r>
              <a:rPr lang="en-IN" dirty="0" err="1"/>
              <a:t>IllegalStateException</a:t>
            </a:r>
            <a:r>
              <a:rPr lang="en-IN" dirty="0"/>
              <a:t>’ if this function is called before next( ) is invoked.</a:t>
            </a:r>
          </a:p>
          <a:p>
            <a:pPr marL="342900" lvl="3" indent="-342900">
              <a:buFont typeface="+mj-lt"/>
              <a:buAutoNum type="arabicPeriod"/>
            </a:pPr>
            <a:endParaRPr lang="en-IN" sz="2000" dirty="0"/>
          </a:p>
        </p:txBody>
      </p:sp>
    </p:spTree>
    <p:extLst>
      <p:ext uri="{BB962C8B-B14F-4D97-AF65-F5344CB8AC3E}">
        <p14:creationId xmlns:p14="http://schemas.microsoft.com/office/powerpoint/2010/main" val="135405082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7B57A-4480-4DAE-A1E5-7E90D7309168}"/>
              </a:ext>
            </a:extLst>
          </p:cNvPr>
          <p:cNvSpPr>
            <a:spLocks noGrp="1"/>
          </p:cNvSpPr>
          <p:nvPr>
            <p:ph type="title"/>
          </p:nvPr>
        </p:nvSpPr>
        <p:spPr>
          <a:xfrm>
            <a:off x="677334" y="609600"/>
            <a:ext cx="8596668" cy="921745"/>
          </a:xfrm>
        </p:spPr>
        <p:txBody>
          <a:bodyPr/>
          <a:lstStyle/>
          <a:p>
            <a:r>
              <a:rPr lang="en-US" dirty="0"/>
              <a:t>List vs Set vs Map</a:t>
            </a:r>
            <a:endParaRPr lang="en-IN" dirty="0"/>
          </a:p>
        </p:txBody>
      </p:sp>
      <p:sp>
        <p:nvSpPr>
          <p:cNvPr id="3" name="Text Placeholder 2">
            <a:extLst>
              <a:ext uri="{FF2B5EF4-FFF2-40B4-BE49-F238E27FC236}">
                <a16:creationId xmlns:a16="http://schemas.microsoft.com/office/drawing/2014/main" id="{AECB5981-7C5F-46AF-AFDF-432027AE120C}"/>
              </a:ext>
            </a:extLst>
          </p:cNvPr>
          <p:cNvSpPr>
            <a:spLocks noGrp="1"/>
          </p:cNvSpPr>
          <p:nvPr>
            <p:ph type="body" idx="1"/>
          </p:nvPr>
        </p:nvSpPr>
        <p:spPr>
          <a:xfrm>
            <a:off x="228664" y="1243214"/>
            <a:ext cx="2926771" cy="576262"/>
          </a:xfrm>
        </p:spPr>
        <p:txBody>
          <a:bodyPr/>
          <a:lstStyle/>
          <a:p>
            <a:pPr algn="ctr"/>
            <a:r>
              <a:rPr lang="en-US" dirty="0"/>
              <a:t>List</a:t>
            </a:r>
            <a:endParaRPr lang="en-IN" dirty="0"/>
          </a:p>
        </p:txBody>
      </p:sp>
      <p:sp>
        <p:nvSpPr>
          <p:cNvPr id="4" name="Content Placeholder 3">
            <a:extLst>
              <a:ext uri="{FF2B5EF4-FFF2-40B4-BE49-F238E27FC236}">
                <a16:creationId xmlns:a16="http://schemas.microsoft.com/office/drawing/2014/main" id="{FA973FD9-D298-4150-810A-8F999C6FF758}"/>
              </a:ext>
            </a:extLst>
          </p:cNvPr>
          <p:cNvSpPr>
            <a:spLocks noGrp="1"/>
          </p:cNvSpPr>
          <p:nvPr>
            <p:ph sz="half" idx="2"/>
          </p:nvPr>
        </p:nvSpPr>
        <p:spPr>
          <a:xfrm>
            <a:off x="582248" y="1937748"/>
            <a:ext cx="3141857" cy="3304117"/>
          </a:xfrm>
        </p:spPr>
        <p:txBody>
          <a:bodyPr>
            <a:normAutofit/>
          </a:bodyPr>
          <a:lstStyle/>
          <a:p>
            <a:r>
              <a:rPr lang="en-US" sz="2000" dirty="0"/>
              <a:t>It is list of elements</a:t>
            </a:r>
          </a:p>
          <a:p>
            <a:r>
              <a:rPr lang="en-US" sz="2000" dirty="0"/>
              <a:t>It is </a:t>
            </a:r>
            <a:r>
              <a:rPr lang="en-US" sz="2000" u="sng" dirty="0"/>
              <a:t>ordered </a:t>
            </a:r>
            <a:r>
              <a:rPr lang="en-US" sz="2000" dirty="0"/>
              <a:t>collection of elements</a:t>
            </a:r>
          </a:p>
          <a:p>
            <a:r>
              <a:rPr lang="en-US" sz="2000" dirty="0"/>
              <a:t>It </a:t>
            </a:r>
            <a:r>
              <a:rPr lang="en-US" sz="2000" u="sng" dirty="0"/>
              <a:t>allows duplicate </a:t>
            </a:r>
            <a:r>
              <a:rPr lang="en-US" sz="2000" dirty="0"/>
              <a:t>values</a:t>
            </a:r>
          </a:p>
          <a:p>
            <a:r>
              <a:rPr lang="en-US" sz="2000" dirty="0"/>
              <a:t>New items can be inserted anywhere in between the list</a:t>
            </a:r>
            <a:endParaRPr lang="en-IN" sz="2000" dirty="0"/>
          </a:p>
        </p:txBody>
      </p:sp>
      <p:sp>
        <p:nvSpPr>
          <p:cNvPr id="5" name="Text Placeholder 4">
            <a:extLst>
              <a:ext uri="{FF2B5EF4-FFF2-40B4-BE49-F238E27FC236}">
                <a16:creationId xmlns:a16="http://schemas.microsoft.com/office/drawing/2014/main" id="{64C757B7-3B3C-4DA6-B9F9-AFDDF9466912}"/>
              </a:ext>
            </a:extLst>
          </p:cNvPr>
          <p:cNvSpPr>
            <a:spLocks noGrp="1"/>
          </p:cNvSpPr>
          <p:nvPr>
            <p:ph type="body" sz="quarter" idx="3"/>
          </p:nvPr>
        </p:nvSpPr>
        <p:spPr>
          <a:xfrm>
            <a:off x="3927438" y="1342612"/>
            <a:ext cx="2926772" cy="576262"/>
          </a:xfrm>
        </p:spPr>
        <p:txBody>
          <a:bodyPr/>
          <a:lstStyle/>
          <a:p>
            <a:pPr algn="ctr"/>
            <a:r>
              <a:rPr lang="en-US" dirty="0"/>
              <a:t>Set</a:t>
            </a:r>
            <a:endParaRPr lang="en-IN" dirty="0"/>
          </a:p>
        </p:txBody>
      </p:sp>
      <p:sp>
        <p:nvSpPr>
          <p:cNvPr id="6" name="Content Placeholder 5">
            <a:extLst>
              <a:ext uri="{FF2B5EF4-FFF2-40B4-BE49-F238E27FC236}">
                <a16:creationId xmlns:a16="http://schemas.microsoft.com/office/drawing/2014/main" id="{F7CB3AB7-B9BE-4876-A34D-0B17BF91036E}"/>
              </a:ext>
            </a:extLst>
          </p:cNvPr>
          <p:cNvSpPr>
            <a:spLocks noGrp="1"/>
          </p:cNvSpPr>
          <p:nvPr>
            <p:ph sz="quarter" idx="4"/>
          </p:nvPr>
        </p:nvSpPr>
        <p:spPr>
          <a:xfrm>
            <a:off x="3597175" y="1943064"/>
            <a:ext cx="3369814" cy="3304117"/>
          </a:xfrm>
        </p:spPr>
        <p:txBody>
          <a:bodyPr>
            <a:noAutofit/>
          </a:bodyPr>
          <a:lstStyle/>
          <a:p>
            <a:r>
              <a:rPr lang="en-US" sz="2000" dirty="0"/>
              <a:t>It is set of elements</a:t>
            </a:r>
          </a:p>
          <a:p>
            <a:r>
              <a:rPr lang="en-US" sz="2000" dirty="0"/>
              <a:t>It is </a:t>
            </a:r>
            <a:r>
              <a:rPr lang="en-US" sz="2000" u="sng" dirty="0"/>
              <a:t>not ordered </a:t>
            </a:r>
            <a:r>
              <a:rPr lang="en-US" sz="2000" dirty="0"/>
              <a:t>collection of elements</a:t>
            </a:r>
          </a:p>
          <a:p>
            <a:r>
              <a:rPr lang="en-US" sz="2000" dirty="0"/>
              <a:t>It </a:t>
            </a:r>
            <a:r>
              <a:rPr lang="en-US" sz="2000" u="sng" dirty="0"/>
              <a:t>does not allows </a:t>
            </a:r>
            <a:r>
              <a:rPr lang="en-US" sz="2000" dirty="0"/>
              <a:t>duplicate values</a:t>
            </a:r>
            <a:endParaRPr lang="en-IN" sz="2000" dirty="0"/>
          </a:p>
          <a:p>
            <a:r>
              <a:rPr lang="en-US" sz="2000" dirty="0"/>
              <a:t>New items can not be inserted anywhere in between the set</a:t>
            </a:r>
            <a:endParaRPr lang="en-IN" sz="2000" dirty="0"/>
          </a:p>
          <a:p>
            <a:endParaRPr lang="en-IN" sz="2000" dirty="0"/>
          </a:p>
        </p:txBody>
      </p:sp>
      <p:sp>
        <p:nvSpPr>
          <p:cNvPr id="7" name="TextBox 6">
            <a:extLst>
              <a:ext uri="{FF2B5EF4-FFF2-40B4-BE49-F238E27FC236}">
                <a16:creationId xmlns:a16="http://schemas.microsoft.com/office/drawing/2014/main" id="{E0D48C68-3A7F-4B31-ACD1-56DF631A3C88}"/>
              </a:ext>
            </a:extLst>
          </p:cNvPr>
          <p:cNvSpPr txBox="1"/>
          <p:nvPr/>
        </p:nvSpPr>
        <p:spPr>
          <a:xfrm>
            <a:off x="7116896" y="1531345"/>
            <a:ext cx="2566931" cy="461665"/>
          </a:xfrm>
          <a:prstGeom prst="rect">
            <a:avLst/>
          </a:prstGeom>
          <a:noFill/>
        </p:spPr>
        <p:txBody>
          <a:bodyPr wrap="square" rtlCol="0">
            <a:spAutoFit/>
          </a:bodyPr>
          <a:lstStyle/>
          <a:p>
            <a:pPr algn="ctr"/>
            <a:r>
              <a:rPr lang="en-US" sz="2400" dirty="0"/>
              <a:t>Map</a:t>
            </a:r>
            <a:endParaRPr lang="en-IN" sz="2400" dirty="0"/>
          </a:p>
        </p:txBody>
      </p:sp>
      <p:sp>
        <p:nvSpPr>
          <p:cNvPr id="8" name="TextBox 7">
            <a:extLst>
              <a:ext uri="{FF2B5EF4-FFF2-40B4-BE49-F238E27FC236}">
                <a16:creationId xmlns:a16="http://schemas.microsoft.com/office/drawing/2014/main" id="{7D1AABBD-9838-465A-9426-4A9A84E5A986}"/>
              </a:ext>
            </a:extLst>
          </p:cNvPr>
          <p:cNvSpPr txBox="1"/>
          <p:nvPr/>
        </p:nvSpPr>
        <p:spPr>
          <a:xfrm>
            <a:off x="7106904" y="1993010"/>
            <a:ext cx="3531695" cy="3890203"/>
          </a:xfrm>
          <a:prstGeom prst="rect">
            <a:avLst/>
          </a:prstGeom>
        </p:spPr>
        <p:txBody>
          <a:bodyPr vert="horz" lIns="91440" tIns="45720" rIns="91440" bIns="45720" rtlCol="0">
            <a:noAutofit/>
          </a:bodyPr>
          <a:lstStyle>
            <a:lvl1pPr marL="342900" indent="-342900" defTabSz="457200">
              <a:spcBef>
                <a:spcPts val="1000"/>
              </a:spcBef>
              <a:spcAft>
                <a:spcPts val="0"/>
              </a:spcAft>
              <a:buClr>
                <a:schemeClr val="accent1"/>
              </a:buClr>
              <a:buSzPct val="80000"/>
              <a:buFont typeface="Wingdings 3" charset="2"/>
              <a:buChar char=""/>
              <a:defRPr>
                <a:solidFill>
                  <a:schemeClr val="tx1">
                    <a:lumMod val="75000"/>
                    <a:lumOff val="25000"/>
                  </a:schemeClr>
                </a:solidFill>
              </a:defRPr>
            </a:lvl1pPr>
            <a:lvl2pPr marL="742950" indent="-285750" defTabSz="457200">
              <a:spcBef>
                <a:spcPts val="1000"/>
              </a:spcBef>
              <a:spcAft>
                <a:spcPts val="0"/>
              </a:spcAft>
              <a:buClr>
                <a:schemeClr val="accent1"/>
              </a:buClr>
              <a:buSzPct val="80000"/>
              <a:buFont typeface="Wingdings 3" charset="2"/>
              <a:buChar char=""/>
              <a:defRPr sz="1600">
                <a:solidFill>
                  <a:schemeClr val="tx1">
                    <a:lumMod val="75000"/>
                    <a:lumOff val="25000"/>
                  </a:schemeClr>
                </a:solidFill>
              </a:defRPr>
            </a:lvl2pPr>
            <a:lvl3pPr marL="1143000" indent="-228600" defTabSz="457200">
              <a:spcBef>
                <a:spcPts val="1000"/>
              </a:spcBef>
              <a:spcAft>
                <a:spcPts val="0"/>
              </a:spcAft>
              <a:buClr>
                <a:schemeClr val="accent1"/>
              </a:buClr>
              <a:buSzPct val="80000"/>
              <a:buFont typeface="Wingdings 3" charset="2"/>
              <a:buChar char=""/>
              <a:defRPr sz="1400">
                <a:solidFill>
                  <a:schemeClr val="tx1">
                    <a:lumMod val="75000"/>
                    <a:lumOff val="25000"/>
                  </a:schemeClr>
                </a:solidFill>
              </a:defRPr>
            </a:lvl3pPr>
            <a:lvl4pPr marL="1600200" indent="-228600" defTabSz="4572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4pPr>
            <a:lvl5pPr marL="2057400" indent="-228600" defTabSz="4572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5pPr>
            <a:lvl6pPr marL="2514600" indent="-228600" defTabSz="4572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6pPr>
            <a:lvl7pPr marL="2971800" indent="-228600" defTabSz="4572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7pPr>
            <a:lvl8pPr marL="3429000" indent="-228600" defTabSz="4572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8pPr>
            <a:lvl9pPr marL="3886200" indent="-228600" defTabSz="4572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9pPr>
          </a:lstStyle>
          <a:p>
            <a:r>
              <a:rPr lang="en-US" sz="2000" dirty="0"/>
              <a:t>It is Key-Value pair of elements</a:t>
            </a:r>
          </a:p>
          <a:p>
            <a:r>
              <a:rPr lang="en-US" sz="2000" dirty="0"/>
              <a:t>Insertion order is depends on what class is implemented</a:t>
            </a:r>
          </a:p>
          <a:p>
            <a:r>
              <a:rPr lang="en-US" sz="2000" u="sng" dirty="0"/>
              <a:t>If duplicate key is given, it will be overridden.</a:t>
            </a:r>
          </a:p>
          <a:p>
            <a:r>
              <a:rPr lang="en-US" sz="2000" dirty="0"/>
              <a:t>HashMap allows </a:t>
            </a:r>
            <a:r>
              <a:rPr lang="en-US" sz="2000" b="1" u="sng" dirty="0"/>
              <a:t>one null key and multiple null values</a:t>
            </a:r>
            <a:r>
              <a:rPr lang="en-US" sz="2000" dirty="0"/>
              <a:t>. But </a:t>
            </a:r>
            <a:r>
              <a:rPr lang="en-US" sz="2000" dirty="0" err="1"/>
              <a:t>HashTable</a:t>
            </a:r>
            <a:r>
              <a:rPr lang="en-US" sz="2000" u="sng" dirty="0"/>
              <a:t> </a:t>
            </a:r>
            <a:r>
              <a:rPr lang="en-US" sz="2000" b="1" u="sng" dirty="0"/>
              <a:t>does not allow null key and null value</a:t>
            </a:r>
            <a:r>
              <a:rPr lang="en-US" sz="2000" dirty="0"/>
              <a:t>.</a:t>
            </a:r>
            <a:endParaRPr lang="en-IN" sz="2000" dirty="0"/>
          </a:p>
          <a:p>
            <a:endParaRPr lang="en-IN" sz="2000" dirty="0"/>
          </a:p>
        </p:txBody>
      </p:sp>
    </p:spTree>
    <p:extLst>
      <p:ext uri="{BB962C8B-B14F-4D97-AF65-F5344CB8AC3E}">
        <p14:creationId xmlns:p14="http://schemas.microsoft.com/office/powerpoint/2010/main" val="425746278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D325A-839A-4D58-B745-EA6A7B4729A4}"/>
              </a:ext>
            </a:extLst>
          </p:cNvPr>
          <p:cNvSpPr>
            <a:spLocks noGrp="1"/>
          </p:cNvSpPr>
          <p:nvPr>
            <p:ph type="title"/>
          </p:nvPr>
        </p:nvSpPr>
        <p:spPr>
          <a:xfrm>
            <a:off x="677334" y="609600"/>
            <a:ext cx="8596668" cy="701040"/>
          </a:xfrm>
        </p:spPr>
        <p:txBody>
          <a:bodyPr/>
          <a:lstStyle/>
          <a:p>
            <a:r>
              <a:rPr lang="en-IN" dirty="0"/>
              <a:t>Linked List</a:t>
            </a:r>
          </a:p>
        </p:txBody>
      </p:sp>
      <p:sp>
        <p:nvSpPr>
          <p:cNvPr id="4" name="Content Placeholder 3">
            <a:extLst>
              <a:ext uri="{FF2B5EF4-FFF2-40B4-BE49-F238E27FC236}">
                <a16:creationId xmlns:a16="http://schemas.microsoft.com/office/drawing/2014/main" id="{248DBA22-9EE0-4B29-AA2D-58D4FBCAE938}"/>
              </a:ext>
            </a:extLst>
          </p:cNvPr>
          <p:cNvSpPr>
            <a:spLocks noGrp="1"/>
          </p:cNvSpPr>
          <p:nvPr>
            <p:ph idx="1"/>
          </p:nvPr>
        </p:nvSpPr>
        <p:spPr/>
        <p:txBody>
          <a:bodyPr/>
          <a:lstStyle/>
          <a:p>
            <a:endParaRPr lang="en-IN" dirty="0"/>
          </a:p>
        </p:txBody>
      </p:sp>
      <p:pic>
        <p:nvPicPr>
          <p:cNvPr id="1028" name="Picture 4" descr="LinkedList in Java with Example">
            <a:extLst>
              <a:ext uri="{FF2B5EF4-FFF2-40B4-BE49-F238E27FC236}">
                <a16:creationId xmlns:a16="http://schemas.microsoft.com/office/drawing/2014/main" id="{ABD4ECA2-F542-4C74-8F5A-6AC2A0FADB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418" y="1769133"/>
            <a:ext cx="9851861" cy="411483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89FE655-2A85-51B6-A399-38DDE30C4F27}"/>
              </a:ext>
            </a:extLst>
          </p:cNvPr>
          <p:cNvSpPr txBox="1"/>
          <p:nvPr/>
        </p:nvSpPr>
        <p:spPr>
          <a:xfrm>
            <a:off x="3759200" y="4958080"/>
            <a:ext cx="1615440" cy="461665"/>
          </a:xfrm>
          <a:prstGeom prst="rect">
            <a:avLst/>
          </a:prstGeom>
          <a:solidFill>
            <a:schemeClr val="bg1"/>
          </a:solidFill>
        </p:spPr>
        <p:txBody>
          <a:bodyPr wrap="square" rtlCol="0">
            <a:spAutoFit/>
          </a:bodyPr>
          <a:lstStyle/>
          <a:p>
            <a:r>
              <a:rPr lang="en-IN" sz="2400" dirty="0"/>
              <a:t>3316</a:t>
            </a:r>
          </a:p>
        </p:txBody>
      </p:sp>
    </p:spTree>
    <p:extLst>
      <p:ext uri="{BB962C8B-B14F-4D97-AF65-F5344CB8AC3E}">
        <p14:creationId xmlns:p14="http://schemas.microsoft.com/office/powerpoint/2010/main" val="24826649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3E440-6F55-4B83-8F65-7FFD3A714C28}"/>
              </a:ext>
            </a:extLst>
          </p:cNvPr>
          <p:cNvSpPr>
            <a:spLocks noGrp="1"/>
          </p:cNvSpPr>
          <p:nvPr>
            <p:ph type="title"/>
          </p:nvPr>
        </p:nvSpPr>
        <p:spPr/>
        <p:txBody>
          <a:bodyPr/>
          <a:lstStyle/>
          <a:p>
            <a:endParaRPr lang="en-IN"/>
          </a:p>
        </p:txBody>
      </p:sp>
      <p:pic>
        <p:nvPicPr>
          <p:cNvPr id="2050" name="Picture 2" descr="C# | Arrays - GeeksforGeeks">
            <a:extLst>
              <a:ext uri="{FF2B5EF4-FFF2-40B4-BE49-F238E27FC236}">
                <a16:creationId xmlns:a16="http://schemas.microsoft.com/office/drawing/2014/main" id="{A70646B9-8653-4209-9AA4-BC4315EEA4C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4947" y="1818862"/>
            <a:ext cx="9012849" cy="4223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091228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lstStyle/>
          <a:p>
            <a:r>
              <a:rPr lang="en-US" dirty="0"/>
              <a:t>Read and Write Text File</a:t>
            </a:r>
            <a:endParaRPr lang="en-IN" dirty="0"/>
          </a:p>
        </p:txBody>
      </p:sp>
      <p:sp>
        <p:nvSpPr>
          <p:cNvPr id="4" name="Content Placeholder 3">
            <a:extLst>
              <a:ext uri="{FF2B5EF4-FFF2-40B4-BE49-F238E27FC236}">
                <a16:creationId xmlns:a16="http://schemas.microsoft.com/office/drawing/2014/main" id="{279BFEF5-7A0D-4EDD-AD62-3A068A1BF9E9}"/>
              </a:ext>
            </a:extLst>
          </p:cNvPr>
          <p:cNvSpPr>
            <a:spLocks noGrp="1"/>
          </p:cNvSpPr>
          <p:nvPr>
            <p:ph idx="1"/>
          </p:nvPr>
        </p:nvSpPr>
        <p:spPr>
          <a:xfrm>
            <a:off x="591403" y="1521664"/>
            <a:ext cx="8596668" cy="4923204"/>
          </a:xfrm>
        </p:spPr>
        <p:txBody>
          <a:bodyPr>
            <a:normAutofit/>
          </a:bodyPr>
          <a:lstStyle/>
          <a:p>
            <a:pPr marL="342900" lvl="3" indent="-342900">
              <a:buFont typeface="+mj-lt"/>
              <a:buAutoNum type="arabicPeriod"/>
            </a:pPr>
            <a:r>
              <a:rPr lang="en-IN" sz="2400" dirty="0"/>
              <a:t>Ways to read data from the file </a:t>
            </a:r>
            <a:endParaRPr lang="en-US" sz="4000" dirty="0"/>
          </a:p>
          <a:p>
            <a:pPr marL="715963" indent="0">
              <a:buNone/>
            </a:pPr>
            <a:r>
              <a:rPr lang="en-IN" sz="1600" dirty="0" err="1"/>
              <a:t>BufferedReader</a:t>
            </a:r>
            <a:r>
              <a:rPr lang="en-IN" sz="1600" dirty="0"/>
              <a:t> </a:t>
            </a:r>
            <a:r>
              <a:rPr lang="en-IN" sz="1600" dirty="0" err="1"/>
              <a:t>br</a:t>
            </a:r>
            <a:r>
              <a:rPr lang="en-IN" sz="1600" dirty="0"/>
              <a:t> = new </a:t>
            </a:r>
            <a:r>
              <a:rPr lang="en-IN" sz="1600" dirty="0" err="1"/>
              <a:t>BufferedReader</a:t>
            </a:r>
            <a:r>
              <a:rPr lang="en-IN" sz="1600" dirty="0"/>
              <a:t>(new </a:t>
            </a:r>
            <a:r>
              <a:rPr lang="en-IN" sz="1600" dirty="0" err="1"/>
              <a:t>FileReader</a:t>
            </a:r>
            <a:r>
              <a:rPr lang="en-IN" sz="1600" dirty="0"/>
              <a:t>(file));</a:t>
            </a:r>
          </a:p>
          <a:p>
            <a:pPr marL="715963" indent="0">
              <a:buNone/>
            </a:pPr>
            <a:r>
              <a:rPr lang="en-IN" sz="1600" dirty="0" err="1"/>
              <a:t>FileReader</a:t>
            </a:r>
            <a:r>
              <a:rPr lang="en-IN" sz="1600" dirty="0"/>
              <a:t> </a:t>
            </a:r>
            <a:r>
              <a:rPr lang="en-IN" sz="1600" dirty="0" err="1"/>
              <a:t>fr</a:t>
            </a:r>
            <a:r>
              <a:rPr lang="en-IN" sz="1600" dirty="0"/>
              <a:t> = new </a:t>
            </a:r>
            <a:r>
              <a:rPr lang="en-IN" sz="1600" dirty="0" err="1"/>
              <a:t>FileReader</a:t>
            </a:r>
            <a:r>
              <a:rPr lang="en-IN" sz="1600" dirty="0"/>
              <a:t>("C:\\Users\\pankaj\\Desktop\\test.txt"); </a:t>
            </a:r>
          </a:p>
          <a:p>
            <a:pPr marL="715963" indent="0">
              <a:buNone/>
            </a:pPr>
            <a:r>
              <a:rPr lang="en-IN" sz="1600" dirty="0"/>
              <a:t>Scanner </a:t>
            </a:r>
            <a:r>
              <a:rPr lang="en-IN" sz="1600" dirty="0" err="1"/>
              <a:t>sc</a:t>
            </a:r>
            <a:r>
              <a:rPr lang="en-IN" sz="1600" dirty="0"/>
              <a:t> = new Scanner(file);</a:t>
            </a:r>
          </a:p>
          <a:p>
            <a:pPr marL="715963" indent="0">
              <a:buNone/>
            </a:pPr>
            <a:r>
              <a:rPr lang="en-IN" sz="1600" dirty="0" err="1"/>
              <a:t>InputStreamRead</a:t>
            </a:r>
            <a:r>
              <a:rPr lang="en-IN" sz="1600" dirty="0"/>
              <a:t> </a:t>
            </a:r>
            <a:r>
              <a:rPr lang="en-IN" sz="1600" dirty="0" err="1"/>
              <a:t>isr</a:t>
            </a:r>
            <a:r>
              <a:rPr lang="en-IN" sz="1600" dirty="0"/>
              <a:t> = new </a:t>
            </a:r>
            <a:r>
              <a:rPr lang="en-IN" sz="1600" dirty="0" err="1"/>
              <a:t>InputStreamReader</a:t>
            </a:r>
            <a:r>
              <a:rPr lang="en-IN" sz="1600" dirty="0"/>
              <a:t>();</a:t>
            </a:r>
          </a:p>
          <a:p>
            <a:pPr marL="342900" lvl="3" indent="-342900">
              <a:buFont typeface="+mj-lt"/>
              <a:buAutoNum type="arabicPeriod"/>
            </a:pPr>
            <a:endParaRPr lang="en-IN" sz="2000" dirty="0"/>
          </a:p>
          <a:p>
            <a:pPr marL="457200" lvl="3" indent="-457200">
              <a:buFont typeface="+mj-lt"/>
              <a:buAutoNum type="arabicPeriod" startAt="2"/>
            </a:pPr>
            <a:r>
              <a:rPr lang="en-IN" sz="2400" dirty="0"/>
              <a:t>Ways to write data to the file </a:t>
            </a:r>
            <a:endParaRPr lang="en-IN" sz="2000" dirty="0"/>
          </a:p>
          <a:p>
            <a:pPr marL="715963" indent="0">
              <a:buNone/>
            </a:pPr>
            <a:r>
              <a:rPr lang="en-IN" sz="1600" dirty="0" err="1"/>
              <a:t>BufferedOutputStream</a:t>
            </a:r>
            <a:r>
              <a:rPr lang="en-IN" sz="1600" dirty="0"/>
              <a:t> </a:t>
            </a:r>
            <a:r>
              <a:rPr lang="en-IN" sz="1600" u="sng" dirty="0" err="1"/>
              <a:t>bos</a:t>
            </a:r>
            <a:r>
              <a:rPr lang="en-IN" sz="1600" u="sng" dirty="0"/>
              <a:t> = new </a:t>
            </a:r>
            <a:r>
              <a:rPr lang="en-IN" sz="1600" u="sng" dirty="0" err="1"/>
              <a:t>BufferedOutputStream</a:t>
            </a:r>
            <a:r>
              <a:rPr lang="en-IN" sz="1600" u="sng" dirty="0"/>
              <a:t>(new </a:t>
            </a:r>
            <a:r>
              <a:rPr lang="en-IN" sz="1600" u="sng" dirty="0" err="1"/>
              <a:t>FileWriter</a:t>
            </a:r>
            <a:r>
              <a:rPr lang="en-IN" sz="1600" u="sng" dirty="0"/>
              <a:t>(file)); </a:t>
            </a:r>
          </a:p>
          <a:p>
            <a:pPr marL="715963" indent="0">
              <a:buNone/>
            </a:pPr>
            <a:r>
              <a:rPr lang="en-IN" sz="1600" dirty="0" err="1"/>
              <a:t>FileOutputStream</a:t>
            </a:r>
            <a:r>
              <a:rPr lang="en-IN" sz="1600" dirty="0"/>
              <a:t> </a:t>
            </a:r>
            <a:r>
              <a:rPr lang="en-IN" sz="1600" dirty="0" err="1"/>
              <a:t>outputStream</a:t>
            </a:r>
            <a:r>
              <a:rPr lang="en-IN" sz="1600" dirty="0"/>
              <a:t> = new </a:t>
            </a:r>
            <a:r>
              <a:rPr lang="en-IN" sz="1600" dirty="0" err="1"/>
              <a:t>FileOutputStream</a:t>
            </a:r>
            <a:r>
              <a:rPr lang="en-IN" sz="1600" dirty="0"/>
              <a:t>("c:/</a:t>
            </a:r>
            <a:r>
              <a:rPr lang="en-IN" sz="1600" u="sng" dirty="0"/>
              <a:t>temp/samplefile4.txt");</a:t>
            </a:r>
          </a:p>
          <a:p>
            <a:pPr marL="715963" indent="0">
              <a:buNone/>
            </a:pPr>
            <a:r>
              <a:rPr lang="en-IN" sz="1600" dirty="0" err="1"/>
              <a:t>DataOutputStream</a:t>
            </a:r>
            <a:r>
              <a:rPr lang="en-IN" sz="1600" dirty="0"/>
              <a:t> </a:t>
            </a:r>
            <a:r>
              <a:rPr lang="en-IN" sz="1600" dirty="0" err="1"/>
              <a:t>dataOutStream</a:t>
            </a:r>
            <a:r>
              <a:rPr lang="en-IN" sz="1600" dirty="0"/>
              <a:t> = new </a:t>
            </a:r>
            <a:r>
              <a:rPr lang="en-IN" sz="1600" dirty="0" err="1"/>
              <a:t>DataOutputStream</a:t>
            </a:r>
            <a:r>
              <a:rPr lang="en-IN" sz="1600" dirty="0"/>
              <a:t>(new </a:t>
            </a:r>
            <a:r>
              <a:rPr lang="en-IN" sz="1600" dirty="0" err="1"/>
              <a:t>BufferedOutputStream</a:t>
            </a:r>
            <a:r>
              <a:rPr lang="en-IN" sz="1600" dirty="0"/>
              <a:t>(</a:t>
            </a:r>
            <a:r>
              <a:rPr lang="en-IN" sz="1600" dirty="0" err="1"/>
              <a:t>outputStream</a:t>
            </a:r>
            <a:r>
              <a:rPr lang="en-IN" sz="1600" dirty="0"/>
              <a:t>));</a:t>
            </a:r>
          </a:p>
          <a:p>
            <a:pPr marL="342900" lvl="3" indent="-342900">
              <a:buFont typeface="+mj-lt"/>
              <a:buAutoNum type="arabicPeriod"/>
            </a:pPr>
            <a:endParaRPr lang="en-IN" sz="2000" dirty="0"/>
          </a:p>
        </p:txBody>
      </p:sp>
    </p:spTree>
    <p:extLst>
      <p:ext uri="{BB962C8B-B14F-4D97-AF65-F5344CB8AC3E}">
        <p14:creationId xmlns:p14="http://schemas.microsoft.com/office/powerpoint/2010/main" val="138938442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6CE7-763B-4D3C-8D7E-0E3A0EEF56C7}"/>
              </a:ext>
            </a:extLst>
          </p:cNvPr>
          <p:cNvSpPr>
            <a:spLocks noGrp="1"/>
          </p:cNvSpPr>
          <p:nvPr>
            <p:ph type="title"/>
          </p:nvPr>
        </p:nvSpPr>
        <p:spPr>
          <a:xfrm>
            <a:off x="677334" y="609600"/>
            <a:ext cx="8596668" cy="778525"/>
          </a:xfrm>
        </p:spPr>
        <p:txBody>
          <a:bodyPr/>
          <a:lstStyle/>
          <a:p>
            <a:r>
              <a:rPr lang="en-US" dirty="0"/>
              <a:t>Read and Write Excel File</a:t>
            </a:r>
            <a:endParaRPr lang="en-IN" dirty="0"/>
          </a:p>
        </p:txBody>
      </p:sp>
      <p:sp>
        <p:nvSpPr>
          <p:cNvPr id="4" name="Content Placeholder 3">
            <a:extLst>
              <a:ext uri="{FF2B5EF4-FFF2-40B4-BE49-F238E27FC236}">
                <a16:creationId xmlns:a16="http://schemas.microsoft.com/office/drawing/2014/main" id="{279BFEF5-7A0D-4EDD-AD62-3A068A1BF9E9}"/>
              </a:ext>
            </a:extLst>
          </p:cNvPr>
          <p:cNvSpPr>
            <a:spLocks noGrp="1"/>
          </p:cNvSpPr>
          <p:nvPr>
            <p:ph idx="1"/>
          </p:nvPr>
        </p:nvSpPr>
        <p:spPr>
          <a:xfrm>
            <a:off x="591403" y="1521664"/>
            <a:ext cx="8596668" cy="4923204"/>
          </a:xfrm>
        </p:spPr>
        <p:txBody>
          <a:bodyPr>
            <a:normAutofit/>
          </a:bodyPr>
          <a:lstStyle/>
          <a:p>
            <a:pPr marL="0" lvl="3" indent="0">
              <a:buNone/>
            </a:pPr>
            <a:r>
              <a:rPr lang="en-US" sz="2400" dirty="0"/>
              <a:t>Apache POI – Read Write Excel File</a:t>
            </a:r>
          </a:p>
          <a:p>
            <a:pPr marL="0" lvl="3" indent="0">
              <a:buNone/>
            </a:pPr>
            <a:r>
              <a:rPr lang="en-US" sz="2000" dirty="0"/>
              <a:t>What is Apace POI?</a:t>
            </a:r>
          </a:p>
          <a:p>
            <a:pPr marL="457200" lvl="4" indent="0">
              <a:buNone/>
            </a:pPr>
            <a:r>
              <a:rPr lang="en-IN" sz="1600" b="1" dirty="0"/>
              <a:t>Apache POI</a:t>
            </a:r>
            <a:r>
              <a:rPr lang="en-IN" sz="1600" dirty="0"/>
              <a:t> (Poor Obfuscation Implementation) is a Java API for reading and writing Microsoft Documents in both formats </a:t>
            </a:r>
            <a:r>
              <a:rPr lang="en-IN" sz="1600" b="1" dirty="0"/>
              <a:t>.</a:t>
            </a:r>
            <a:r>
              <a:rPr lang="en-IN" sz="1600" b="1" dirty="0" err="1"/>
              <a:t>xls</a:t>
            </a:r>
            <a:r>
              <a:rPr lang="en-IN" sz="1600" dirty="0"/>
              <a:t> and </a:t>
            </a:r>
            <a:r>
              <a:rPr lang="en-IN" sz="1600" b="1" dirty="0"/>
              <a:t>.xlsx.</a:t>
            </a:r>
          </a:p>
          <a:p>
            <a:pPr marL="804863">
              <a:buFont typeface="Wingdings" panose="05000000000000000000" pitchFamily="2" charset="2"/>
              <a:buChar char="§"/>
            </a:pPr>
            <a:r>
              <a:rPr lang="en-IN" sz="1600" b="1" dirty="0"/>
              <a:t>HSSF (Horrible </a:t>
            </a:r>
            <a:r>
              <a:rPr lang="en-IN" sz="1600" b="1" dirty="0" err="1"/>
              <a:t>SpreadSheet</a:t>
            </a:r>
            <a:r>
              <a:rPr lang="en-IN" sz="1600" b="1" dirty="0"/>
              <a:t> Format) Implementation:</a:t>
            </a:r>
            <a:r>
              <a:rPr lang="en-IN" sz="1600" dirty="0"/>
              <a:t> It denotes an API that is working with Excel 2003 or earlier versions.</a:t>
            </a:r>
          </a:p>
          <a:p>
            <a:pPr marL="804863">
              <a:buFont typeface="Wingdings" panose="05000000000000000000" pitchFamily="2" charset="2"/>
              <a:buChar char="§"/>
            </a:pPr>
            <a:r>
              <a:rPr lang="en-IN" sz="1600" b="1" dirty="0"/>
              <a:t>XSSF (XML </a:t>
            </a:r>
            <a:r>
              <a:rPr lang="en-IN" sz="1600" b="1" dirty="0" err="1"/>
              <a:t>SpreadSheet</a:t>
            </a:r>
            <a:r>
              <a:rPr lang="en-IN" sz="1600" b="1" dirty="0"/>
              <a:t> Format) Implementation:</a:t>
            </a:r>
            <a:r>
              <a:rPr lang="en-IN" sz="1600" dirty="0"/>
              <a:t> It denotes an API that is working with Excel 2007 or later versions.</a:t>
            </a:r>
          </a:p>
          <a:p>
            <a:pPr marL="457200" lvl="4" indent="0">
              <a:buNone/>
            </a:pPr>
            <a:endParaRPr lang="en-IN" sz="2800" dirty="0"/>
          </a:p>
        </p:txBody>
      </p:sp>
    </p:spTree>
    <p:extLst>
      <p:ext uri="{BB962C8B-B14F-4D97-AF65-F5344CB8AC3E}">
        <p14:creationId xmlns:p14="http://schemas.microsoft.com/office/powerpoint/2010/main" val="406348890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pPr algn="ctr"/>
            <a:r>
              <a:rPr lang="en-US" dirty="0"/>
              <a:t>JDBC</a:t>
            </a:r>
            <a:endParaRPr lang="en-IN" dirty="0"/>
          </a:p>
        </p:txBody>
      </p:sp>
      <p:sp>
        <p:nvSpPr>
          <p:cNvPr id="3" name="Content Placeholder 2"/>
          <p:cNvSpPr>
            <a:spLocks noGrp="1"/>
          </p:cNvSpPr>
          <p:nvPr>
            <p:ph idx="1"/>
          </p:nvPr>
        </p:nvSpPr>
        <p:spPr>
          <a:xfrm>
            <a:off x="677334" y="1328057"/>
            <a:ext cx="8596668" cy="4713305"/>
          </a:xfrm>
        </p:spPr>
        <p:txBody>
          <a:bodyPr/>
          <a:lstStyle/>
          <a:p>
            <a:pPr marL="0" indent="0">
              <a:buNone/>
            </a:pPr>
            <a:r>
              <a:rPr lang="en-IN" dirty="0"/>
              <a:t>There are 5 steps to connect any java application with the database use JDBC</a:t>
            </a:r>
          </a:p>
          <a:p>
            <a:pPr algn="l">
              <a:buFont typeface="+mj-lt"/>
              <a:buAutoNum type="arabicPeriod"/>
            </a:pPr>
            <a:r>
              <a:rPr lang="en-US" b="0" dirty="0">
                <a:solidFill>
                  <a:srgbClr val="000000"/>
                </a:solidFill>
                <a:effectLst/>
                <a:latin typeface="verdana" panose="020B0604030504040204" pitchFamily="34" charset="0"/>
              </a:rPr>
              <a:t>Register the Driver class</a:t>
            </a:r>
          </a:p>
          <a:p>
            <a:pPr algn="l">
              <a:buFont typeface="+mj-lt"/>
              <a:buAutoNum type="arabicPeriod"/>
            </a:pPr>
            <a:r>
              <a:rPr lang="en-US" b="0" dirty="0">
                <a:solidFill>
                  <a:srgbClr val="000000"/>
                </a:solidFill>
                <a:effectLst/>
                <a:latin typeface="verdana" panose="020B0604030504040204" pitchFamily="34" charset="0"/>
              </a:rPr>
              <a:t>Create connection</a:t>
            </a:r>
          </a:p>
          <a:p>
            <a:pPr algn="l">
              <a:buFont typeface="+mj-lt"/>
              <a:buAutoNum type="arabicPeriod"/>
            </a:pPr>
            <a:r>
              <a:rPr lang="en-US" b="0" dirty="0">
                <a:solidFill>
                  <a:srgbClr val="000000"/>
                </a:solidFill>
                <a:effectLst/>
                <a:latin typeface="verdana" panose="020B0604030504040204" pitchFamily="34" charset="0"/>
              </a:rPr>
              <a:t>Create statement</a:t>
            </a:r>
          </a:p>
          <a:p>
            <a:pPr algn="l">
              <a:buFont typeface="+mj-lt"/>
              <a:buAutoNum type="arabicPeriod"/>
            </a:pPr>
            <a:r>
              <a:rPr lang="en-US" b="0" dirty="0">
                <a:solidFill>
                  <a:srgbClr val="000000"/>
                </a:solidFill>
                <a:effectLst/>
                <a:latin typeface="verdana" panose="020B0604030504040204" pitchFamily="34" charset="0"/>
              </a:rPr>
              <a:t>Execute queries</a:t>
            </a:r>
          </a:p>
          <a:p>
            <a:pPr algn="l">
              <a:buFont typeface="+mj-lt"/>
              <a:buAutoNum type="arabicPeriod"/>
            </a:pPr>
            <a:r>
              <a:rPr lang="en-US" b="0" dirty="0">
                <a:solidFill>
                  <a:srgbClr val="000000"/>
                </a:solidFill>
                <a:effectLst/>
                <a:latin typeface="verdana" panose="020B0604030504040204" pitchFamily="34" charset="0"/>
              </a:rPr>
              <a:t>Close connection</a:t>
            </a:r>
          </a:p>
          <a:p>
            <a:pPr>
              <a:buFont typeface="+mj-lt"/>
              <a:buAutoNum type="arabicPeriod"/>
            </a:pPr>
            <a:endParaRPr lang="en-IN" dirty="0"/>
          </a:p>
        </p:txBody>
      </p:sp>
    </p:spTree>
    <p:extLst>
      <p:ext uri="{BB962C8B-B14F-4D97-AF65-F5344CB8AC3E}">
        <p14:creationId xmlns:p14="http://schemas.microsoft.com/office/powerpoint/2010/main" val="172639150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pPr algn="ctr"/>
            <a:r>
              <a:rPr lang="en-US" dirty="0"/>
              <a:t>JDBC</a:t>
            </a:r>
            <a:endParaRPr lang="en-IN" dirty="0"/>
          </a:p>
        </p:txBody>
      </p:sp>
      <p:sp>
        <p:nvSpPr>
          <p:cNvPr id="3" name="Content Placeholder 2"/>
          <p:cNvSpPr>
            <a:spLocks noGrp="1"/>
          </p:cNvSpPr>
          <p:nvPr>
            <p:ph idx="1"/>
          </p:nvPr>
        </p:nvSpPr>
        <p:spPr>
          <a:xfrm>
            <a:off x="677334" y="1328057"/>
            <a:ext cx="8596668" cy="4713305"/>
          </a:xfrm>
        </p:spPr>
        <p:txBody>
          <a:bodyPr>
            <a:normAutofit/>
          </a:bodyPr>
          <a:lstStyle/>
          <a:p>
            <a:pPr algn="l">
              <a:buFont typeface="+mj-lt"/>
              <a:buAutoNum type="arabicPeriod"/>
            </a:pPr>
            <a:r>
              <a:rPr lang="en-IN" b="0" i="0" dirty="0" err="1">
                <a:solidFill>
                  <a:srgbClr val="000000"/>
                </a:solidFill>
                <a:effectLst/>
                <a:latin typeface="verdana" panose="020B0604030504040204" pitchFamily="34" charset="0"/>
              </a:rPr>
              <a:t>Class.forName</a:t>
            </a:r>
            <a:r>
              <a:rPr lang="en-IN" b="0" i="0" dirty="0">
                <a:solidFill>
                  <a:srgbClr val="000000"/>
                </a:solidFill>
                <a:effectLst/>
                <a:latin typeface="verdana" panose="020B0604030504040204" pitchFamily="34" charset="0"/>
              </a:rPr>
              <a:t>(</a:t>
            </a:r>
            <a:r>
              <a:rPr lang="en-IN" b="0" i="0" dirty="0">
                <a:solidFill>
                  <a:srgbClr val="0000FF"/>
                </a:solidFill>
                <a:effectLst/>
                <a:latin typeface="verdana" panose="020B0604030504040204" pitchFamily="34" charset="0"/>
              </a:rPr>
              <a:t>"</a:t>
            </a:r>
            <a:r>
              <a:rPr lang="en-IN" b="0" i="0" dirty="0" err="1">
                <a:solidFill>
                  <a:srgbClr val="0000FF"/>
                </a:solidFill>
                <a:effectLst/>
                <a:latin typeface="verdana" panose="020B0604030504040204" pitchFamily="34" charset="0"/>
              </a:rPr>
              <a:t>com.mysql.jdbc.Driver</a:t>
            </a:r>
            <a:r>
              <a:rPr lang="en-IN" b="0" i="0" dirty="0">
                <a:solidFill>
                  <a:srgbClr val="0000FF"/>
                </a:solidFill>
                <a:effectLst/>
                <a:latin typeface="verdana" panose="020B0604030504040204" pitchFamily="34" charset="0"/>
              </a:rPr>
              <a:t>"</a:t>
            </a:r>
            <a:r>
              <a:rPr lang="en-IN" b="0" i="0" dirty="0">
                <a:solidFill>
                  <a:srgbClr val="000000"/>
                </a:solidFill>
                <a:effectLst/>
                <a:latin typeface="verdana" panose="020B0604030504040204" pitchFamily="34" charset="0"/>
              </a:rPr>
              <a:t>);  </a:t>
            </a:r>
          </a:p>
          <a:p>
            <a:pPr algn="l">
              <a:buFont typeface="+mj-lt"/>
              <a:buAutoNum type="arabicPeriod"/>
            </a:pPr>
            <a:r>
              <a:rPr lang="en-IN" b="0" i="0" dirty="0">
                <a:solidFill>
                  <a:srgbClr val="000000"/>
                </a:solidFill>
                <a:effectLst/>
                <a:latin typeface="verdana" panose="020B0604030504040204" pitchFamily="34" charset="0"/>
              </a:rPr>
              <a:t>Connection con=</a:t>
            </a:r>
            <a:r>
              <a:rPr lang="en-IN" b="0" i="0" dirty="0" err="1">
                <a:solidFill>
                  <a:srgbClr val="000000"/>
                </a:solidFill>
                <a:effectLst/>
                <a:latin typeface="verdana" panose="020B0604030504040204" pitchFamily="34" charset="0"/>
              </a:rPr>
              <a:t>DriverManager.getConnection</a:t>
            </a:r>
            <a:r>
              <a:rPr lang="en-IN" b="0" i="0" dirty="0">
                <a:solidFill>
                  <a:srgbClr val="000000"/>
                </a:solidFill>
                <a:effectLst/>
                <a:latin typeface="verdana" panose="020B0604030504040204" pitchFamily="34" charset="0"/>
              </a:rPr>
              <a:t>(  </a:t>
            </a:r>
          </a:p>
          <a:p>
            <a:pPr algn="l">
              <a:buFont typeface="+mj-lt"/>
              <a:buAutoNum type="arabicPeriod"/>
            </a:pPr>
            <a:r>
              <a:rPr lang="en-IN" b="0" i="0" dirty="0">
                <a:solidFill>
                  <a:srgbClr val="0000FF"/>
                </a:solidFill>
                <a:effectLst/>
                <a:latin typeface="verdana" panose="020B0604030504040204" pitchFamily="34" charset="0"/>
              </a:rPr>
              <a:t>"</a:t>
            </a:r>
            <a:r>
              <a:rPr lang="en-IN" b="0" i="0" dirty="0" err="1">
                <a:solidFill>
                  <a:srgbClr val="0000FF"/>
                </a:solidFill>
                <a:effectLst/>
                <a:latin typeface="verdana" panose="020B0604030504040204" pitchFamily="34" charset="0"/>
              </a:rPr>
              <a:t>jdbc:mysql</a:t>
            </a:r>
            <a:r>
              <a:rPr lang="en-IN" b="0" i="0" dirty="0">
                <a:solidFill>
                  <a:srgbClr val="0000FF"/>
                </a:solidFill>
                <a:effectLst/>
                <a:latin typeface="verdana" panose="020B0604030504040204" pitchFamily="34" charset="0"/>
              </a:rPr>
              <a:t>://localhost:3306/</a:t>
            </a:r>
            <a:r>
              <a:rPr lang="en-IN" b="0" i="0" dirty="0" err="1">
                <a:solidFill>
                  <a:srgbClr val="0000FF"/>
                </a:solidFill>
                <a:effectLst/>
                <a:latin typeface="verdana" panose="020B0604030504040204" pitchFamily="34" charset="0"/>
              </a:rPr>
              <a:t>sonoo</a:t>
            </a:r>
            <a:r>
              <a:rPr lang="en-IN" b="0" i="0" dirty="0">
                <a:solidFill>
                  <a:srgbClr val="0000FF"/>
                </a:solidFill>
                <a:effectLst/>
                <a:latin typeface="verdana" panose="020B0604030504040204" pitchFamily="34" charset="0"/>
              </a:rPr>
              <a:t>"</a:t>
            </a:r>
            <a:r>
              <a:rPr lang="en-IN" b="0" i="0" dirty="0">
                <a:solidFill>
                  <a:srgbClr val="000000"/>
                </a:solidFill>
                <a:effectLst/>
                <a:latin typeface="verdana" panose="020B0604030504040204" pitchFamily="34" charset="0"/>
              </a:rPr>
              <a:t>,</a:t>
            </a:r>
            <a:r>
              <a:rPr lang="en-IN" b="0" i="0" dirty="0">
                <a:solidFill>
                  <a:srgbClr val="0000FF"/>
                </a:solidFill>
                <a:effectLst/>
                <a:latin typeface="verdana" panose="020B0604030504040204" pitchFamily="34" charset="0"/>
              </a:rPr>
              <a:t>"</a:t>
            </a:r>
            <a:r>
              <a:rPr lang="en-IN" b="0" i="0" dirty="0" err="1">
                <a:solidFill>
                  <a:srgbClr val="0000FF"/>
                </a:solidFill>
                <a:effectLst/>
                <a:latin typeface="verdana" panose="020B0604030504040204" pitchFamily="34" charset="0"/>
              </a:rPr>
              <a:t>root"</a:t>
            </a:r>
            <a:r>
              <a:rPr lang="en-IN" b="0" i="0" dirty="0" err="1">
                <a:solidFill>
                  <a:srgbClr val="000000"/>
                </a:solidFill>
                <a:effectLst/>
                <a:latin typeface="verdana" panose="020B0604030504040204" pitchFamily="34" charset="0"/>
              </a:rPr>
              <a:t>,</a:t>
            </a:r>
            <a:r>
              <a:rPr lang="en-IN" b="0" i="0" dirty="0" err="1">
                <a:solidFill>
                  <a:srgbClr val="0000FF"/>
                </a:solidFill>
                <a:effectLst/>
                <a:latin typeface="verdana" panose="020B0604030504040204" pitchFamily="34" charset="0"/>
              </a:rPr>
              <a:t>"root</a:t>
            </a:r>
            <a:r>
              <a:rPr lang="en-IN" b="0" i="0" dirty="0">
                <a:solidFill>
                  <a:srgbClr val="0000FF"/>
                </a:solidFill>
                <a:effectLst/>
                <a:latin typeface="verdana" panose="020B0604030504040204" pitchFamily="34" charset="0"/>
              </a:rPr>
              <a:t>"</a:t>
            </a:r>
            <a:r>
              <a:rPr lang="en-IN" b="0" i="0" dirty="0">
                <a:solidFill>
                  <a:srgbClr val="000000"/>
                </a:solidFill>
                <a:effectLst/>
                <a:latin typeface="verdana" panose="020B0604030504040204" pitchFamily="34" charset="0"/>
              </a:rPr>
              <a:t>);  </a:t>
            </a:r>
          </a:p>
          <a:p>
            <a:pPr algn="l">
              <a:buFont typeface="+mj-lt"/>
              <a:buAutoNum type="arabicPeriod"/>
            </a:pPr>
            <a:r>
              <a:rPr lang="en-IN" b="0" i="0" dirty="0">
                <a:solidFill>
                  <a:srgbClr val="008200"/>
                </a:solidFill>
                <a:effectLst/>
                <a:latin typeface="verdana" panose="020B0604030504040204" pitchFamily="34" charset="0"/>
              </a:rPr>
              <a:t>//here </a:t>
            </a:r>
            <a:r>
              <a:rPr lang="en-IN" b="0" i="0" dirty="0" err="1">
                <a:solidFill>
                  <a:srgbClr val="008200"/>
                </a:solidFill>
                <a:effectLst/>
                <a:latin typeface="verdana" panose="020B0604030504040204" pitchFamily="34" charset="0"/>
              </a:rPr>
              <a:t>sonoo</a:t>
            </a:r>
            <a:r>
              <a:rPr lang="en-IN" b="0" i="0" dirty="0">
                <a:solidFill>
                  <a:srgbClr val="008200"/>
                </a:solidFill>
                <a:effectLst/>
                <a:latin typeface="verdana" panose="020B0604030504040204" pitchFamily="34" charset="0"/>
              </a:rPr>
              <a:t> is database name, root is username and password</a:t>
            </a:r>
            <a:r>
              <a:rPr lang="en-IN" b="0" i="0" dirty="0">
                <a:solidFill>
                  <a:srgbClr val="000000"/>
                </a:solidFill>
                <a:effectLst/>
                <a:latin typeface="verdana" panose="020B0604030504040204" pitchFamily="34" charset="0"/>
              </a:rPr>
              <a:t>  </a:t>
            </a:r>
          </a:p>
          <a:p>
            <a:pPr algn="l">
              <a:buFont typeface="+mj-lt"/>
              <a:buAutoNum type="arabicPeriod"/>
            </a:pPr>
            <a:r>
              <a:rPr lang="en-IN" b="0" i="0" dirty="0">
                <a:solidFill>
                  <a:srgbClr val="000000"/>
                </a:solidFill>
                <a:effectLst/>
                <a:latin typeface="verdana" panose="020B0604030504040204" pitchFamily="34" charset="0"/>
              </a:rPr>
              <a:t>Statement </a:t>
            </a:r>
            <a:r>
              <a:rPr lang="en-IN" b="0" i="0" dirty="0" err="1">
                <a:solidFill>
                  <a:srgbClr val="000000"/>
                </a:solidFill>
                <a:effectLst/>
                <a:latin typeface="verdana" panose="020B0604030504040204" pitchFamily="34" charset="0"/>
              </a:rPr>
              <a:t>stmt</a:t>
            </a:r>
            <a:r>
              <a:rPr lang="en-IN" b="0" i="0" dirty="0">
                <a:solidFill>
                  <a:srgbClr val="000000"/>
                </a:solidFill>
                <a:effectLst/>
                <a:latin typeface="verdana" panose="020B0604030504040204" pitchFamily="34" charset="0"/>
              </a:rPr>
              <a:t>=</a:t>
            </a:r>
            <a:r>
              <a:rPr lang="en-IN" b="0" i="0" dirty="0" err="1">
                <a:solidFill>
                  <a:srgbClr val="000000"/>
                </a:solidFill>
                <a:effectLst/>
                <a:latin typeface="verdana" panose="020B0604030504040204" pitchFamily="34" charset="0"/>
              </a:rPr>
              <a:t>con.createStatement</a:t>
            </a:r>
            <a:r>
              <a:rPr lang="en-IN" b="0" i="0" dirty="0">
                <a:solidFill>
                  <a:srgbClr val="000000"/>
                </a:solidFill>
                <a:effectLst/>
                <a:latin typeface="verdana" panose="020B0604030504040204" pitchFamily="34" charset="0"/>
              </a:rPr>
              <a:t>();  </a:t>
            </a:r>
          </a:p>
          <a:p>
            <a:pPr algn="l">
              <a:buFont typeface="+mj-lt"/>
              <a:buAutoNum type="arabicPeriod"/>
            </a:pPr>
            <a:r>
              <a:rPr lang="en-IN" b="0" i="0" dirty="0" err="1">
                <a:solidFill>
                  <a:srgbClr val="000000"/>
                </a:solidFill>
                <a:effectLst/>
                <a:latin typeface="verdana" panose="020B0604030504040204" pitchFamily="34" charset="0"/>
              </a:rPr>
              <a:t>ResultSet</a:t>
            </a:r>
            <a:r>
              <a:rPr lang="en-IN" b="0" i="0" dirty="0">
                <a:solidFill>
                  <a:srgbClr val="000000"/>
                </a:solidFill>
                <a:effectLst/>
                <a:latin typeface="verdana" panose="020B0604030504040204" pitchFamily="34" charset="0"/>
              </a:rPr>
              <a:t> </a:t>
            </a:r>
            <a:r>
              <a:rPr lang="en-IN" b="0" i="0" dirty="0" err="1">
                <a:solidFill>
                  <a:srgbClr val="000000"/>
                </a:solidFill>
                <a:effectLst/>
                <a:latin typeface="verdana" panose="020B0604030504040204" pitchFamily="34" charset="0"/>
              </a:rPr>
              <a:t>rs</a:t>
            </a:r>
            <a:r>
              <a:rPr lang="en-IN" b="0" i="0" dirty="0">
                <a:solidFill>
                  <a:srgbClr val="000000"/>
                </a:solidFill>
                <a:effectLst/>
                <a:latin typeface="verdana" panose="020B0604030504040204" pitchFamily="34" charset="0"/>
              </a:rPr>
              <a:t>=</a:t>
            </a:r>
            <a:r>
              <a:rPr lang="en-IN" b="0" i="0" dirty="0" err="1">
                <a:solidFill>
                  <a:srgbClr val="000000"/>
                </a:solidFill>
                <a:effectLst/>
                <a:latin typeface="verdana" panose="020B0604030504040204" pitchFamily="34" charset="0"/>
              </a:rPr>
              <a:t>stmt.executeQuery</a:t>
            </a:r>
            <a:r>
              <a:rPr lang="en-IN" b="0" i="0" dirty="0">
                <a:solidFill>
                  <a:srgbClr val="000000"/>
                </a:solidFill>
                <a:effectLst/>
                <a:latin typeface="verdana" panose="020B0604030504040204" pitchFamily="34" charset="0"/>
              </a:rPr>
              <a:t>(</a:t>
            </a:r>
            <a:r>
              <a:rPr lang="en-IN" b="0" i="0" dirty="0">
                <a:solidFill>
                  <a:srgbClr val="0000FF"/>
                </a:solidFill>
                <a:effectLst/>
                <a:latin typeface="verdana" panose="020B0604030504040204" pitchFamily="34" charset="0"/>
              </a:rPr>
              <a:t>"select * from emp"</a:t>
            </a:r>
            <a:r>
              <a:rPr lang="en-IN" b="0" i="0" dirty="0">
                <a:solidFill>
                  <a:srgbClr val="000000"/>
                </a:solidFill>
                <a:effectLst/>
                <a:latin typeface="verdana" panose="020B0604030504040204" pitchFamily="34" charset="0"/>
              </a:rPr>
              <a:t>);  </a:t>
            </a:r>
          </a:p>
          <a:p>
            <a:pPr algn="l">
              <a:buFont typeface="+mj-lt"/>
              <a:buAutoNum type="arabicPeriod"/>
            </a:pPr>
            <a:r>
              <a:rPr lang="en-IN" b="1" i="0" dirty="0">
                <a:solidFill>
                  <a:srgbClr val="006699"/>
                </a:solidFill>
                <a:effectLst/>
                <a:latin typeface="verdana" panose="020B0604030504040204" pitchFamily="34" charset="0"/>
              </a:rPr>
              <a:t>while</a:t>
            </a:r>
            <a:r>
              <a:rPr lang="en-IN" b="0" i="0" dirty="0">
                <a:solidFill>
                  <a:srgbClr val="000000"/>
                </a:solidFill>
                <a:effectLst/>
                <a:latin typeface="verdana" panose="020B0604030504040204" pitchFamily="34" charset="0"/>
              </a:rPr>
              <a:t>(</a:t>
            </a:r>
            <a:r>
              <a:rPr lang="en-IN" b="0" i="0" dirty="0" err="1">
                <a:solidFill>
                  <a:srgbClr val="000000"/>
                </a:solidFill>
                <a:effectLst/>
                <a:latin typeface="verdana" panose="020B0604030504040204" pitchFamily="34" charset="0"/>
              </a:rPr>
              <a:t>rs.next</a:t>
            </a:r>
            <a:r>
              <a:rPr lang="en-IN" b="0" i="0" dirty="0">
                <a:solidFill>
                  <a:srgbClr val="000000"/>
                </a:solidFill>
                <a:effectLst/>
                <a:latin typeface="verdana" panose="020B0604030504040204" pitchFamily="34" charset="0"/>
              </a:rPr>
              <a:t>())  </a:t>
            </a:r>
          </a:p>
          <a:p>
            <a:pPr algn="l">
              <a:buFont typeface="+mj-lt"/>
              <a:buAutoNum type="arabicPeriod"/>
            </a:pPr>
            <a:r>
              <a:rPr lang="en-IN" b="0" i="0" dirty="0" err="1">
                <a:solidFill>
                  <a:srgbClr val="000000"/>
                </a:solidFill>
                <a:effectLst/>
                <a:latin typeface="verdana" panose="020B0604030504040204" pitchFamily="34" charset="0"/>
              </a:rPr>
              <a:t>System.out.println</a:t>
            </a:r>
            <a:r>
              <a:rPr lang="en-IN" b="0" i="0" dirty="0">
                <a:solidFill>
                  <a:srgbClr val="000000"/>
                </a:solidFill>
                <a:effectLst/>
                <a:latin typeface="verdana" panose="020B0604030504040204" pitchFamily="34" charset="0"/>
              </a:rPr>
              <a:t>(</a:t>
            </a:r>
            <a:r>
              <a:rPr lang="en-IN" b="0" i="0" dirty="0" err="1">
                <a:solidFill>
                  <a:srgbClr val="000000"/>
                </a:solidFill>
                <a:effectLst/>
                <a:latin typeface="verdana" panose="020B0604030504040204" pitchFamily="34" charset="0"/>
              </a:rPr>
              <a:t>rs.getInt</a:t>
            </a:r>
            <a:r>
              <a:rPr lang="en-IN" b="0" i="0" dirty="0">
                <a:solidFill>
                  <a:srgbClr val="000000"/>
                </a:solidFill>
                <a:effectLst/>
                <a:latin typeface="verdana" panose="020B0604030504040204" pitchFamily="34" charset="0"/>
              </a:rPr>
              <a:t>(</a:t>
            </a:r>
            <a:r>
              <a:rPr lang="en-IN" b="0" i="0" dirty="0">
                <a:solidFill>
                  <a:srgbClr val="C00000"/>
                </a:solidFill>
                <a:effectLst/>
                <a:latin typeface="verdana" panose="020B0604030504040204" pitchFamily="34" charset="0"/>
              </a:rPr>
              <a:t>1</a:t>
            </a:r>
            <a:r>
              <a:rPr lang="en-IN" b="0" i="0" dirty="0">
                <a:solidFill>
                  <a:srgbClr val="000000"/>
                </a:solidFill>
                <a:effectLst/>
                <a:latin typeface="verdana" panose="020B0604030504040204" pitchFamily="34" charset="0"/>
              </a:rPr>
              <a:t>)+</a:t>
            </a:r>
            <a:r>
              <a:rPr lang="en-IN" b="0" i="0" dirty="0">
                <a:solidFill>
                  <a:srgbClr val="0000FF"/>
                </a:solidFill>
                <a:effectLst/>
                <a:latin typeface="verdana" panose="020B0604030504040204" pitchFamily="34" charset="0"/>
              </a:rPr>
              <a:t>"  "</a:t>
            </a:r>
            <a:r>
              <a:rPr lang="en-IN" b="0" i="0" dirty="0">
                <a:solidFill>
                  <a:srgbClr val="000000"/>
                </a:solidFill>
                <a:effectLst/>
                <a:latin typeface="verdana" panose="020B0604030504040204" pitchFamily="34" charset="0"/>
              </a:rPr>
              <a:t>+</a:t>
            </a:r>
            <a:r>
              <a:rPr lang="en-IN" b="0" i="0" dirty="0" err="1">
                <a:solidFill>
                  <a:srgbClr val="000000"/>
                </a:solidFill>
                <a:effectLst/>
                <a:latin typeface="verdana" panose="020B0604030504040204" pitchFamily="34" charset="0"/>
              </a:rPr>
              <a:t>rs.getString</a:t>
            </a:r>
            <a:r>
              <a:rPr lang="en-IN" b="0" i="0" dirty="0">
                <a:solidFill>
                  <a:srgbClr val="000000"/>
                </a:solidFill>
                <a:effectLst/>
                <a:latin typeface="verdana" panose="020B0604030504040204" pitchFamily="34" charset="0"/>
              </a:rPr>
              <a:t>(</a:t>
            </a:r>
            <a:r>
              <a:rPr lang="en-IN" b="0" i="0" dirty="0">
                <a:solidFill>
                  <a:srgbClr val="C00000"/>
                </a:solidFill>
                <a:effectLst/>
                <a:latin typeface="verdana" panose="020B0604030504040204" pitchFamily="34" charset="0"/>
              </a:rPr>
              <a:t>2</a:t>
            </a:r>
            <a:r>
              <a:rPr lang="en-IN" b="0" i="0" dirty="0">
                <a:solidFill>
                  <a:srgbClr val="000000"/>
                </a:solidFill>
                <a:effectLst/>
                <a:latin typeface="verdana" panose="020B0604030504040204" pitchFamily="34" charset="0"/>
              </a:rPr>
              <a:t>)+</a:t>
            </a:r>
            <a:r>
              <a:rPr lang="en-IN" b="0" i="0" dirty="0">
                <a:solidFill>
                  <a:srgbClr val="0000FF"/>
                </a:solidFill>
                <a:effectLst/>
                <a:latin typeface="verdana" panose="020B0604030504040204" pitchFamily="34" charset="0"/>
              </a:rPr>
              <a:t>"  "</a:t>
            </a:r>
            <a:r>
              <a:rPr lang="en-IN" b="0" i="0" dirty="0">
                <a:solidFill>
                  <a:srgbClr val="000000"/>
                </a:solidFill>
                <a:effectLst/>
                <a:latin typeface="verdana" panose="020B0604030504040204" pitchFamily="34" charset="0"/>
              </a:rPr>
              <a:t>+</a:t>
            </a:r>
            <a:r>
              <a:rPr lang="en-IN" b="0" i="0" dirty="0" err="1">
                <a:solidFill>
                  <a:srgbClr val="000000"/>
                </a:solidFill>
                <a:effectLst/>
                <a:latin typeface="verdana" panose="020B0604030504040204" pitchFamily="34" charset="0"/>
              </a:rPr>
              <a:t>rs.getString</a:t>
            </a:r>
            <a:r>
              <a:rPr lang="en-IN" b="0" i="0" dirty="0">
                <a:solidFill>
                  <a:srgbClr val="000000"/>
                </a:solidFill>
                <a:effectLst/>
                <a:latin typeface="verdana" panose="020B0604030504040204" pitchFamily="34" charset="0"/>
              </a:rPr>
              <a:t>(</a:t>
            </a:r>
            <a:r>
              <a:rPr lang="en-IN" b="0" i="0" dirty="0">
                <a:solidFill>
                  <a:srgbClr val="C00000"/>
                </a:solidFill>
                <a:effectLst/>
                <a:latin typeface="verdana" panose="020B0604030504040204" pitchFamily="34" charset="0"/>
              </a:rPr>
              <a:t>3</a:t>
            </a:r>
            <a:r>
              <a:rPr lang="en-IN" b="0" i="0" dirty="0">
                <a:solidFill>
                  <a:srgbClr val="000000"/>
                </a:solidFill>
                <a:effectLst/>
                <a:latin typeface="verdana" panose="020B0604030504040204" pitchFamily="34" charset="0"/>
              </a:rPr>
              <a:t>));  </a:t>
            </a:r>
          </a:p>
          <a:p>
            <a:pPr algn="l">
              <a:buFont typeface="+mj-lt"/>
              <a:buAutoNum type="arabicPeriod"/>
            </a:pPr>
            <a:r>
              <a:rPr lang="en-IN" b="0" i="0" dirty="0" err="1">
                <a:solidFill>
                  <a:srgbClr val="000000"/>
                </a:solidFill>
                <a:effectLst/>
                <a:latin typeface="verdana" panose="020B0604030504040204" pitchFamily="34" charset="0"/>
              </a:rPr>
              <a:t>con.close</a:t>
            </a:r>
            <a:r>
              <a:rPr lang="en-IN" b="0" i="0" dirty="0">
                <a:solidFill>
                  <a:srgbClr val="000000"/>
                </a:solidFill>
                <a:effectLst/>
                <a:latin typeface="verdana" panose="020B0604030504040204" pitchFamily="34" charset="0"/>
              </a:rPr>
              <a:t>();  </a:t>
            </a:r>
          </a:p>
          <a:p>
            <a:pPr>
              <a:buFont typeface="+mj-lt"/>
              <a:buAutoNum type="arabicPeriod"/>
            </a:pPr>
            <a:endParaRPr lang="en-IN" dirty="0"/>
          </a:p>
        </p:txBody>
      </p:sp>
    </p:spTree>
    <p:extLst>
      <p:ext uri="{BB962C8B-B14F-4D97-AF65-F5344CB8AC3E}">
        <p14:creationId xmlns:p14="http://schemas.microsoft.com/office/powerpoint/2010/main" val="111580810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pPr algn="ctr"/>
            <a:r>
              <a:rPr lang="en-US" dirty="0"/>
              <a:t>BLOB and CLOB</a:t>
            </a:r>
            <a:endParaRPr lang="en-IN" dirty="0"/>
          </a:p>
        </p:txBody>
      </p:sp>
      <p:sp>
        <p:nvSpPr>
          <p:cNvPr id="3" name="Content Placeholder 2"/>
          <p:cNvSpPr>
            <a:spLocks noGrp="1"/>
          </p:cNvSpPr>
          <p:nvPr>
            <p:ph idx="1"/>
          </p:nvPr>
        </p:nvSpPr>
        <p:spPr>
          <a:xfrm>
            <a:off x="677334" y="1328057"/>
            <a:ext cx="8596668" cy="4713305"/>
          </a:xfrm>
        </p:spPr>
        <p:txBody>
          <a:bodyPr>
            <a:normAutofit/>
          </a:bodyPr>
          <a:lstStyle/>
          <a:p>
            <a:pPr marL="0" indent="0">
              <a:buNone/>
            </a:pPr>
            <a:r>
              <a:rPr lang="en-IN" sz="2000" dirty="0"/>
              <a:t>BLOB</a:t>
            </a:r>
          </a:p>
          <a:p>
            <a:pPr marL="0" indent="0">
              <a:buNone/>
            </a:pPr>
            <a:r>
              <a:rPr lang="en-IN" sz="2000" dirty="0"/>
              <a:t>	Binary Large Object. It stores the binary data up to 2GB of size. This helps to store the image file, voice data.</a:t>
            </a:r>
          </a:p>
          <a:p>
            <a:pPr marL="0" indent="0">
              <a:buNone/>
            </a:pPr>
            <a:endParaRPr lang="en-IN" sz="2000" dirty="0"/>
          </a:p>
          <a:p>
            <a:pPr marL="0" indent="0">
              <a:buNone/>
            </a:pPr>
            <a:r>
              <a:rPr lang="en-IN" sz="2000" dirty="0"/>
              <a:t>CLOB</a:t>
            </a:r>
          </a:p>
          <a:p>
            <a:pPr marL="0" indent="0">
              <a:buNone/>
            </a:pPr>
            <a:r>
              <a:rPr lang="en-IN" sz="2000" dirty="0"/>
              <a:t>	Character Large Object. It stores the character up to 2GB of size.  </a:t>
            </a:r>
          </a:p>
        </p:txBody>
      </p:sp>
    </p:spTree>
    <p:extLst>
      <p:ext uri="{BB962C8B-B14F-4D97-AF65-F5344CB8AC3E}">
        <p14:creationId xmlns:p14="http://schemas.microsoft.com/office/powerpoint/2010/main" val="96176473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pPr algn="ctr"/>
            <a:r>
              <a:rPr lang="en-US" dirty="0"/>
              <a:t>BLOB and CLOB</a:t>
            </a:r>
            <a:endParaRPr lang="en-IN" dirty="0"/>
          </a:p>
        </p:txBody>
      </p:sp>
      <p:graphicFrame>
        <p:nvGraphicFramePr>
          <p:cNvPr id="7" name="Table 7">
            <a:extLst>
              <a:ext uri="{FF2B5EF4-FFF2-40B4-BE49-F238E27FC236}">
                <a16:creationId xmlns:a16="http://schemas.microsoft.com/office/drawing/2014/main" id="{892AA39B-9D62-4BCE-9149-FA45159FD8CE}"/>
              </a:ext>
            </a:extLst>
          </p:cNvPr>
          <p:cNvGraphicFramePr>
            <a:graphicFrameLocks noGrp="1"/>
          </p:cNvGraphicFramePr>
          <p:nvPr>
            <p:ph idx="1"/>
            <p:extLst>
              <p:ext uri="{D42A27DB-BD31-4B8C-83A1-F6EECF244321}">
                <p14:modId xmlns:p14="http://schemas.microsoft.com/office/powerpoint/2010/main" val="2855468200"/>
              </p:ext>
            </p:extLst>
          </p:nvPr>
        </p:nvGraphicFramePr>
        <p:xfrm>
          <a:off x="677863" y="1848857"/>
          <a:ext cx="8596312" cy="3104143"/>
        </p:xfrm>
        <a:graphic>
          <a:graphicData uri="http://schemas.openxmlformats.org/drawingml/2006/table">
            <a:tbl>
              <a:tblPr firstRow="1" bandRow="1">
                <a:tableStyleId>{5C22544A-7EE6-4342-B048-85BDC9FD1C3A}</a:tableStyleId>
              </a:tblPr>
              <a:tblGrid>
                <a:gridCol w="4298156">
                  <a:extLst>
                    <a:ext uri="{9D8B030D-6E8A-4147-A177-3AD203B41FA5}">
                      <a16:colId xmlns:a16="http://schemas.microsoft.com/office/drawing/2014/main" val="3623794441"/>
                    </a:ext>
                  </a:extLst>
                </a:gridCol>
                <a:gridCol w="4298156">
                  <a:extLst>
                    <a:ext uri="{9D8B030D-6E8A-4147-A177-3AD203B41FA5}">
                      <a16:colId xmlns:a16="http://schemas.microsoft.com/office/drawing/2014/main" val="3574133164"/>
                    </a:ext>
                  </a:extLst>
                </a:gridCol>
              </a:tblGrid>
              <a:tr h="538743">
                <a:tc>
                  <a:txBody>
                    <a:bodyPr/>
                    <a:lstStyle/>
                    <a:p>
                      <a:r>
                        <a:rPr lang="en-IN" sz="2200" dirty="0"/>
                        <a:t>BLOB</a:t>
                      </a:r>
                    </a:p>
                  </a:txBody>
                  <a:tcPr/>
                </a:tc>
                <a:tc>
                  <a:txBody>
                    <a:bodyPr/>
                    <a:lstStyle/>
                    <a:p>
                      <a:r>
                        <a:rPr lang="en-IN" sz="2200" dirty="0"/>
                        <a:t>CLOB</a:t>
                      </a:r>
                    </a:p>
                  </a:txBody>
                  <a:tcPr/>
                </a:tc>
                <a:extLst>
                  <a:ext uri="{0D108BD9-81ED-4DB2-BD59-A6C34878D82A}">
                    <a16:rowId xmlns:a16="http://schemas.microsoft.com/office/drawing/2014/main" val="2038427774"/>
                  </a:ext>
                </a:extLst>
              </a:tr>
              <a:tr h="370840">
                <a:tc>
                  <a:txBody>
                    <a:bodyPr/>
                    <a:lstStyle/>
                    <a:p>
                      <a:r>
                        <a:rPr lang="en-US" sz="1800" b="0" i="0" kern="1200" dirty="0">
                          <a:solidFill>
                            <a:schemeClr val="dk1"/>
                          </a:solidFill>
                          <a:effectLst/>
                          <a:latin typeface="+mn-lt"/>
                          <a:ea typeface="+mn-ea"/>
                          <a:cs typeface="+mn-cs"/>
                        </a:rPr>
                        <a:t>The full form of Blob is Binary Large Object.</a:t>
                      </a:r>
                      <a:endParaRPr lang="en-IN" dirty="0"/>
                    </a:p>
                  </a:txBody>
                  <a:tcPr/>
                </a:tc>
                <a:tc>
                  <a:txBody>
                    <a:bodyPr/>
                    <a:lstStyle/>
                    <a:p>
                      <a:pPr fontAlgn="t"/>
                      <a:r>
                        <a:rPr lang="en-US" dirty="0">
                          <a:solidFill>
                            <a:srgbClr val="555555"/>
                          </a:solidFill>
                          <a:effectLst/>
                        </a:rPr>
                        <a:t>The full form of </a:t>
                      </a:r>
                      <a:r>
                        <a:rPr lang="en-US" dirty="0" err="1">
                          <a:solidFill>
                            <a:srgbClr val="555555"/>
                          </a:solidFill>
                          <a:effectLst/>
                        </a:rPr>
                        <a:t>Clob</a:t>
                      </a:r>
                      <a:r>
                        <a:rPr lang="en-US" dirty="0">
                          <a:solidFill>
                            <a:srgbClr val="555555"/>
                          </a:solidFill>
                          <a:effectLst/>
                        </a:rPr>
                        <a:t> is Character Large Object.</a:t>
                      </a:r>
                    </a:p>
                  </a:txBody>
                  <a:tcPr marL="44450" marR="44450" marT="25400" marB="25400"/>
                </a:tc>
                <a:extLst>
                  <a:ext uri="{0D108BD9-81ED-4DB2-BD59-A6C34878D82A}">
                    <a16:rowId xmlns:a16="http://schemas.microsoft.com/office/drawing/2014/main" val="180495296"/>
                  </a:ext>
                </a:extLst>
              </a:tr>
              <a:tr h="370840">
                <a:tc>
                  <a:txBody>
                    <a:bodyPr/>
                    <a:lstStyle/>
                    <a:p>
                      <a:r>
                        <a:rPr lang="en-US" sz="1800" b="0" i="0" kern="1200" dirty="0">
                          <a:solidFill>
                            <a:schemeClr val="dk1"/>
                          </a:solidFill>
                          <a:effectLst/>
                          <a:latin typeface="+mn-lt"/>
                          <a:ea typeface="+mn-ea"/>
                          <a:cs typeface="+mn-cs"/>
                        </a:rPr>
                        <a:t>This is used to store large binary data.</a:t>
                      </a:r>
                      <a:endParaRPr lang="en-IN" dirty="0"/>
                    </a:p>
                  </a:txBody>
                  <a:tcPr/>
                </a:tc>
                <a:tc>
                  <a:txBody>
                    <a:bodyPr/>
                    <a:lstStyle/>
                    <a:p>
                      <a:pPr fontAlgn="t"/>
                      <a:r>
                        <a:rPr lang="en-US" dirty="0">
                          <a:solidFill>
                            <a:srgbClr val="555555"/>
                          </a:solidFill>
                          <a:effectLst/>
                        </a:rPr>
                        <a:t>This is used to store large textual data.</a:t>
                      </a:r>
                    </a:p>
                  </a:txBody>
                  <a:tcPr marL="44450" marR="44450" marT="25400" marB="25400"/>
                </a:tc>
                <a:extLst>
                  <a:ext uri="{0D108BD9-81ED-4DB2-BD59-A6C34878D82A}">
                    <a16:rowId xmlns:a16="http://schemas.microsoft.com/office/drawing/2014/main" val="2418362605"/>
                  </a:ext>
                </a:extLst>
              </a:tr>
              <a:tr h="370840">
                <a:tc>
                  <a:txBody>
                    <a:bodyPr/>
                    <a:lstStyle/>
                    <a:p>
                      <a:r>
                        <a:rPr lang="en-US" sz="1800" b="0" i="0" kern="1200" dirty="0">
                          <a:solidFill>
                            <a:schemeClr val="dk1"/>
                          </a:solidFill>
                          <a:effectLst/>
                          <a:latin typeface="+mn-lt"/>
                          <a:ea typeface="+mn-ea"/>
                          <a:cs typeface="+mn-cs"/>
                        </a:rPr>
                        <a:t>This stores values in the form of binary streams.</a:t>
                      </a:r>
                      <a:endParaRPr lang="en-IN" dirty="0"/>
                    </a:p>
                  </a:txBody>
                  <a:tcPr/>
                </a:tc>
                <a:tc>
                  <a:txBody>
                    <a:bodyPr/>
                    <a:lstStyle/>
                    <a:p>
                      <a:pPr fontAlgn="t"/>
                      <a:r>
                        <a:rPr lang="en-US" dirty="0">
                          <a:solidFill>
                            <a:srgbClr val="555555"/>
                          </a:solidFill>
                          <a:effectLst/>
                        </a:rPr>
                        <a:t>This stores values in the form of character streams</a:t>
                      </a:r>
                    </a:p>
                  </a:txBody>
                  <a:tcPr marL="44450" marR="44450" marT="25400" marB="25400"/>
                </a:tc>
                <a:extLst>
                  <a:ext uri="{0D108BD9-81ED-4DB2-BD59-A6C34878D82A}">
                    <a16:rowId xmlns:a16="http://schemas.microsoft.com/office/drawing/2014/main" val="3851823890"/>
                  </a:ext>
                </a:extLst>
              </a:tr>
              <a:tr h="370840">
                <a:tc>
                  <a:txBody>
                    <a:bodyPr/>
                    <a:lstStyle/>
                    <a:p>
                      <a:pPr algn="l"/>
                      <a:r>
                        <a:rPr lang="en-US" sz="1800" b="0" i="0" kern="1200" dirty="0">
                          <a:solidFill>
                            <a:schemeClr val="dk1"/>
                          </a:solidFill>
                          <a:effectLst/>
                          <a:latin typeface="+mn-lt"/>
                          <a:ea typeface="+mn-ea"/>
                          <a:cs typeface="+mn-cs"/>
                        </a:rPr>
                        <a:t>Using this you can stores files like videos, images, gifs, and audio files.</a:t>
                      </a:r>
                      <a:endParaRPr lang="en-IN" dirty="0"/>
                    </a:p>
                  </a:txBody>
                  <a:tcPr/>
                </a:tc>
                <a:tc>
                  <a:txBody>
                    <a:bodyPr/>
                    <a:lstStyle/>
                    <a:p>
                      <a:r>
                        <a:rPr lang="en-US" sz="1800" b="0" i="0" kern="1200" dirty="0">
                          <a:solidFill>
                            <a:schemeClr val="dk1"/>
                          </a:solidFill>
                          <a:effectLst/>
                          <a:latin typeface="+mn-lt"/>
                          <a:ea typeface="+mn-ea"/>
                          <a:cs typeface="+mn-cs"/>
                        </a:rPr>
                        <a:t>Using this you can store files like text files, PDF documents, word documents etc.</a:t>
                      </a:r>
                      <a:endParaRPr lang="en-IN" dirty="0"/>
                    </a:p>
                  </a:txBody>
                  <a:tcPr/>
                </a:tc>
                <a:extLst>
                  <a:ext uri="{0D108BD9-81ED-4DB2-BD59-A6C34878D82A}">
                    <a16:rowId xmlns:a16="http://schemas.microsoft.com/office/drawing/2014/main" val="513056161"/>
                  </a:ext>
                </a:extLst>
              </a:tr>
            </a:tbl>
          </a:graphicData>
        </a:graphic>
      </p:graphicFrame>
    </p:spTree>
    <p:extLst>
      <p:ext uri="{BB962C8B-B14F-4D97-AF65-F5344CB8AC3E}">
        <p14:creationId xmlns:p14="http://schemas.microsoft.com/office/powerpoint/2010/main" val="204456015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77798</TotalTime>
  <Words>4980</Words>
  <Application>Microsoft Office PowerPoint</Application>
  <PresentationFormat>Widescreen</PresentationFormat>
  <Paragraphs>789</Paragraphs>
  <Slides>85</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85</vt:i4>
      </vt:variant>
    </vt:vector>
  </HeadingPairs>
  <TitlesOfParts>
    <vt:vector size="99" baseType="lpstr">
      <vt:lpstr>Arial</vt:lpstr>
      <vt:lpstr>Arial Unicode MS</vt:lpstr>
      <vt:lpstr>Calibri</vt:lpstr>
      <vt:lpstr>Consolas</vt:lpstr>
      <vt:lpstr>Google Sans</vt:lpstr>
      <vt:lpstr>inter-bold</vt:lpstr>
      <vt:lpstr>inter-regular</vt:lpstr>
      <vt:lpstr>Nunito</vt:lpstr>
      <vt:lpstr>times new roman</vt:lpstr>
      <vt:lpstr>Trebuchet MS</vt:lpstr>
      <vt:lpstr>verdana</vt:lpstr>
      <vt:lpstr>Wingdings</vt:lpstr>
      <vt:lpstr>Wingdings 3</vt:lpstr>
      <vt:lpstr>Facet</vt:lpstr>
      <vt:lpstr>Java</vt:lpstr>
      <vt:lpstr>Introduction to Java</vt:lpstr>
      <vt:lpstr>Procedural vs Object Oriented Programming Language</vt:lpstr>
      <vt:lpstr>Contd…</vt:lpstr>
      <vt:lpstr>C++ vs Java</vt:lpstr>
      <vt:lpstr>C++ vs Java</vt:lpstr>
      <vt:lpstr>C++ vs Java</vt:lpstr>
      <vt:lpstr>JDK vs JRE vs JVM</vt:lpstr>
      <vt:lpstr>JVM Architecture</vt:lpstr>
      <vt:lpstr>Structure of Java Program</vt:lpstr>
      <vt:lpstr>Structure of Java Program</vt:lpstr>
      <vt:lpstr>PowerPoint Presentation</vt:lpstr>
      <vt:lpstr>PowerPoint Presentation</vt:lpstr>
      <vt:lpstr>Type Casting</vt:lpstr>
      <vt:lpstr>Java Naming Conventions</vt:lpstr>
      <vt:lpstr>Java Naming Conventions</vt:lpstr>
      <vt:lpstr>Java Naming Conventions</vt:lpstr>
      <vt:lpstr>Java Naming Conventions</vt:lpstr>
      <vt:lpstr>Java Naming Conventions</vt:lpstr>
      <vt:lpstr>Java Naming Conventions</vt:lpstr>
      <vt:lpstr>Java Naming Conventions</vt:lpstr>
      <vt:lpstr>Operators Precedence</vt:lpstr>
      <vt:lpstr>Operators</vt:lpstr>
      <vt:lpstr>PowerPoint Presentation</vt:lpstr>
      <vt:lpstr>PowerPoint Presentation</vt:lpstr>
      <vt:lpstr>PowerPoint Presentation</vt:lpstr>
      <vt:lpstr>PowerPoint Presentation</vt:lpstr>
      <vt:lpstr>Statements</vt:lpstr>
      <vt:lpstr>For each loop</vt:lpstr>
      <vt:lpstr>Java String</vt:lpstr>
      <vt:lpstr>String</vt:lpstr>
      <vt:lpstr>String vs StringBuffer vs StringBuilder</vt:lpstr>
      <vt:lpstr>Compare Two Strings</vt:lpstr>
      <vt:lpstr>Arrays</vt:lpstr>
      <vt:lpstr>OOPs – Object Oriented Programming</vt:lpstr>
      <vt:lpstr>OOPs – Object Oriented Programming</vt:lpstr>
      <vt:lpstr>Access Modifiers / Access Specifiers</vt:lpstr>
      <vt:lpstr>PowerPoint Presentation</vt:lpstr>
      <vt:lpstr>OOPs – Object Oriented Programming</vt:lpstr>
      <vt:lpstr>Abstract Class and Interface</vt:lpstr>
      <vt:lpstr>Abstract Class</vt:lpstr>
      <vt:lpstr>Interface</vt:lpstr>
      <vt:lpstr>Interface</vt:lpstr>
      <vt:lpstr>PowerPoint Presentation</vt:lpstr>
      <vt:lpstr>Abstract Class vs Interface</vt:lpstr>
      <vt:lpstr>Package</vt:lpstr>
      <vt:lpstr>Package</vt:lpstr>
      <vt:lpstr>Exception Handling</vt:lpstr>
      <vt:lpstr>Exception Handling</vt:lpstr>
      <vt:lpstr>Syntax for Handling Exception</vt:lpstr>
      <vt:lpstr>System vs User generated Exception Message</vt:lpstr>
      <vt:lpstr>Types of Exception</vt:lpstr>
      <vt:lpstr>Hierarchy of Exception Class</vt:lpstr>
      <vt:lpstr>PowerPoint Presentation</vt:lpstr>
      <vt:lpstr>Difference between Error and Exception</vt:lpstr>
      <vt:lpstr>Multithreading</vt:lpstr>
      <vt:lpstr>Thread Life Cycle</vt:lpstr>
      <vt:lpstr>Real Time Example</vt:lpstr>
      <vt:lpstr>Another Example</vt:lpstr>
      <vt:lpstr>Collections</vt:lpstr>
      <vt:lpstr>Wrapper Class</vt:lpstr>
      <vt:lpstr>Collection Framework</vt:lpstr>
      <vt:lpstr>Generics</vt:lpstr>
      <vt:lpstr>Generics</vt:lpstr>
      <vt:lpstr>Object Class Hierarchy</vt:lpstr>
      <vt:lpstr>PowerPoint Presentation</vt:lpstr>
      <vt:lpstr>PowerPoint Presentation</vt:lpstr>
      <vt:lpstr>PowerPoint Presentation</vt:lpstr>
      <vt:lpstr>PowerPoint Presentation</vt:lpstr>
      <vt:lpstr>List vs Set vs Map</vt:lpstr>
      <vt:lpstr>PowerPoint Presentation</vt:lpstr>
      <vt:lpstr>PowerPoint Presentation</vt:lpstr>
      <vt:lpstr>PowerPoint Presentation</vt:lpstr>
      <vt:lpstr>Deque</vt:lpstr>
      <vt:lpstr>Autoboxing and Auto Unboxing</vt:lpstr>
      <vt:lpstr>Collections</vt:lpstr>
      <vt:lpstr>List vs Set vs Map</vt:lpstr>
      <vt:lpstr>Linked List</vt:lpstr>
      <vt:lpstr>PowerPoint Presentation</vt:lpstr>
      <vt:lpstr>Read and Write Text File</vt:lpstr>
      <vt:lpstr>Read and Write Excel File</vt:lpstr>
      <vt:lpstr>JDBC</vt:lpstr>
      <vt:lpstr>JDBC</vt:lpstr>
      <vt:lpstr>BLOB and CLOB</vt:lpstr>
      <vt:lpstr>BLOB and CLOB</vt:lpstr>
    </vt:vector>
  </TitlesOfParts>
  <Company>Arkansas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dc:title>
  <dc:creator>HP</dc:creator>
  <cp:lastModifiedBy>Senthil Natarajan</cp:lastModifiedBy>
  <cp:revision>213</cp:revision>
  <dcterms:created xsi:type="dcterms:W3CDTF">2020-01-06T23:58:39Z</dcterms:created>
  <dcterms:modified xsi:type="dcterms:W3CDTF">2025-10-28T09:22:09Z</dcterms:modified>
</cp:coreProperties>
</file>