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60" r:id="rId1"/>
  </p:sldMasterIdLst>
  <p:sldIdLst>
    <p:sldId id="287" r:id="rId2"/>
    <p:sldId id="277" r:id="rId3"/>
    <p:sldId id="279" r:id="rId4"/>
    <p:sldId id="280" r:id="rId5"/>
    <p:sldId id="271" r:id="rId6"/>
    <p:sldId id="281" r:id="rId7"/>
    <p:sldId id="258" r:id="rId8"/>
    <p:sldId id="259" r:id="rId9"/>
    <p:sldId id="260" r:id="rId10"/>
    <p:sldId id="261" r:id="rId11"/>
    <p:sldId id="262" r:id="rId12"/>
    <p:sldId id="267" r:id="rId13"/>
    <p:sldId id="263" r:id="rId14"/>
    <p:sldId id="264" r:id="rId15"/>
    <p:sldId id="265" r:id="rId16"/>
    <p:sldId id="257" r:id="rId17"/>
    <p:sldId id="284" r:id="rId18"/>
    <p:sldId id="285" r:id="rId19"/>
    <p:sldId id="269" r:id="rId20"/>
    <p:sldId id="268" r:id="rId21"/>
    <p:sldId id="288" r:id="rId22"/>
    <p:sldId id="286" r:id="rId23"/>
    <p:sldId id="283"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71" d="100"/>
          <a:sy n="71" d="100"/>
        </p:scale>
        <p:origin x="412"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04D387D-AC1A-4CFE-AB66-E5D33EDEF481}"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50354D-F4DB-407F-BA53-1C67AC97F808}" type="slidenum">
              <a:rPr lang="en-IN" smtClean="0"/>
              <a:t>‹#›</a:t>
            </a:fld>
            <a:endParaRPr lang="en-IN"/>
          </a:p>
        </p:txBody>
      </p:sp>
    </p:spTree>
    <p:extLst>
      <p:ext uri="{BB962C8B-B14F-4D97-AF65-F5344CB8AC3E}">
        <p14:creationId xmlns:p14="http://schemas.microsoft.com/office/powerpoint/2010/main" val="1718985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4D387D-AC1A-4CFE-AB66-E5D33EDEF481}"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50354D-F4DB-407F-BA53-1C67AC97F808}" type="slidenum">
              <a:rPr lang="en-IN" smtClean="0"/>
              <a:t>‹#›</a:t>
            </a:fld>
            <a:endParaRPr lang="en-IN"/>
          </a:p>
        </p:txBody>
      </p:sp>
    </p:spTree>
    <p:extLst>
      <p:ext uri="{BB962C8B-B14F-4D97-AF65-F5344CB8AC3E}">
        <p14:creationId xmlns:p14="http://schemas.microsoft.com/office/powerpoint/2010/main" val="524123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4D387D-AC1A-4CFE-AB66-E5D33EDEF481}"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50354D-F4DB-407F-BA53-1C67AC97F808}" type="slidenum">
              <a:rPr lang="en-IN" smtClean="0"/>
              <a:t>‹#›</a:t>
            </a:fld>
            <a:endParaRPr lang="en-IN"/>
          </a:p>
        </p:txBody>
      </p:sp>
    </p:spTree>
    <p:extLst>
      <p:ext uri="{BB962C8B-B14F-4D97-AF65-F5344CB8AC3E}">
        <p14:creationId xmlns:p14="http://schemas.microsoft.com/office/powerpoint/2010/main" val="4043441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04D387D-AC1A-4CFE-AB66-E5D33EDEF481}" type="datetimeFigureOut">
              <a:rPr lang="en-IN" smtClean="0"/>
              <a:t>05-12-2025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50354D-F4DB-407F-BA53-1C67AC97F808}" type="slidenum">
              <a:rPr lang="en-IN" smtClean="0"/>
              <a:t>‹#›</a:t>
            </a:fld>
            <a:endParaRPr lang="en-IN"/>
          </a:p>
        </p:txBody>
      </p:sp>
    </p:spTree>
    <p:extLst>
      <p:ext uri="{BB962C8B-B14F-4D97-AF65-F5344CB8AC3E}">
        <p14:creationId xmlns:p14="http://schemas.microsoft.com/office/powerpoint/2010/main" val="1258692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04D387D-AC1A-4CFE-AB66-E5D33EDEF481}" type="datetimeFigureOut">
              <a:rPr lang="en-IN" smtClean="0"/>
              <a:t>05-12-2025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450354D-F4DB-407F-BA53-1C67AC97F808}" type="slidenum">
              <a:rPr lang="en-IN" smtClean="0"/>
              <a:t>‹#›</a:t>
            </a:fld>
            <a:endParaRPr lang="en-IN"/>
          </a:p>
        </p:txBody>
      </p:sp>
    </p:spTree>
    <p:extLst>
      <p:ext uri="{BB962C8B-B14F-4D97-AF65-F5344CB8AC3E}">
        <p14:creationId xmlns:p14="http://schemas.microsoft.com/office/powerpoint/2010/main" val="4080832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04D387D-AC1A-4CFE-AB66-E5D33EDEF481}" type="datetimeFigureOut">
              <a:rPr lang="en-IN" smtClean="0"/>
              <a:t>05-12-2025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450354D-F4DB-407F-BA53-1C67AC97F808}" type="slidenum">
              <a:rPr lang="en-IN" smtClean="0"/>
              <a:t>‹#›</a:t>
            </a:fld>
            <a:endParaRPr lang="en-IN"/>
          </a:p>
        </p:txBody>
      </p:sp>
    </p:spTree>
    <p:extLst>
      <p:ext uri="{BB962C8B-B14F-4D97-AF65-F5344CB8AC3E}">
        <p14:creationId xmlns:p14="http://schemas.microsoft.com/office/powerpoint/2010/main" val="3347402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4D387D-AC1A-4CFE-AB66-E5D33EDEF481}" type="datetimeFigureOut">
              <a:rPr lang="en-IN" smtClean="0"/>
              <a:t>05-12-2025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450354D-F4DB-407F-BA53-1C67AC97F808}" type="slidenum">
              <a:rPr lang="en-IN" smtClean="0"/>
              <a:t>‹#›</a:t>
            </a:fld>
            <a:endParaRPr lang="en-IN"/>
          </a:p>
        </p:txBody>
      </p:sp>
    </p:spTree>
    <p:extLst>
      <p:ext uri="{BB962C8B-B14F-4D97-AF65-F5344CB8AC3E}">
        <p14:creationId xmlns:p14="http://schemas.microsoft.com/office/powerpoint/2010/main" val="3555622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04D387D-AC1A-4CFE-AB66-E5D33EDEF481}" type="datetimeFigureOut">
              <a:rPr lang="en-IN" smtClean="0"/>
              <a:t>05-12-2025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50354D-F4DB-407F-BA53-1C67AC97F808}" type="slidenum">
              <a:rPr lang="en-IN" smtClean="0"/>
              <a:t>‹#›</a:t>
            </a:fld>
            <a:endParaRPr lang="en-IN"/>
          </a:p>
        </p:txBody>
      </p:sp>
    </p:spTree>
    <p:extLst>
      <p:ext uri="{BB962C8B-B14F-4D97-AF65-F5344CB8AC3E}">
        <p14:creationId xmlns:p14="http://schemas.microsoft.com/office/powerpoint/2010/main" val="1317384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4D387D-AC1A-4CFE-AB66-E5D33EDEF481}" type="datetimeFigureOut">
              <a:rPr lang="en-IN" smtClean="0"/>
              <a:t>05-12-2025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50354D-F4DB-407F-BA53-1C67AC97F808}" type="slidenum">
              <a:rPr lang="en-IN" smtClean="0"/>
              <a:t>‹#›</a:t>
            </a:fld>
            <a:endParaRPr lang="en-IN"/>
          </a:p>
        </p:txBody>
      </p:sp>
    </p:spTree>
    <p:extLst>
      <p:ext uri="{BB962C8B-B14F-4D97-AF65-F5344CB8AC3E}">
        <p14:creationId xmlns:p14="http://schemas.microsoft.com/office/powerpoint/2010/main" val="21437718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4D387D-AC1A-4CFE-AB66-E5D33EDEF481}"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50354D-F4DB-407F-BA53-1C67AC97F808}" type="slidenum">
              <a:rPr lang="en-IN" smtClean="0"/>
              <a:t>‹#›</a:t>
            </a:fld>
            <a:endParaRPr lang="en-IN"/>
          </a:p>
        </p:txBody>
      </p:sp>
    </p:spTree>
    <p:extLst>
      <p:ext uri="{BB962C8B-B14F-4D97-AF65-F5344CB8AC3E}">
        <p14:creationId xmlns:p14="http://schemas.microsoft.com/office/powerpoint/2010/main" val="28696637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4D387D-AC1A-4CFE-AB66-E5D33EDEF481}"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50354D-F4DB-407F-BA53-1C67AC97F808}"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5032360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4D387D-AC1A-4CFE-AB66-E5D33EDEF481}"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50354D-F4DB-407F-BA53-1C67AC97F808}" type="slidenum">
              <a:rPr lang="en-IN" smtClean="0"/>
              <a:t>‹#›</a:t>
            </a:fld>
            <a:endParaRPr lang="en-IN"/>
          </a:p>
        </p:txBody>
      </p:sp>
    </p:spTree>
    <p:extLst>
      <p:ext uri="{BB962C8B-B14F-4D97-AF65-F5344CB8AC3E}">
        <p14:creationId xmlns:p14="http://schemas.microsoft.com/office/powerpoint/2010/main" val="20591847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4D387D-AC1A-4CFE-AB66-E5D33EDEF481}"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50354D-F4DB-407F-BA53-1C67AC97F808}"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959032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4D387D-AC1A-4CFE-AB66-E5D33EDEF481}"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50354D-F4DB-407F-BA53-1C67AC97F808}" type="slidenum">
              <a:rPr lang="en-IN" smtClean="0"/>
              <a:t>‹#›</a:t>
            </a:fld>
            <a:endParaRPr lang="en-IN"/>
          </a:p>
        </p:txBody>
      </p:sp>
    </p:spTree>
    <p:extLst>
      <p:ext uri="{BB962C8B-B14F-4D97-AF65-F5344CB8AC3E}">
        <p14:creationId xmlns:p14="http://schemas.microsoft.com/office/powerpoint/2010/main" val="5545758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4D387D-AC1A-4CFE-AB66-E5D33EDEF481}"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50354D-F4DB-407F-BA53-1C67AC97F808}" type="slidenum">
              <a:rPr lang="en-IN" smtClean="0"/>
              <a:t>‹#›</a:t>
            </a:fld>
            <a:endParaRPr lang="en-IN"/>
          </a:p>
        </p:txBody>
      </p:sp>
    </p:spTree>
    <p:extLst>
      <p:ext uri="{BB962C8B-B14F-4D97-AF65-F5344CB8AC3E}">
        <p14:creationId xmlns:p14="http://schemas.microsoft.com/office/powerpoint/2010/main" val="6143723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4D387D-AC1A-4CFE-AB66-E5D33EDEF481}"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50354D-F4DB-407F-BA53-1C67AC97F808}" type="slidenum">
              <a:rPr lang="en-IN" smtClean="0"/>
              <a:t>‹#›</a:t>
            </a:fld>
            <a:endParaRPr lang="en-IN"/>
          </a:p>
        </p:txBody>
      </p:sp>
    </p:spTree>
    <p:extLst>
      <p:ext uri="{BB962C8B-B14F-4D97-AF65-F5344CB8AC3E}">
        <p14:creationId xmlns:p14="http://schemas.microsoft.com/office/powerpoint/2010/main" val="2018580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04D387D-AC1A-4CFE-AB66-E5D33EDEF481}" type="datetimeFigureOut">
              <a:rPr lang="en-IN" smtClean="0"/>
              <a:t>05-12-2025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450354D-F4DB-407F-BA53-1C67AC97F808}" type="slidenum">
              <a:rPr lang="en-IN" smtClean="0"/>
              <a:t>‹#›</a:t>
            </a:fld>
            <a:endParaRPr lang="en-IN"/>
          </a:p>
        </p:txBody>
      </p:sp>
    </p:spTree>
    <p:extLst>
      <p:ext uri="{BB962C8B-B14F-4D97-AF65-F5344CB8AC3E}">
        <p14:creationId xmlns:p14="http://schemas.microsoft.com/office/powerpoint/2010/main" val="3053975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linkedin.com/company/rba-infotech/" TargetMode="External"/><Relationship Id="rId2" Type="http://schemas.openxmlformats.org/officeDocument/2006/relationships/hyperlink" Target="https://www.instagram.com/rba_infotech/" TargetMode="External"/><Relationship Id="rId1" Type="http://schemas.openxmlformats.org/officeDocument/2006/relationships/slideLayout" Target="../slideLayouts/slideLayout1.xml"/><Relationship Id="rId4" Type="http://schemas.openxmlformats.org/officeDocument/2006/relationships/hyperlink" Target="https://www.facebook.com/people/RBA-Infotech/100043552406579/"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www.guru99.com/images/JasonHuggins.jpg" TargetMode="External"/><Relationship Id="rId1" Type="http://schemas.openxmlformats.org/officeDocument/2006/relationships/slideLayout" Target="../slideLayouts/slideLayout2.xml"/><Relationship Id="rId5" Type="http://schemas.openxmlformats.org/officeDocument/2006/relationships/hyperlink" Target="https://www.guru99.com/interactive-javascript-tutorials.html" TargetMode="External"/><Relationship Id="rId4" Type="http://schemas.openxmlformats.org/officeDocument/2006/relationships/hyperlink" Target="https://www.guru99.com/manual-testing.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guru99.com/images/paul_hammant1(1).png"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s://www.guru99.com/images/patrick_lightbody(1).jpg"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s://www.guru99.com/images/Shinya_Kasatani(1).jpg"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www.guru99.com/images/simon_stewart_final(1).jpg"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https://www.guru99.com/images/3-way_handshake_2.jpg" TargetMode="External"/><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hyperlink" Target="https://www.guru99.com/images/2-way_handshake.jpg"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96907" y="1590262"/>
            <a:ext cx="7766936" cy="787176"/>
          </a:xfrm>
        </p:spPr>
        <p:txBody>
          <a:bodyPr/>
          <a:lstStyle/>
          <a:p>
            <a:pPr algn="ctr"/>
            <a:r>
              <a:rPr lang="en-US" dirty="0"/>
              <a:t>Selenium</a:t>
            </a:r>
            <a:endParaRPr lang="en-IN" dirty="0"/>
          </a:p>
        </p:txBody>
      </p:sp>
      <p:sp>
        <p:nvSpPr>
          <p:cNvPr id="4" name="Footer Placeholder 3">
            <a:extLst>
              <a:ext uri="{FF2B5EF4-FFF2-40B4-BE49-F238E27FC236}">
                <a16:creationId xmlns:a16="http://schemas.microsoft.com/office/drawing/2014/main" id="{7F8BD43E-8A99-5F05-F164-113A080B8DBE}"/>
              </a:ext>
            </a:extLst>
          </p:cNvPr>
          <p:cNvSpPr txBox="1">
            <a:spLocks/>
          </p:cNvSpPr>
          <p:nvPr/>
        </p:nvSpPr>
        <p:spPr>
          <a:xfrm>
            <a:off x="466322" y="4511041"/>
            <a:ext cx="9848426" cy="1739852"/>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IN" sz="2800" b="1" u="sng" dirty="0">
                <a:solidFill>
                  <a:srgbClr val="FF0000"/>
                </a:solidFill>
                <a:latin typeface="Calibri" panose="020F0502020204030204" pitchFamily="34" charset="0"/>
                <a:ea typeface="Calibri" panose="020F0502020204030204" pitchFamily="34" charset="0"/>
                <a:cs typeface="Times New Roman" panose="02020603050405020304" pitchFamily="18" charset="0"/>
              </a:rPr>
              <a:t>Please Join in below link</a:t>
            </a:r>
            <a:endParaRPr lang="en-IN" sz="2800" dirty="0">
              <a:latin typeface="Calibri" panose="020F0502020204030204" pitchFamily="34" charset="0"/>
              <a:ea typeface="Calibri" panose="020F0502020204030204" pitchFamily="34" charset="0"/>
              <a:cs typeface="Times New Roman" panose="02020603050405020304" pitchFamily="18" charset="0"/>
            </a:endParaRPr>
          </a:p>
          <a:p>
            <a:r>
              <a:rPr lang="en-IN" sz="2000" b="1" dirty="0">
                <a:solidFill>
                  <a:srgbClr val="0000FF"/>
                </a:solidFill>
                <a:latin typeface="Calibri" panose="020F0502020204030204" pitchFamily="34" charset="0"/>
                <a:ea typeface="Calibri" panose="020F0502020204030204" pitchFamily="34" charset="0"/>
                <a:cs typeface="Times New Roman" panose="02020603050405020304" pitchFamily="18" charset="0"/>
              </a:rPr>
              <a:t>Instagram</a:t>
            </a:r>
            <a:r>
              <a:rPr lang="en-IN" sz="20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a:t>
            </a:r>
            <a:r>
              <a:rPr lang="en-IN" sz="2000" dirty="0">
                <a:solidFill>
                  <a:srgbClr val="C00000"/>
                </a:solidFill>
                <a:latin typeface="Calibri" panose="020F0502020204030204" pitchFamily="34" charset="0"/>
                <a:ea typeface="Calibri" panose="020F0502020204030204" pitchFamily="34" charset="0"/>
                <a:cs typeface="Times New Roman" panose="02020603050405020304" pitchFamily="18" charset="0"/>
              </a:rPr>
              <a:t> </a:t>
            </a:r>
            <a:r>
              <a:rPr lang="en-IN" sz="2000" u="sng" dirty="0">
                <a:solidFill>
                  <a:srgbClr val="0563C1"/>
                </a:solidFill>
                <a:latin typeface="Calibri" panose="020F0502020204030204" pitchFamily="34" charset="0"/>
                <a:ea typeface="Calibri" panose="020F0502020204030204" pitchFamily="34" charset="0"/>
                <a:cs typeface="Times New Roman" panose="02020603050405020304" pitchFamily="18" charset="0"/>
                <a:hlinkClick r:id="rId2"/>
              </a:rPr>
              <a:t>https://www.instagram.com/rba_infotech/</a:t>
            </a:r>
            <a:br>
              <a:rPr lang="en-IN" sz="2000" dirty="0"/>
            </a:br>
            <a:r>
              <a:rPr lang="en-IN" sz="2000" b="1" dirty="0">
                <a:solidFill>
                  <a:srgbClr val="0000FF"/>
                </a:solidFill>
                <a:latin typeface="Calibri" panose="020F0502020204030204" pitchFamily="34" charset="0"/>
                <a:ea typeface="Calibri" panose="020F0502020204030204" pitchFamily="34" charset="0"/>
                <a:cs typeface="Times New Roman" panose="02020603050405020304" pitchFamily="18" charset="0"/>
              </a:rPr>
              <a:t>LinkedIn</a:t>
            </a:r>
            <a:r>
              <a:rPr lang="en-IN" sz="20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a:t>
            </a:r>
            <a:r>
              <a:rPr lang="en-IN" sz="2000" dirty="0">
                <a:solidFill>
                  <a:srgbClr val="C00000"/>
                </a:solidFill>
                <a:latin typeface="Calibri" panose="020F0502020204030204" pitchFamily="34" charset="0"/>
                <a:ea typeface="Calibri" panose="020F0502020204030204" pitchFamily="34" charset="0"/>
                <a:cs typeface="Times New Roman" panose="02020603050405020304" pitchFamily="18" charset="0"/>
              </a:rPr>
              <a:t> </a:t>
            </a:r>
            <a:r>
              <a:rPr lang="en-IN" sz="2000" u="sng" dirty="0">
                <a:solidFill>
                  <a:srgbClr val="0563C1"/>
                </a:solidFill>
                <a:latin typeface="Calibri" panose="020F0502020204030204" pitchFamily="34" charset="0"/>
                <a:ea typeface="Calibri" panose="020F0502020204030204" pitchFamily="34" charset="0"/>
                <a:cs typeface="Times New Roman" panose="02020603050405020304" pitchFamily="18" charset="0"/>
                <a:hlinkClick r:id="rId3"/>
              </a:rPr>
              <a:t>https://www.linkedin.com/company/rba-infotech/</a:t>
            </a:r>
            <a:r>
              <a:rPr lang="en-IN" sz="2000" dirty="0">
                <a:solidFill>
                  <a:srgbClr val="C00000"/>
                </a:solidFill>
                <a:latin typeface="Calibri" panose="020F0502020204030204" pitchFamily="34" charset="0"/>
                <a:ea typeface="Calibri" panose="020F0502020204030204" pitchFamily="34" charset="0"/>
                <a:cs typeface="Times New Roman" panose="02020603050405020304" pitchFamily="18" charset="0"/>
              </a:rPr>
              <a:t>	</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a:tabLst>
                <a:tab pos="2865755" algn="ctr"/>
                <a:tab pos="5731510" algn="r"/>
              </a:tabLst>
            </a:pPr>
            <a:r>
              <a:rPr lang="en-IN" sz="2000" b="1" dirty="0">
                <a:solidFill>
                  <a:srgbClr val="0000FF"/>
                </a:solidFill>
                <a:latin typeface="Calibri" panose="020F0502020204030204" pitchFamily="34" charset="0"/>
                <a:ea typeface="Calibri" panose="020F0502020204030204" pitchFamily="34" charset="0"/>
                <a:cs typeface="Times New Roman" panose="02020603050405020304" pitchFamily="18" charset="0"/>
              </a:rPr>
              <a:t>Facebook</a:t>
            </a:r>
            <a:r>
              <a:rPr lang="en-IN" sz="20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 </a:t>
            </a:r>
            <a:r>
              <a:rPr lang="en-IN" sz="2000" u="sng" dirty="0">
                <a:solidFill>
                  <a:srgbClr val="0563C1"/>
                </a:solidFill>
                <a:latin typeface="Calibri" panose="020F0502020204030204" pitchFamily="34" charset="0"/>
                <a:ea typeface="Calibri" panose="020F0502020204030204" pitchFamily="34" charset="0"/>
                <a:cs typeface="Times New Roman" panose="02020603050405020304" pitchFamily="18" charset="0"/>
                <a:hlinkClick r:id="rId4"/>
              </a:rPr>
              <a:t>https://www.facebook.com/people/RBA-Infotech/100043552406579/</a:t>
            </a:r>
            <a:endParaRPr lang="en-IN" sz="2000"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32855DC0-58CD-7A07-9F17-11FCA3C90D7D}"/>
              </a:ext>
            </a:extLst>
          </p:cNvPr>
          <p:cNvSpPr txBox="1"/>
          <p:nvPr/>
        </p:nvSpPr>
        <p:spPr>
          <a:xfrm>
            <a:off x="7000240" y="2733040"/>
            <a:ext cx="3037840" cy="430887"/>
          </a:xfrm>
          <a:prstGeom prst="rect">
            <a:avLst/>
          </a:prstGeom>
          <a:noFill/>
        </p:spPr>
        <p:txBody>
          <a:bodyPr wrap="square" rtlCol="0">
            <a:spAutoFit/>
          </a:bodyPr>
          <a:lstStyle/>
          <a:p>
            <a:r>
              <a:rPr lang="en-IN" sz="2200" b="1" dirty="0">
                <a:solidFill>
                  <a:schemeClr val="accent4">
                    <a:lumMod val="75000"/>
                  </a:schemeClr>
                </a:solidFill>
              </a:rPr>
              <a:t>Senthil Natarajan</a:t>
            </a:r>
          </a:p>
        </p:txBody>
      </p:sp>
    </p:spTree>
    <p:extLst>
      <p:ext uri="{BB962C8B-B14F-4D97-AF65-F5344CB8AC3E}">
        <p14:creationId xmlns:p14="http://schemas.microsoft.com/office/powerpoint/2010/main" val="4000690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2DC8D-6651-46D6-9826-C032A74B639B}"/>
              </a:ext>
            </a:extLst>
          </p:cNvPr>
          <p:cNvSpPr>
            <a:spLocks noGrp="1"/>
          </p:cNvSpPr>
          <p:nvPr>
            <p:ph type="title"/>
          </p:nvPr>
        </p:nvSpPr>
        <p:spPr>
          <a:xfrm>
            <a:off x="677334" y="609600"/>
            <a:ext cx="8596668" cy="712304"/>
          </a:xfrm>
        </p:spPr>
        <p:txBody>
          <a:bodyPr/>
          <a:lstStyle/>
          <a:p>
            <a:r>
              <a:rPr lang="en-IN" dirty="0"/>
              <a:t>What is Automation Testing?</a:t>
            </a:r>
          </a:p>
        </p:txBody>
      </p:sp>
      <p:sp>
        <p:nvSpPr>
          <p:cNvPr id="3" name="Content Placeholder 2">
            <a:extLst>
              <a:ext uri="{FF2B5EF4-FFF2-40B4-BE49-F238E27FC236}">
                <a16:creationId xmlns:a16="http://schemas.microsoft.com/office/drawing/2014/main" id="{E61276B8-D01D-45E7-9F75-97F356B9E7DF}"/>
              </a:ext>
            </a:extLst>
          </p:cNvPr>
          <p:cNvSpPr>
            <a:spLocks noGrp="1"/>
          </p:cNvSpPr>
          <p:nvPr>
            <p:ph idx="1"/>
          </p:nvPr>
        </p:nvSpPr>
        <p:spPr>
          <a:xfrm>
            <a:off x="677334" y="1391479"/>
            <a:ext cx="8596668" cy="5178286"/>
          </a:xfrm>
        </p:spPr>
        <p:txBody>
          <a:bodyPr>
            <a:normAutofit fontScale="92500"/>
          </a:bodyPr>
          <a:lstStyle/>
          <a:p>
            <a:pPr marL="0" indent="0">
              <a:buNone/>
            </a:pPr>
            <a:r>
              <a:rPr lang="en-US" b="1" i="0" dirty="0">
                <a:solidFill>
                  <a:srgbClr val="202124"/>
                </a:solidFill>
                <a:effectLst/>
                <a:latin typeface="arial" panose="020B0604020202020204" pitchFamily="34" charset="0"/>
              </a:rPr>
              <a:t>Automated testing</a:t>
            </a:r>
            <a:endParaRPr lang="en-US" b="0" i="0" dirty="0">
              <a:solidFill>
                <a:srgbClr val="202124"/>
              </a:solidFill>
              <a:effectLst/>
              <a:latin typeface="arial" panose="020B0604020202020204" pitchFamily="34" charset="0"/>
            </a:endParaRPr>
          </a:p>
          <a:p>
            <a:pPr marL="0" indent="0">
              <a:buNone/>
            </a:pPr>
            <a:r>
              <a:rPr lang="en-US" dirty="0">
                <a:solidFill>
                  <a:srgbClr val="202124"/>
                </a:solidFill>
                <a:latin typeface="arial" panose="020B0604020202020204" pitchFamily="34" charset="0"/>
              </a:rPr>
              <a:t>The </a:t>
            </a:r>
            <a:r>
              <a:rPr lang="en-US" i="0" dirty="0">
                <a:solidFill>
                  <a:srgbClr val="202124"/>
                </a:solidFill>
                <a:effectLst/>
                <a:latin typeface="arial" panose="020B0604020202020204" pitchFamily="34" charset="0"/>
              </a:rPr>
              <a:t>process of validating if software is functioning appropriately and meeting requirements before it is released into production by </a:t>
            </a:r>
            <a:r>
              <a:rPr lang="en-US" b="1" i="0" u="sng" dirty="0">
                <a:solidFill>
                  <a:srgbClr val="202124"/>
                </a:solidFill>
                <a:effectLst/>
                <a:latin typeface="arial" panose="020B0604020202020204" pitchFamily="34" charset="0"/>
              </a:rPr>
              <a:t>Software Testing Automation Tools </a:t>
            </a:r>
            <a:r>
              <a:rPr lang="en-US" i="0" dirty="0">
                <a:solidFill>
                  <a:srgbClr val="202124"/>
                </a:solidFill>
                <a:effectLst/>
                <a:latin typeface="arial" panose="020B0604020202020204" pitchFamily="34" charset="0"/>
              </a:rPr>
              <a:t>is called Automation Testing. Few of the best automation tools are</a:t>
            </a:r>
          </a:p>
          <a:p>
            <a:pPr>
              <a:buAutoNum type="arabicPeriod"/>
            </a:pPr>
            <a:r>
              <a:rPr lang="en-US" dirty="0">
                <a:solidFill>
                  <a:srgbClr val="202124"/>
                </a:solidFill>
                <a:latin typeface="arial" panose="020B0604020202020204" pitchFamily="34" charset="0"/>
              </a:rPr>
              <a:t>Selenium</a:t>
            </a:r>
          </a:p>
          <a:p>
            <a:pPr>
              <a:buFont typeface="Wingdings 3" charset="2"/>
              <a:buAutoNum type="arabicPeriod"/>
            </a:pPr>
            <a:r>
              <a:rPr lang="en-US" dirty="0">
                <a:solidFill>
                  <a:srgbClr val="202124"/>
                </a:solidFill>
                <a:latin typeface="arial" panose="020B0604020202020204" pitchFamily="34" charset="0"/>
              </a:rPr>
              <a:t>UFT</a:t>
            </a:r>
            <a:r>
              <a:rPr lang="en-US" i="0" dirty="0">
                <a:solidFill>
                  <a:srgbClr val="202124"/>
                </a:solidFill>
                <a:effectLst/>
                <a:latin typeface="arial" panose="020B0604020202020204" pitchFamily="34" charset="0"/>
              </a:rPr>
              <a:t> – Unified Functional Tester (Advanced version of QTP)</a:t>
            </a:r>
          </a:p>
          <a:p>
            <a:pPr>
              <a:buFont typeface="Wingdings 3" charset="2"/>
              <a:buAutoNum type="arabicPeriod"/>
            </a:pPr>
            <a:r>
              <a:rPr lang="en-US" dirty="0">
                <a:solidFill>
                  <a:srgbClr val="202124"/>
                </a:solidFill>
                <a:latin typeface="arial" panose="020B0604020202020204" pitchFamily="34" charset="0"/>
              </a:rPr>
              <a:t>RFT – Rational Functional Tester (IBM)</a:t>
            </a:r>
          </a:p>
          <a:p>
            <a:pPr>
              <a:buFont typeface="Wingdings 3" charset="2"/>
              <a:buAutoNum type="arabicPeriod"/>
            </a:pPr>
            <a:r>
              <a:rPr lang="en-US" dirty="0">
                <a:solidFill>
                  <a:srgbClr val="202124"/>
                </a:solidFill>
                <a:latin typeface="arial" panose="020B0604020202020204" pitchFamily="34" charset="0"/>
              </a:rPr>
              <a:t>Playwright - Microsoft</a:t>
            </a:r>
          </a:p>
          <a:p>
            <a:pPr>
              <a:buFont typeface="Wingdings 3" charset="2"/>
              <a:buAutoNum type="arabicPeriod"/>
            </a:pPr>
            <a:r>
              <a:rPr lang="en-US" dirty="0" err="1">
                <a:solidFill>
                  <a:srgbClr val="202124"/>
                </a:solidFill>
                <a:latin typeface="arial" panose="020B0604020202020204" pitchFamily="34" charset="0"/>
              </a:rPr>
              <a:t>Waitr</a:t>
            </a:r>
            <a:endParaRPr lang="en-US" dirty="0">
              <a:solidFill>
                <a:srgbClr val="202124"/>
              </a:solidFill>
              <a:latin typeface="arial" panose="020B0604020202020204" pitchFamily="34" charset="0"/>
            </a:endParaRPr>
          </a:p>
          <a:p>
            <a:pPr>
              <a:buFont typeface="Wingdings 3" charset="2"/>
              <a:buAutoNum type="arabicPeriod"/>
            </a:pPr>
            <a:r>
              <a:rPr lang="en-IN" dirty="0" err="1"/>
              <a:t>SilkTest</a:t>
            </a:r>
            <a:endParaRPr lang="en-IN" dirty="0"/>
          </a:p>
          <a:p>
            <a:pPr>
              <a:buAutoNum type="arabicPeriod"/>
            </a:pPr>
            <a:r>
              <a:rPr lang="en-US" i="0" dirty="0" err="1">
                <a:solidFill>
                  <a:srgbClr val="202124"/>
                </a:solidFill>
                <a:effectLst/>
                <a:latin typeface="arial" panose="020B0604020202020204" pitchFamily="34" charset="0"/>
              </a:rPr>
              <a:t>Ranorex</a:t>
            </a:r>
            <a:r>
              <a:rPr lang="en-US" i="0" dirty="0">
                <a:solidFill>
                  <a:srgbClr val="202124"/>
                </a:solidFill>
                <a:effectLst/>
                <a:latin typeface="arial" panose="020B0604020202020204" pitchFamily="34" charset="0"/>
              </a:rPr>
              <a:t> Studio</a:t>
            </a:r>
          </a:p>
          <a:p>
            <a:pPr>
              <a:buAutoNum type="arabicPeriod"/>
            </a:pPr>
            <a:r>
              <a:rPr lang="en-US" i="0" dirty="0" err="1">
                <a:solidFill>
                  <a:srgbClr val="202124"/>
                </a:solidFill>
                <a:effectLst/>
                <a:latin typeface="arial" panose="020B0604020202020204" pitchFamily="34" charset="0"/>
              </a:rPr>
              <a:t>Kobiton</a:t>
            </a:r>
            <a:endParaRPr lang="en-US" i="0" dirty="0">
              <a:solidFill>
                <a:srgbClr val="202124"/>
              </a:solidFill>
              <a:effectLst/>
              <a:latin typeface="arial" panose="020B0604020202020204" pitchFamily="34" charset="0"/>
            </a:endParaRPr>
          </a:p>
          <a:p>
            <a:pPr>
              <a:buAutoNum type="arabicPeriod"/>
            </a:pPr>
            <a:r>
              <a:rPr lang="en-US" i="0" dirty="0">
                <a:solidFill>
                  <a:srgbClr val="202124"/>
                </a:solidFill>
                <a:effectLst/>
                <a:latin typeface="arial" panose="020B0604020202020204" pitchFamily="34" charset="0"/>
              </a:rPr>
              <a:t>ZAPTEST</a:t>
            </a:r>
          </a:p>
          <a:p>
            <a:pPr>
              <a:buAutoNum type="arabicPeriod"/>
            </a:pPr>
            <a:r>
              <a:rPr lang="en-US" i="0" dirty="0">
                <a:solidFill>
                  <a:srgbClr val="202124"/>
                </a:solidFill>
                <a:effectLst/>
                <a:latin typeface="arial" panose="020B0604020202020204" pitchFamily="34" charset="0"/>
              </a:rPr>
              <a:t>Lambda Test</a:t>
            </a:r>
          </a:p>
        </p:txBody>
      </p:sp>
    </p:spTree>
    <p:extLst>
      <p:ext uri="{BB962C8B-B14F-4D97-AF65-F5344CB8AC3E}">
        <p14:creationId xmlns:p14="http://schemas.microsoft.com/office/powerpoint/2010/main" val="873251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2DC8D-6651-46D6-9826-C032A74B639B}"/>
              </a:ext>
            </a:extLst>
          </p:cNvPr>
          <p:cNvSpPr>
            <a:spLocks noGrp="1"/>
          </p:cNvSpPr>
          <p:nvPr>
            <p:ph type="title"/>
          </p:nvPr>
        </p:nvSpPr>
        <p:spPr>
          <a:xfrm>
            <a:off x="677334" y="609600"/>
            <a:ext cx="8596668" cy="712304"/>
          </a:xfrm>
        </p:spPr>
        <p:txBody>
          <a:bodyPr/>
          <a:lstStyle/>
          <a:p>
            <a:r>
              <a:rPr lang="en-IN" dirty="0"/>
              <a:t>Advantages of Automation Testing</a:t>
            </a:r>
          </a:p>
        </p:txBody>
      </p:sp>
      <p:sp>
        <p:nvSpPr>
          <p:cNvPr id="3" name="Content Placeholder 2">
            <a:extLst>
              <a:ext uri="{FF2B5EF4-FFF2-40B4-BE49-F238E27FC236}">
                <a16:creationId xmlns:a16="http://schemas.microsoft.com/office/drawing/2014/main" id="{E61276B8-D01D-45E7-9F75-97F356B9E7DF}"/>
              </a:ext>
            </a:extLst>
          </p:cNvPr>
          <p:cNvSpPr>
            <a:spLocks noGrp="1"/>
          </p:cNvSpPr>
          <p:nvPr>
            <p:ph idx="1"/>
          </p:nvPr>
        </p:nvSpPr>
        <p:spPr>
          <a:xfrm>
            <a:off x="677334" y="1391479"/>
            <a:ext cx="8596668" cy="4649884"/>
          </a:xfrm>
        </p:spPr>
        <p:txBody>
          <a:bodyPr>
            <a:normAutofit fontScale="92500" lnSpcReduction="20000"/>
          </a:bodyPr>
          <a:lstStyle/>
          <a:p>
            <a:pPr marL="0" indent="0" algn="l">
              <a:buNone/>
            </a:pPr>
            <a:r>
              <a:rPr lang="en-US" b="1" i="0" u="sng" dirty="0">
                <a:solidFill>
                  <a:srgbClr val="222222"/>
                </a:solidFill>
                <a:effectLst/>
                <a:latin typeface="Source Sans Pro" panose="020B0503030403020204" pitchFamily="34" charset="0"/>
              </a:rPr>
              <a:t>Following are the Advantages of Automation Testing:</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70% faster than the manual testing</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Wider test coverage of application features</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Reliable in results</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Ensure Consistency</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Saves Time and Cost</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Improves accuracy</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Human Intervention is not required while execution</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Increases Efficiency</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Better speed in executing tests</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Re-usable test scripts</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Test Frequently and thoroughly</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More cycle of execution can be achieved through automation</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Early time to market</a:t>
            </a:r>
          </a:p>
        </p:txBody>
      </p:sp>
    </p:spTree>
    <p:extLst>
      <p:ext uri="{BB962C8B-B14F-4D97-AF65-F5344CB8AC3E}">
        <p14:creationId xmlns:p14="http://schemas.microsoft.com/office/powerpoint/2010/main" val="497938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2DC8D-6651-46D6-9826-C032A74B639B}"/>
              </a:ext>
            </a:extLst>
          </p:cNvPr>
          <p:cNvSpPr>
            <a:spLocks noGrp="1"/>
          </p:cNvSpPr>
          <p:nvPr>
            <p:ph type="title"/>
          </p:nvPr>
        </p:nvSpPr>
        <p:spPr>
          <a:xfrm>
            <a:off x="677334" y="609599"/>
            <a:ext cx="8596668" cy="980661"/>
          </a:xfrm>
        </p:spPr>
        <p:txBody>
          <a:bodyPr>
            <a:normAutofit fontScale="90000"/>
          </a:bodyPr>
          <a:lstStyle/>
          <a:p>
            <a:r>
              <a:rPr lang="en-IN" dirty="0"/>
              <a:t>Criteria for Automation or When automation is suggested?</a:t>
            </a:r>
            <a:br>
              <a:rPr lang="en-IN" dirty="0"/>
            </a:br>
            <a:endParaRPr lang="en-IN" dirty="0"/>
          </a:p>
        </p:txBody>
      </p:sp>
      <p:sp>
        <p:nvSpPr>
          <p:cNvPr id="3" name="Content Placeholder 2">
            <a:extLst>
              <a:ext uri="{FF2B5EF4-FFF2-40B4-BE49-F238E27FC236}">
                <a16:creationId xmlns:a16="http://schemas.microsoft.com/office/drawing/2014/main" id="{E61276B8-D01D-45E7-9F75-97F356B9E7DF}"/>
              </a:ext>
            </a:extLst>
          </p:cNvPr>
          <p:cNvSpPr>
            <a:spLocks noGrp="1"/>
          </p:cNvSpPr>
          <p:nvPr>
            <p:ph idx="1"/>
          </p:nvPr>
        </p:nvSpPr>
        <p:spPr>
          <a:xfrm>
            <a:off x="677334" y="1729409"/>
            <a:ext cx="8596668" cy="4649884"/>
          </a:xfrm>
        </p:spPr>
        <p:txBody>
          <a:bodyPr/>
          <a:lstStyle/>
          <a:p>
            <a:pPr marL="0" indent="0" algn="l">
              <a:buNone/>
            </a:pPr>
            <a:r>
              <a:rPr lang="en-US" b="1" i="0" u="sng" dirty="0">
                <a:solidFill>
                  <a:srgbClr val="222222"/>
                </a:solidFill>
                <a:effectLst/>
                <a:latin typeface="Source Sans Pro" panose="020B0503030403020204" pitchFamily="34" charset="0"/>
              </a:rPr>
              <a:t>The following are the criteria to go for Automation:</a:t>
            </a:r>
          </a:p>
          <a:p>
            <a:pPr>
              <a:buFont typeface="Arial" panose="020B0604020202020204" pitchFamily="34" charset="0"/>
              <a:buChar char="•"/>
            </a:pPr>
            <a:r>
              <a:rPr lang="en-US" b="0" i="0" dirty="0">
                <a:solidFill>
                  <a:srgbClr val="222222"/>
                </a:solidFill>
                <a:effectLst/>
                <a:latin typeface="Source Sans Pro" panose="020B0503030403020204" pitchFamily="34" charset="0"/>
              </a:rPr>
              <a:t>High Risk – Business Critical test cases</a:t>
            </a:r>
          </a:p>
          <a:p>
            <a:pPr algn="l">
              <a:buFont typeface="Arial" panose="020B0604020202020204" pitchFamily="34" charset="0"/>
              <a:buChar char="•"/>
            </a:pPr>
            <a:r>
              <a:rPr lang="en-US" b="1" i="0" dirty="0">
                <a:solidFill>
                  <a:srgbClr val="222222"/>
                </a:solidFill>
                <a:effectLst/>
                <a:highlight>
                  <a:srgbClr val="FFFF00"/>
                </a:highlight>
                <a:latin typeface="Source Sans Pro" panose="020B0503030403020204" pitchFamily="34" charset="0"/>
              </a:rPr>
              <a:t>Test cases that are repeatedly executed</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Test Cases that are very tedious or difficult to perform manually</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Test Cases which are time-consuming</a:t>
            </a:r>
          </a:p>
          <a:p>
            <a:pPr algn="l">
              <a:buFont typeface="Arial" panose="020B0604020202020204" pitchFamily="34" charset="0"/>
              <a:buChar char="•"/>
            </a:pPr>
            <a:endParaRPr lang="en-US" dirty="0">
              <a:solidFill>
                <a:srgbClr val="222222"/>
              </a:solidFill>
              <a:latin typeface="Source Sans Pro" panose="020B0503030403020204" pitchFamily="34" charset="0"/>
            </a:endParaRPr>
          </a:p>
          <a:p>
            <a:pPr marL="0" indent="0" algn="l">
              <a:buNone/>
            </a:pPr>
            <a:r>
              <a:rPr lang="en-US" b="1" i="0" u="sng" dirty="0">
                <a:solidFill>
                  <a:srgbClr val="222222"/>
                </a:solidFill>
                <a:effectLst/>
                <a:latin typeface="Source Sans Pro" panose="020B0503030403020204" pitchFamily="34" charset="0"/>
              </a:rPr>
              <a:t>The following category of test cases are not suitable for automation:</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Test Cases that are newly designed and not executed manually at least once</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Test Cases for which the requirements are frequently changing</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Test cases which are executed on an ad-hoc basis.</a:t>
            </a:r>
          </a:p>
          <a:p>
            <a:pPr algn="l">
              <a:buFont typeface="Arial" panose="020B0604020202020204" pitchFamily="34" charset="0"/>
              <a:buChar char="•"/>
            </a:pPr>
            <a:endParaRPr lang="en-US" b="0" i="0" dirty="0">
              <a:solidFill>
                <a:srgbClr val="222222"/>
              </a:solidFill>
              <a:effectLst/>
              <a:latin typeface="Source Sans Pro" panose="020B0503030403020204" pitchFamily="34" charset="0"/>
            </a:endParaRPr>
          </a:p>
        </p:txBody>
      </p:sp>
    </p:spTree>
    <p:extLst>
      <p:ext uri="{BB962C8B-B14F-4D97-AF65-F5344CB8AC3E}">
        <p14:creationId xmlns:p14="http://schemas.microsoft.com/office/powerpoint/2010/main" val="3681309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716B4-9B63-4A71-96F1-BD020838A71D}"/>
              </a:ext>
            </a:extLst>
          </p:cNvPr>
          <p:cNvSpPr>
            <a:spLocks noGrp="1"/>
          </p:cNvSpPr>
          <p:nvPr>
            <p:ph type="title"/>
          </p:nvPr>
        </p:nvSpPr>
        <p:spPr>
          <a:xfrm>
            <a:off x="677334" y="378246"/>
            <a:ext cx="8596668" cy="690390"/>
          </a:xfrm>
        </p:spPr>
        <p:txBody>
          <a:bodyPr>
            <a:normAutofit/>
          </a:bodyPr>
          <a:lstStyle/>
          <a:p>
            <a:r>
              <a:rPr lang="en-US" dirty="0"/>
              <a:t>What is Selenium</a:t>
            </a:r>
            <a:endParaRPr lang="en-IN" dirty="0"/>
          </a:p>
        </p:txBody>
      </p:sp>
      <p:sp>
        <p:nvSpPr>
          <p:cNvPr id="3" name="Content Placeholder 2">
            <a:extLst>
              <a:ext uri="{FF2B5EF4-FFF2-40B4-BE49-F238E27FC236}">
                <a16:creationId xmlns:a16="http://schemas.microsoft.com/office/drawing/2014/main" id="{AFBF0BE5-B618-4FB4-914C-FDC992E80E77}"/>
              </a:ext>
            </a:extLst>
          </p:cNvPr>
          <p:cNvSpPr>
            <a:spLocks noGrp="1"/>
          </p:cNvSpPr>
          <p:nvPr>
            <p:ph idx="1"/>
          </p:nvPr>
        </p:nvSpPr>
        <p:spPr>
          <a:xfrm>
            <a:off x="677334" y="1233889"/>
            <a:ext cx="8596668" cy="4807473"/>
          </a:xfrm>
        </p:spPr>
        <p:txBody>
          <a:bodyPr>
            <a:normAutofit/>
          </a:bodyPr>
          <a:lstStyle/>
          <a:p>
            <a:r>
              <a:rPr lang="en-IN" dirty="0"/>
              <a:t>Selenium is a free (open source) automated testing tool for web applications across different browsers and platforms. It is quite similar to HP Quick Test Pro (QTP now UFT) only that Selenium focuses on automating web-based applications. </a:t>
            </a:r>
          </a:p>
          <a:p>
            <a:pPr marL="0" indent="0">
              <a:buNone/>
            </a:pPr>
            <a:endParaRPr lang="en-IN" dirty="0"/>
          </a:p>
          <a:p>
            <a:pPr marL="457200" lvl="1" indent="0">
              <a:buNone/>
            </a:pPr>
            <a:endParaRPr lang="en-IN" dirty="0"/>
          </a:p>
        </p:txBody>
      </p:sp>
    </p:spTree>
    <p:extLst>
      <p:ext uri="{BB962C8B-B14F-4D97-AF65-F5344CB8AC3E}">
        <p14:creationId xmlns:p14="http://schemas.microsoft.com/office/powerpoint/2010/main" val="529709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716B4-9B63-4A71-96F1-BD020838A71D}"/>
              </a:ext>
            </a:extLst>
          </p:cNvPr>
          <p:cNvSpPr>
            <a:spLocks noGrp="1"/>
          </p:cNvSpPr>
          <p:nvPr>
            <p:ph type="title"/>
          </p:nvPr>
        </p:nvSpPr>
        <p:spPr>
          <a:xfrm>
            <a:off x="677334" y="378246"/>
            <a:ext cx="8596668" cy="690390"/>
          </a:xfrm>
        </p:spPr>
        <p:txBody>
          <a:bodyPr>
            <a:normAutofit/>
          </a:bodyPr>
          <a:lstStyle/>
          <a:p>
            <a:r>
              <a:rPr lang="en-US" dirty="0"/>
              <a:t>Components in Selenium</a:t>
            </a:r>
            <a:endParaRPr lang="en-IN" dirty="0"/>
          </a:p>
        </p:txBody>
      </p:sp>
      <p:sp>
        <p:nvSpPr>
          <p:cNvPr id="3" name="Content Placeholder 2">
            <a:extLst>
              <a:ext uri="{FF2B5EF4-FFF2-40B4-BE49-F238E27FC236}">
                <a16:creationId xmlns:a16="http://schemas.microsoft.com/office/drawing/2014/main" id="{AFBF0BE5-B618-4FB4-914C-FDC992E80E77}"/>
              </a:ext>
            </a:extLst>
          </p:cNvPr>
          <p:cNvSpPr>
            <a:spLocks noGrp="1"/>
          </p:cNvSpPr>
          <p:nvPr>
            <p:ph idx="1"/>
          </p:nvPr>
        </p:nvSpPr>
        <p:spPr>
          <a:xfrm>
            <a:off x="677334" y="1233889"/>
            <a:ext cx="8596668" cy="4807473"/>
          </a:xfrm>
        </p:spPr>
        <p:txBody>
          <a:bodyPr>
            <a:normAutofit/>
          </a:bodyPr>
          <a:lstStyle/>
          <a:p>
            <a:pPr marL="0" indent="0">
              <a:buNone/>
            </a:pPr>
            <a:r>
              <a:rPr lang="en-IN" dirty="0"/>
              <a:t>Selenium is not just a single tool but a suite of software's, each catering to different testing needs of an organization. </a:t>
            </a:r>
            <a:r>
              <a:rPr lang="en-IN" b="1" dirty="0"/>
              <a:t>It has four components.</a:t>
            </a:r>
            <a:endParaRPr lang="en-IN" dirty="0"/>
          </a:p>
          <a:p>
            <a:pPr marL="981075" lvl="0">
              <a:buFont typeface="+mj-lt"/>
              <a:buAutoNum type="arabicPeriod"/>
            </a:pPr>
            <a:r>
              <a:rPr lang="en-IN" dirty="0"/>
              <a:t>Selenium Integrated Development Environment (IDE)</a:t>
            </a:r>
          </a:p>
          <a:p>
            <a:pPr marL="981075" lvl="0">
              <a:buFont typeface="+mj-lt"/>
              <a:buAutoNum type="arabicPeriod"/>
            </a:pPr>
            <a:r>
              <a:rPr lang="en-IN" dirty="0"/>
              <a:t>Selenium Remote Control (RC)</a:t>
            </a:r>
          </a:p>
          <a:p>
            <a:pPr marL="981075" lvl="0">
              <a:buFont typeface="+mj-lt"/>
              <a:buAutoNum type="arabicPeriod"/>
            </a:pPr>
            <a:r>
              <a:rPr lang="en-IN" dirty="0"/>
              <a:t>WebDriver</a:t>
            </a:r>
          </a:p>
          <a:p>
            <a:pPr marL="981075" lvl="0">
              <a:buFont typeface="+mj-lt"/>
              <a:buAutoNum type="arabicPeriod"/>
            </a:pPr>
            <a:r>
              <a:rPr lang="en-IN" dirty="0"/>
              <a:t>Selenium Grid</a:t>
            </a:r>
          </a:p>
          <a:p>
            <a:pPr lvl="1"/>
            <a:endParaRPr lang="en-IN" dirty="0"/>
          </a:p>
        </p:txBody>
      </p:sp>
    </p:spTree>
    <p:extLst>
      <p:ext uri="{BB962C8B-B14F-4D97-AF65-F5344CB8AC3E}">
        <p14:creationId xmlns:p14="http://schemas.microsoft.com/office/powerpoint/2010/main" val="279670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716B4-9B63-4A71-96F1-BD020838A71D}"/>
              </a:ext>
            </a:extLst>
          </p:cNvPr>
          <p:cNvSpPr>
            <a:spLocks noGrp="1"/>
          </p:cNvSpPr>
          <p:nvPr>
            <p:ph type="title"/>
          </p:nvPr>
        </p:nvSpPr>
        <p:spPr>
          <a:xfrm>
            <a:off x="677334" y="378246"/>
            <a:ext cx="8596668" cy="690390"/>
          </a:xfrm>
        </p:spPr>
        <p:txBody>
          <a:bodyPr>
            <a:normAutofit/>
          </a:bodyPr>
          <a:lstStyle/>
          <a:p>
            <a:r>
              <a:rPr lang="en-US" dirty="0"/>
              <a:t>Selenium Suite</a:t>
            </a:r>
            <a:endParaRPr lang="en-IN" dirty="0"/>
          </a:p>
        </p:txBody>
      </p:sp>
      <p:pic>
        <p:nvPicPr>
          <p:cNvPr id="7" name="Picture 6">
            <a:extLst>
              <a:ext uri="{FF2B5EF4-FFF2-40B4-BE49-F238E27FC236}">
                <a16:creationId xmlns:a16="http://schemas.microsoft.com/office/drawing/2014/main" id="{A45D999F-AB1C-6A62-417A-6F639E92C4D3}"/>
              </a:ext>
            </a:extLst>
          </p:cNvPr>
          <p:cNvPicPr>
            <a:picLocks noChangeAspect="1"/>
          </p:cNvPicPr>
          <p:nvPr/>
        </p:nvPicPr>
        <p:blipFill>
          <a:blip r:embed="rId2"/>
          <a:stretch>
            <a:fillRect/>
          </a:stretch>
        </p:blipFill>
        <p:spPr>
          <a:xfrm>
            <a:off x="1387220" y="1068636"/>
            <a:ext cx="7886782" cy="5693720"/>
          </a:xfrm>
          <a:prstGeom prst="rect">
            <a:avLst/>
          </a:prstGeom>
        </p:spPr>
      </p:pic>
    </p:spTree>
    <p:extLst>
      <p:ext uri="{BB962C8B-B14F-4D97-AF65-F5344CB8AC3E}">
        <p14:creationId xmlns:p14="http://schemas.microsoft.com/office/powerpoint/2010/main" val="1956547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716B4-9B63-4A71-96F1-BD020838A71D}"/>
              </a:ext>
            </a:extLst>
          </p:cNvPr>
          <p:cNvSpPr>
            <a:spLocks noGrp="1"/>
          </p:cNvSpPr>
          <p:nvPr>
            <p:ph type="title"/>
          </p:nvPr>
        </p:nvSpPr>
        <p:spPr>
          <a:xfrm>
            <a:off x="677334" y="378246"/>
            <a:ext cx="8596668" cy="690390"/>
          </a:xfrm>
        </p:spPr>
        <p:txBody>
          <a:bodyPr>
            <a:normAutofit fontScale="90000"/>
          </a:bodyPr>
          <a:lstStyle/>
          <a:p>
            <a:r>
              <a:rPr lang="en-IN" b="1" dirty="0"/>
              <a:t>Who developed Selenium?</a:t>
            </a:r>
            <a:br>
              <a:rPr lang="en-IN" dirty="0"/>
            </a:br>
            <a:endParaRPr lang="en-IN" dirty="0"/>
          </a:p>
        </p:txBody>
      </p:sp>
      <p:pic>
        <p:nvPicPr>
          <p:cNvPr id="4" name="Content Placeholder 3" descr="Introduction to Selenium">
            <a:hlinkClick r:id="rId2"/>
            <a:extLst>
              <a:ext uri="{FF2B5EF4-FFF2-40B4-BE49-F238E27FC236}">
                <a16:creationId xmlns:a16="http://schemas.microsoft.com/office/drawing/2014/main" id="{C76EC557-966D-4D03-9913-730D819EE5CE}"/>
              </a:ext>
            </a:extLst>
          </p:cNvPr>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465243" y="957855"/>
            <a:ext cx="3333750" cy="1847850"/>
          </a:xfrm>
          <a:prstGeom prst="rect">
            <a:avLst/>
          </a:prstGeom>
          <a:noFill/>
          <a:ln>
            <a:noFill/>
          </a:ln>
        </p:spPr>
      </p:pic>
      <p:sp>
        <p:nvSpPr>
          <p:cNvPr id="5" name="TextBox 4">
            <a:extLst>
              <a:ext uri="{FF2B5EF4-FFF2-40B4-BE49-F238E27FC236}">
                <a16:creationId xmlns:a16="http://schemas.microsoft.com/office/drawing/2014/main" id="{70FE9B69-65E5-495B-B2DA-FED5E4C97B5D}"/>
              </a:ext>
            </a:extLst>
          </p:cNvPr>
          <p:cNvSpPr txBox="1"/>
          <p:nvPr/>
        </p:nvSpPr>
        <p:spPr>
          <a:xfrm>
            <a:off x="1465243" y="2933428"/>
            <a:ext cx="7998246" cy="2893100"/>
          </a:xfrm>
          <a:prstGeom prst="rect">
            <a:avLst/>
          </a:prstGeom>
          <a:noFill/>
        </p:spPr>
        <p:txBody>
          <a:bodyPr wrap="square" rtlCol="0">
            <a:spAutoFit/>
          </a:bodyPr>
          <a:lstStyle/>
          <a:p>
            <a:r>
              <a:rPr lang="en-IN" dirty="0"/>
              <a:t>Primarily, Selenium was </a:t>
            </a:r>
            <a:r>
              <a:rPr lang="en-IN" b="1" dirty="0"/>
              <a:t>created by Jason Huggins in 2004</a:t>
            </a:r>
            <a:r>
              <a:rPr lang="en-IN" dirty="0"/>
              <a:t>. An engineer at </a:t>
            </a:r>
            <a:r>
              <a:rPr lang="en-IN" dirty="0" err="1"/>
              <a:t>ThoughtWorks</a:t>
            </a:r>
            <a:r>
              <a:rPr lang="en-IN" dirty="0"/>
              <a:t>, he was working on a web application that required frequent testing. </a:t>
            </a:r>
          </a:p>
          <a:p>
            <a:pPr>
              <a:spcBef>
                <a:spcPts val="1200"/>
              </a:spcBef>
            </a:pPr>
            <a:r>
              <a:rPr lang="en-IN" dirty="0"/>
              <a:t>Having realized that the repetitious </a:t>
            </a:r>
            <a:r>
              <a:rPr lang="en-IN" dirty="0">
                <a:hlinkClick r:id="rId4"/>
              </a:rPr>
              <a:t>Manual Testing</a:t>
            </a:r>
            <a:r>
              <a:rPr lang="en-IN" dirty="0"/>
              <a:t> of their application was becoming more and more inefficient, he created a</a:t>
            </a:r>
            <a:r>
              <a:rPr lang="en-IN" dirty="0">
                <a:hlinkClick r:id="rId5"/>
              </a:rPr>
              <a:t> JavaScript </a:t>
            </a:r>
            <a:r>
              <a:rPr lang="en-IN" dirty="0"/>
              <a:t>program that would automatically control the browser's actions. </a:t>
            </a:r>
          </a:p>
          <a:p>
            <a:pPr>
              <a:spcBef>
                <a:spcPts val="1200"/>
              </a:spcBef>
            </a:pPr>
            <a:r>
              <a:rPr lang="en-IN" dirty="0"/>
              <a:t>He named this program as the "</a:t>
            </a:r>
            <a:r>
              <a:rPr lang="en-IN" b="1" u="sng" dirty="0" err="1"/>
              <a:t>JavaScriptTestRunner</a:t>
            </a:r>
            <a:r>
              <a:rPr lang="en-IN" dirty="0"/>
              <a:t>“. Seeing potential in this idea to help automate other web applications, he made </a:t>
            </a:r>
            <a:r>
              <a:rPr lang="en-IN" dirty="0" err="1"/>
              <a:t>JavaScriptRunner</a:t>
            </a:r>
            <a:r>
              <a:rPr lang="en-IN" dirty="0"/>
              <a:t> open-source which was later re-named as </a:t>
            </a:r>
            <a:r>
              <a:rPr lang="en-IN" b="1" dirty="0"/>
              <a:t>Selenium Core</a:t>
            </a:r>
            <a:r>
              <a:rPr lang="en-IN" dirty="0"/>
              <a:t>.</a:t>
            </a:r>
          </a:p>
        </p:txBody>
      </p:sp>
    </p:spTree>
    <p:extLst>
      <p:ext uri="{BB962C8B-B14F-4D97-AF65-F5344CB8AC3E}">
        <p14:creationId xmlns:p14="http://schemas.microsoft.com/office/powerpoint/2010/main" val="3817618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716B4-9B63-4A71-96F1-BD020838A71D}"/>
              </a:ext>
            </a:extLst>
          </p:cNvPr>
          <p:cNvSpPr>
            <a:spLocks noGrp="1"/>
          </p:cNvSpPr>
          <p:nvPr>
            <p:ph type="title"/>
          </p:nvPr>
        </p:nvSpPr>
        <p:spPr>
          <a:xfrm>
            <a:off x="677334" y="378246"/>
            <a:ext cx="8596668" cy="690390"/>
          </a:xfrm>
        </p:spPr>
        <p:txBody>
          <a:bodyPr>
            <a:normAutofit fontScale="90000"/>
          </a:bodyPr>
          <a:lstStyle/>
          <a:p>
            <a:r>
              <a:rPr lang="en-IN" b="1" dirty="0"/>
              <a:t>The Same Origin Policy Issue</a:t>
            </a:r>
            <a:br>
              <a:rPr lang="en-IN" dirty="0"/>
            </a:br>
            <a:endParaRPr lang="en-IN" dirty="0"/>
          </a:p>
        </p:txBody>
      </p:sp>
      <p:sp>
        <p:nvSpPr>
          <p:cNvPr id="3" name="Content Placeholder 2">
            <a:extLst>
              <a:ext uri="{FF2B5EF4-FFF2-40B4-BE49-F238E27FC236}">
                <a16:creationId xmlns:a16="http://schemas.microsoft.com/office/drawing/2014/main" id="{AFBF0BE5-B618-4FB4-914C-FDC992E80E77}"/>
              </a:ext>
            </a:extLst>
          </p:cNvPr>
          <p:cNvSpPr>
            <a:spLocks noGrp="1"/>
          </p:cNvSpPr>
          <p:nvPr>
            <p:ph idx="1"/>
          </p:nvPr>
        </p:nvSpPr>
        <p:spPr>
          <a:xfrm>
            <a:off x="677334" y="1233889"/>
            <a:ext cx="8596668" cy="4807473"/>
          </a:xfrm>
        </p:spPr>
        <p:txBody>
          <a:bodyPr/>
          <a:lstStyle/>
          <a:p>
            <a:r>
              <a:rPr lang="en-IN" b="1" dirty="0"/>
              <a:t>Same Origin policy prohibits JavaScript code from accessing elements from a domain that is different from where it was launched</a:t>
            </a:r>
            <a:r>
              <a:rPr lang="en-IN" dirty="0"/>
              <a:t>. </a:t>
            </a:r>
          </a:p>
          <a:p>
            <a:r>
              <a:rPr lang="en-IN" dirty="0"/>
              <a:t>Example, the HTML code in www.google.com uses a JavaScript program "randomScript.js". The same origin policy will only allow randomScript.js to access pages within google.com such as google.com/mail, google.com/login, or google.com/signup. </a:t>
            </a:r>
          </a:p>
          <a:p>
            <a:r>
              <a:rPr lang="en-IN" dirty="0"/>
              <a:t>However, it cannot access pages from different sites such as yahoo.com/search or guru99.com because they belong to different domains.</a:t>
            </a:r>
          </a:p>
          <a:p>
            <a:endParaRPr lang="en-IN" dirty="0"/>
          </a:p>
        </p:txBody>
      </p:sp>
    </p:spTree>
    <p:extLst>
      <p:ext uri="{BB962C8B-B14F-4D97-AF65-F5344CB8AC3E}">
        <p14:creationId xmlns:p14="http://schemas.microsoft.com/office/powerpoint/2010/main" val="3255273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716B4-9B63-4A71-96F1-BD020838A71D}"/>
              </a:ext>
            </a:extLst>
          </p:cNvPr>
          <p:cNvSpPr>
            <a:spLocks noGrp="1"/>
          </p:cNvSpPr>
          <p:nvPr>
            <p:ph type="title"/>
          </p:nvPr>
        </p:nvSpPr>
        <p:spPr>
          <a:xfrm>
            <a:off x="677334" y="378246"/>
            <a:ext cx="8596668" cy="690390"/>
          </a:xfrm>
        </p:spPr>
        <p:txBody>
          <a:bodyPr>
            <a:noAutofit/>
          </a:bodyPr>
          <a:lstStyle/>
          <a:p>
            <a:r>
              <a:rPr lang="en-IN" sz="2800" b="1" dirty="0"/>
              <a:t>Birth of Selenium Remote Control (Selenium RC)</a:t>
            </a:r>
            <a:br>
              <a:rPr lang="en-IN" sz="2800" dirty="0"/>
            </a:br>
            <a:endParaRPr lang="en-IN" sz="2800" dirty="0"/>
          </a:p>
        </p:txBody>
      </p:sp>
      <p:sp>
        <p:nvSpPr>
          <p:cNvPr id="3" name="Content Placeholder 2">
            <a:extLst>
              <a:ext uri="{FF2B5EF4-FFF2-40B4-BE49-F238E27FC236}">
                <a16:creationId xmlns:a16="http://schemas.microsoft.com/office/drawing/2014/main" id="{AFBF0BE5-B618-4FB4-914C-FDC992E80E77}"/>
              </a:ext>
            </a:extLst>
          </p:cNvPr>
          <p:cNvSpPr>
            <a:spLocks noGrp="1"/>
          </p:cNvSpPr>
          <p:nvPr>
            <p:ph idx="1"/>
          </p:nvPr>
        </p:nvSpPr>
        <p:spPr>
          <a:xfrm>
            <a:off x="677334" y="1233889"/>
            <a:ext cx="8596668" cy="4807473"/>
          </a:xfrm>
        </p:spPr>
        <p:txBody>
          <a:bodyPr>
            <a:normAutofit fontScale="92500" lnSpcReduction="20000"/>
          </a:bodyPr>
          <a:lstStyle/>
          <a:p>
            <a:pPr>
              <a:lnSpc>
                <a:spcPct val="125000"/>
              </a:lnSpc>
            </a:pPr>
            <a:r>
              <a:rPr lang="en-IN" dirty="0"/>
              <a:t>This is the reason why prior to Selenium RC, testers needed to install local copies of both Selenium Core (a JavaScript program) and the web server containing the web application being tested so they would belong to the same domain</a:t>
            </a:r>
          </a:p>
          <a:p>
            <a:pPr marL="0" indent="0">
              <a:lnSpc>
                <a:spcPct val="125000"/>
              </a:lnSpc>
              <a:buNone/>
            </a:pPr>
            <a:endParaRPr lang="en-IN" dirty="0"/>
          </a:p>
          <a:p>
            <a:endParaRPr lang="en-IN" dirty="0"/>
          </a:p>
          <a:p>
            <a:endParaRPr lang="en-IN" dirty="0"/>
          </a:p>
          <a:p>
            <a:endParaRPr lang="en-IN" dirty="0"/>
          </a:p>
          <a:p>
            <a:pPr marL="0" indent="0">
              <a:lnSpc>
                <a:spcPct val="135000"/>
              </a:lnSpc>
              <a:buNone/>
            </a:pPr>
            <a:endParaRPr lang="en-IN" dirty="0"/>
          </a:p>
          <a:p>
            <a:pPr marL="0" indent="0">
              <a:lnSpc>
                <a:spcPct val="135000"/>
              </a:lnSpc>
              <a:buNone/>
            </a:pPr>
            <a:endParaRPr lang="en-IN" dirty="0"/>
          </a:p>
          <a:p>
            <a:pPr>
              <a:lnSpc>
                <a:spcPct val="135000"/>
              </a:lnSpc>
            </a:pPr>
            <a:r>
              <a:rPr lang="en-IN" dirty="0"/>
              <a:t>So another </a:t>
            </a:r>
            <a:r>
              <a:rPr lang="en-IN" dirty="0" err="1"/>
              <a:t>ThoughtWork's</a:t>
            </a:r>
            <a:r>
              <a:rPr lang="en-IN" dirty="0"/>
              <a:t> engineer, </a:t>
            </a:r>
            <a:r>
              <a:rPr lang="en-IN" b="1" u="sng" dirty="0"/>
              <a:t>Paul </a:t>
            </a:r>
            <a:r>
              <a:rPr lang="en-IN" b="1" u="sng" dirty="0" err="1"/>
              <a:t>Hammant</a:t>
            </a:r>
            <a:r>
              <a:rPr lang="en-IN" dirty="0"/>
              <a:t>, decided to create a server that will act as an HTTP proxy to "trick" the browser into believing that Selenium Core and the web application being tested come from the same domain. This system became known as the </a:t>
            </a:r>
            <a:r>
              <a:rPr lang="en-IN" b="1" dirty="0"/>
              <a:t>Selenium Remote Control</a:t>
            </a:r>
            <a:r>
              <a:rPr lang="en-IN" dirty="0"/>
              <a:t> or </a:t>
            </a:r>
            <a:r>
              <a:rPr lang="en-IN" b="1" dirty="0"/>
              <a:t>Selenium 1</a:t>
            </a:r>
            <a:r>
              <a:rPr lang="en-IN" dirty="0"/>
              <a:t>.</a:t>
            </a:r>
          </a:p>
          <a:p>
            <a:endParaRPr lang="en-IN" dirty="0"/>
          </a:p>
        </p:txBody>
      </p:sp>
      <p:pic>
        <p:nvPicPr>
          <p:cNvPr id="4" name="Picture 3" descr="Introduction to Selenium">
            <a:hlinkClick r:id="rId2"/>
            <a:extLst>
              <a:ext uri="{FF2B5EF4-FFF2-40B4-BE49-F238E27FC236}">
                <a16:creationId xmlns:a16="http://schemas.microsoft.com/office/drawing/2014/main" id="{76BF77FA-44F5-4511-8791-28F9D833F018}"/>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516109" y="2217695"/>
            <a:ext cx="2489812" cy="2201905"/>
          </a:xfrm>
          <a:prstGeom prst="rect">
            <a:avLst/>
          </a:prstGeom>
          <a:noFill/>
          <a:ln>
            <a:noFill/>
          </a:ln>
        </p:spPr>
      </p:pic>
    </p:spTree>
    <p:extLst>
      <p:ext uri="{BB962C8B-B14F-4D97-AF65-F5344CB8AC3E}">
        <p14:creationId xmlns:p14="http://schemas.microsoft.com/office/powerpoint/2010/main" val="30703420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644E9AE-A9D3-49A0-B5B4-1043D894ED98}"/>
              </a:ext>
            </a:extLst>
          </p:cNvPr>
          <p:cNvSpPr>
            <a:spLocks noGrp="1"/>
          </p:cNvSpPr>
          <p:nvPr>
            <p:ph type="title"/>
          </p:nvPr>
        </p:nvSpPr>
        <p:spPr>
          <a:xfrm>
            <a:off x="677334" y="378246"/>
            <a:ext cx="8596668" cy="690390"/>
          </a:xfrm>
        </p:spPr>
        <p:txBody>
          <a:bodyPr>
            <a:normAutofit/>
          </a:bodyPr>
          <a:lstStyle/>
          <a:p>
            <a:r>
              <a:rPr lang="en-IN" b="1" dirty="0"/>
              <a:t>Birth of Selenium Grid</a:t>
            </a:r>
            <a:endParaRPr lang="en-IN" dirty="0"/>
          </a:p>
        </p:txBody>
      </p:sp>
      <p:sp>
        <p:nvSpPr>
          <p:cNvPr id="9" name="Content Placeholder 8">
            <a:extLst>
              <a:ext uri="{FF2B5EF4-FFF2-40B4-BE49-F238E27FC236}">
                <a16:creationId xmlns:a16="http://schemas.microsoft.com/office/drawing/2014/main" id="{303C7633-EFAF-4263-8A0B-A29DF6A741C6}"/>
              </a:ext>
            </a:extLst>
          </p:cNvPr>
          <p:cNvSpPr>
            <a:spLocks noGrp="1"/>
          </p:cNvSpPr>
          <p:nvPr>
            <p:ph idx="1"/>
          </p:nvPr>
        </p:nvSpPr>
        <p:spPr>
          <a:xfrm>
            <a:off x="677334" y="1288973"/>
            <a:ext cx="8596668" cy="4752389"/>
          </a:xfrm>
        </p:spPr>
        <p:txBody>
          <a:bodyPr/>
          <a:lstStyle/>
          <a:p>
            <a:endParaRPr lang="en-IN" dirty="0"/>
          </a:p>
          <a:p>
            <a:endParaRPr lang="en-IN" dirty="0"/>
          </a:p>
          <a:p>
            <a:endParaRPr lang="en-IN" dirty="0"/>
          </a:p>
          <a:p>
            <a:endParaRPr lang="en-IN" dirty="0"/>
          </a:p>
          <a:p>
            <a:endParaRPr lang="en-IN" dirty="0"/>
          </a:p>
          <a:p>
            <a:pPr>
              <a:lnSpc>
                <a:spcPct val="150000"/>
              </a:lnSpc>
            </a:pPr>
            <a:r>
              <a:rPr lang="en-IN" dirty="0"/>
              <a:t>Selenium Grid was developed by </a:t>
            </a:r>
            <a:r>
              <a:rPr lang="en-IN" b="1" dirty="0"/>
              <a:t>Patrick </a:t>
            </a:r>
            <a:r>
              <a:rPr lang="en-IN" b="1" dirty="0" err="1"/>
              <a:t>Lightbody</a:t>
            </a:r>
            <a:r>
              <a:rPr lang="en-IN" dirty="0"/>
              <a:t> to address the need of minimizing test execution times as much as possible. He initially called the system "</a:t>
            </a:r>
            <a:r>
              <a:rPr lang="en-IN" b="1" dirty="0"/>
              <a:t>Hosted QA</a:t>
            </a:r>
            <a:r>
              <a:rPr lang="en-IN" dirty="0"/>
              <a:t>." It was capable of capturing browser screenshots during significant stages, and also of </a:t>
            </a:r>
            <a:r>
              <a:rPr lang="en-IN" b="1" dirty="0"/>
              <a:t>sending out Selenium commands to different machines simultaneously.</a:t>
            </a:r>
            <a:endParaRPr lang="en-IN" dirty="0"/>
          </a:p>
          <a:p>
            <a:endParaRPr lang="en-IN" dirty="0"/>
          </a:p>
        </p:txBody>
      </p:sp>
      <p:pic>
        <p:nvPicPr>
          <p:cNvPr id="11" name="Picture 10" descr="Introduction to Selenium">
            <a:hlinkClick r:id="rId2"/>
            <a:extLst>
              <a:ext uri="{FF2B5EF4-FFF2-40B4-BE49-F238E27FC236}">
                <a16:creationId xmlns:a16="http://schemas.microsoft.com/office/drawing/2014/main" id="{CB82CC89-CF09-4641-9BBD-7DC6D001C4CC}"/>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491988" y="1374827"/>
            <a:ext cx="1836764" cy="1764979"/>
          </a:xfrm>
          <a:prstGeom prst="rect">
            <a:avLst/>
          </a:prstGeom>
          <a:noFill/>
          <a:ln>
            <a:noFill/>
          </a:ln>
        </p:spPr>
      </p:pic>
    </p:spTree>
    <p:extLst>
      <p:ext uri="{BB962C8B-B14F-4D97-AF65-F5344CB8AC3E}">
        <p14:creationId xmlns:p14="http://schemas.microsoft.com/office/powerpoint/2010/main" val="16592682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716B4-9B63-4A71-96F1-BD020838A71D}"/>
              </a:ext>
            </a:extLst>
          </p:cNvPr>
          <p:cNvSpPr>
            <a:spLocks noGrp="1"/>
          </p:cNvSpPr>
          <p:nvPr>
            <p:ph type="title"/>
          </p:nvPr>
        </p:nvSpPr>
        <p:spPr>
          <a:xfrm>
            <a:off x="677334" y="378246"/>
            <a:ext cx="8596668" cy="690390"/>
          </a:xfrm>
        </p:spPr>
        <p:txBody>
          <a:bodyPr>
            <a:normAutofit fontScale="90000"/>
          </a:bodyPr>
          <a:lstStyle/>
          <a:p>
            <a:r>
              <a:rPr lang="en-IN" b="1" dirty="0"/>
              <a:t>Birth of Selenium IDE</a:t>
            </a:r>
            <a:br>
              <a:rPr lang="en-IN" dirty="0"/>
            </a:br>
            <a:endParaRPr lang="en-IN" dirty="0"/>
          </a:p>
        </p:txBody>
      </p:sp>
      <p:sp>
        <p:nvSpPr>
          <p:cNvPr id="3" name="Content Placeholder 2">
            <a:extLst>
              <a:ext uri="{FF2B5EF4-FFF2-40B4-BE49-F238E27FC236}">
                <a16:creationId xmlns:a16="http://schemas.microsoft.com/office/drawing/2014/main" id="{AFBF0BE5-B618-4FB4-914C-FDC992E80E77}"/>
              </a:ext>
            </a:extLst>
          </p:cNvPr>
          <p:cNvSpPr>
            <a:spLocks noGrp="1"/>
          </p:cNvSpPr>
          <p:nvPr>
            <p:ph idx="1"/>
          </p:nvPr>
        </p:nvSpPr>
        <p:spPr>
          <a:xfrm>
            <a:off x="677334" y="1233889"/>
            <a:ext cx="8596668" cy="4807473"/>
          </a:xfrm>
        </p:spPr>
        <p:txBody>
          <a:bodyPr/>
          <a:lstStyle/>
          <a:p>
            <a:endParaRPr lang="en-IN" b="1" dirty="0"/>
          </a:p>
          <a:p>
            <a:endParaRPr lang="en-IN" b="1" dirty="0"/>
          </a:p>
          <a:p>
            <a:endParaRPr lang="en-IN" b="1" dirty="0"/>
          </a:p>
          <a:p>
            <a:endParaRPr lang="en-IN" b="1" dirty="0"/>
          </a:p>
          <a:p>
            <a:endParaRPr lang="en-IN" b="1" dirty="0"/>
          </a:p>
          <a:p>
            <a:endParaRPr lang="en-IN" b="1" dirty="0"/>
          </a:p>
          <a:p>
            <a:pPr>
              <a:lnSpc>
                <a:spcPct val="150000"/>
              </a:lnSpc>
            </a:pPr>
            <a:r>
              <a:rPr lang="en-IN" b="1" dirty="0"/>
              <a:t>Shinya </a:t>
            </a:r>
            <a:r>
              <a:rPr lang="en-IN" b="1" dirty="0" err="1"/>
              <a:t>Kasatani</a:t>
            </a:r>
            <a:r>
              <a:rPr lang="en-IN" b="1" dirty="0"/>
              <a:t> </a:t>
            </a:r>
            <a:r>
              <a:rPr lang="en-IN" dirty="0"/>
              <a:t>of Japan created </a:t>
            </a:r>
            <a:r>
              <a:rPr lang="en-IN" b="1" dirty="0"/>
              <a:t>Selenium IDE</a:t>
            </a:r>
            <a:r>
              <a:rPr lang="en-IN" dirty="0"/>
              <a:t>, a Firefox extension that can automate the browser through a </a:t>
            </a:r>
            <a:r>
              <a:rPr lang="en-IN" b="1" u="sng" dirty="0"/>
              <a:t>record-and-playback</a:t>
            </a:r>
            <a:r>
              <a:rPr lang="en-IN" dirty="0"/>
              <a:t> feature. He came up with this idea to further </a:t>
            </a:r>
            <a:r>
              <a:rPr lang="en-IN" u="sng" dirty="0"/>
              <a:t>increase the speed in creating test cases</a:t>
            </a:r>
            <a:r>
              <a:rPr lang="en-IN" dirty="0"/>
              <a:t>. He donated Selenium IDE to the Selenium Project in </a:t>
            </a:r>
            <a:r>
              <a:rPr lang="en-IN" b="1" dirty="0"/>
              <a:t>2006</a:t>
            </a:r>
            <a:r>
              <a:rPr lang="en-IN" dirty="0"/>
              <a:t>.</a:t>
            </a:r>
          </a:p>
          <a:p>
            <a:endParaRPr lang="en-IN" dirty="0"/>
          </a:p>
          <a:p>
            <a:endParaRPr lang="en-IN" dirty="0"/>
          </a:p>
          <a:p>
            <a:endParaRPr lang="en-US" dirty="0"/>
          </a:p>
          <a:p>
            <a:endParaRPr lang="en-IN" dirty="0"/>
          </a:p>
          <a:p>
            <a:endParaRPr lang="en-IN" dirty="0"/>
          </a:p>
        </p:txBody>
      </p:sp>
      <p:pic>
        <p:nvPicPr>
          <p:cNvPr id="4" name="Picture 3" descr="Introduction to Selenium">
            <a:hlinkClick r:id="rId2"/>
            <a:extLst>
              <a:ext uri="{FF2B5EF4-FFF2-40B4-BE49-F238E27FC236}">
                <a16:creationId xmlns:a16="http://schemas.microsoft.com/office/drawing/2014/main" id="{FEF1890B-2F59-460D-886B-C8878D842A7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004306" y="1233888"/>
            <a:ext cx="2831221" cy="2093205"/>
          </a:xfrm>
          <a:prstGeom prst="rect">
            <a:avLst/>
          </a:prstGeom>
          <a:noFill/>
          <a:ln>
            <a:noFill/>
          </a:ln>
        </p:spPr>
      </p:pic>
    </p:spTree>
    <p:extLst>
      <p:ext uri="{BB962C8B-B14F-4D97-AF65-F5344CB8AC3E}">
        <p14:creationId xmlns:p14="http://schemas.microsoft.com/office/powerpoint/2010/main" val="19050199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716B4-9B63-4A71-96F1-BD020838A71D}"/>
              </a:ext>
            </a:extLst>
          </p:cNvPr>
          <p:cNvSpPr>
            <a:spLocks noGrp="1"/>
          </p:cNvSpPr>
          <p:nvPr>
            <p:ph type="title"/>
          </p:nvPr>
        </p:nvSpPr>
        <p:spPr>
          <a:xfrm>
            <a:off x="677334" y="378246"/>
            <a:ext cx="8596668" cy="690390"/>
          </a:xfrm>
        </p:spPr>
        <p:txBody>
          <a:bodyPr>
            <a:normAutofit fontScale="90000"/>
          </a:bodyPr>
          <a:lstStyle/>
          <a:p>
            <a:r>
              <a:rPr lang="en-IN" b="1" dirty="0"/>
              <a:t>Birth of WebDriver</a:t>
            </a:r>
            <a:br>
              <a:rPr lang="en-IN" dirty="0"/>
            </a:br>
            <a:endParaRPr lang="en-IN" dirty="0"/>
          </a:p>
        </p:txBody>
      </p:sp>
      <p:sp>
        <p:nvSpPr>
          <p:cNvPr id="3" name="Content Placeholder 2">
            <a:extLst>
              <a:ext uri="{FF2B5EF4-FFF2-40B4-BE49-F238E27FC236}">
                <a16:creationId xmlns:a16="http://schemas.microsoft.com/office/drawing/2014/main" id="{AFBF0BE5-B618-4FB4-914C-FDC992E80E77}"/>
              </a:ext>
            </a:extLst>
          </p:cNvPr>
          <p:cNvSpPr>
            <a:spLocks noGrp="1"/>
          </p:cNvSpPr>
          <p:nvPr>
            <p:ph idx="1"/>
          </p:nvPr>
        </p:nvSpPr>
        <p:spPr>
          <a:xfrm>
            <a:off x="677334" y="1233889"/>
            <a:ext cx="8596668" cy="4807473"/>
          </a:xfrm>
        </p:spPr>
        <p:txBody>
          <a:bodyPr/>
          <a:lstStyle/>
          <a:p>
            <a:endParaRPr lang="en-US" dirty="0"/>
          </a:p>
          <a:p>
            <a:endParaRPr lang="en-IN" dirty="0"/>
          </a:p>
          <a:p>
            <a:endParaRPr lang="en-IN" dirty="0"/>
          </a:p>
          <a:p>
            <a:endParaRPr lang="en-IN" dirty="0"/>
          </a:p>
          <a:p>
            <a:endParaRPr lang="en-IN" dirty="0"/>
          </a:p>
          <a:p>
            <a:endParaRPr lang="en-IN" dirty="0"/>
          </a:p>
          <a:p>
            <a:pPr>
              <a:lnSpc>
                <a:spcPct val="150000"/>
              </a:lnSpc>
            </a:pPr>
            <a:r>
              <a:rPr lang="en-IN" b="1" dirty="0"/>
              <a:t>Simon Stewart </a:t>
            </a:r>
            <a:r>
              <a:rPr lang="en-IN" dirty="0"/>
              <a:t>created WebDriver circa </a:t>
            </a:r>
            <a:r>
              <a:rPr lang="en-IN" b="1" dirty="0"/>
              <a:t>2006</a:t>
            </a:r>
            <a:r>
              <a:rPr lang="en-IN" dirty="0"/>
              <a:t> when browsers and web applications were becoming more powerful and more restrictive with JavaScript programs like Selenium Core. </a:t>
            </a:r>
            <a:r>
              <a:rPr lang="en-IN" b="1" dirty="0"/>
              <a:t>It was the first cross-platform testing framework that could control the browser from the OS level.</a:t>
            </a:r>
            <a:endParaRPr lang="en-IN" dirty="0"/>
          </a:p>
          <a:p>
            <a:endParaRPr lang="en-IN" dirty="0"/>
          </a:p>
        </p:txBody>
      </p:sp>
      <p:pic>
        <p:nvPicPr>
          <p:cNvPr id="4" name="Picture 3" descr="Introduction to Selenium">
            <a:hlinkClick r:id="rId2"/>
            <a:extLst>
              <a:ext uri="{FF2B5EF4-FFF2-40B4-BE49-F238E27FC236}">
                <a16:creationId xmlns:a16="http://schemas.microsoft.com/office/drawing/2014/main" id="{250B6D21-AFFE-4668-8F63-C9B1D3C31559}"/>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596437" y="1233888"/>
            <a:ext cx="2261124" cy="2302525"/>
          </a:xfrm>
          <a:prstGeom prst="rect">
            <a:avLst/>
          </a:prstGeom>
          <a:noFill/>
          <a:ln>
            <a:noFill/>
          </a:ln>
        </p:spPr>
      </p:pic>
    </p:spTree>
    <p:extLst>
      <p:ext uri="{BB962C8B-B14F-4D97-AF65-F5344CB8AC3E}">
        <p14:creationId xmlns:p14="http://schemas.microsoft.com/office/powerpoint/2010/main" val="278778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716B4-9B63-4A71-96F1-BD020838A71D}"/>
              </a:ext>
            </a:extLst>
          </p:cNvPr>
          <p:cNvSpPr>
            <a:spLocks noGrp="1"/>
          </p:cNvSpPr>
          <p:nvPr>
            <p:ph type="title"/>
          </p:nvPr>
        </p:nvSpPr>
        <p:spPr>
          <a:xfrm>
            <a:off x="677334" y="378246"/>
            <a:ext cx="8596668" cy="690390"/>
          </a:xfrm>
        </p:spPr>
        <p:txBody>
          <a:bodyPr>
            <a:normAutofit fontScale="90000"/>
          </a:bodyPr>
          <a:lstStyle/>
          <a:p>
            <a:r>
              <a:rPr lang="en-IN" b="1" dirty="0"/>
              <a:t>Birth of Selenium 2</a:t>
            </a:r>
            <a:br>
              <a:rPr lang="en-IN" dirty="0"/>
            </a:br>
            <a:endParaRPr lang="en-IN" dirty="0"/>
          </a:p>
        </p:txBody>
      </p:sp>
      <p:sp>
        <p:nvSpPr>
          <p:cNvPr id="3" name="Content Placeholder 2">
            <a:extLst>
              <a:ext uri="{FF2B5EF4-FFF2-40B4-BE49-F238E27FC236}">
                <a16:creationId xmlns:a16="http://schemas.microsoft.com/office/drawing/2014/main" id="{AFBF0BE5-B618-4FB4-914C-FDC992E80E77}"/>
              </a:ext>
            </a:extLst>
          </p:cNvPr>
          <p:cNvSpPr>
            <a:spLocks noGrp="1"/>
          </p:cNvSpPr>
          <p:nvPr>
            <p:ph idx="1"/>
          </p:nvPr>
        </p:nvSpPr>
        <p:spPr>
          <a:xfrm>
            <a:off x="677334" y="1233889"/>
            <a:ext cx="8596668" cy="4807473"/>
          </a:xfrm>
        </p:spPr>
        <p:txBody>
          <a:bodyPr/>
          <a:lstStyle/>
          <a:p>
            <a:r>
              <a:rPr lang="en-IN" dirty="0"/>
              <a:t>In </a:t>
            </a:r>
            <a:r>
              <a:rPr lang="en-IN" b="1" dirty="0"/>
              <a:t>2008</a:t>
            </a:r>
            <a:r>
              <a:rPr lang="en-IN" dirty="0"/>
              <a:t>, the whole Selenium Team decided to merge WebDriver and Selenium RC to form a more powerful tool called </a:t>
            </a:r>
            <a:r>
              <a:rPr lang="en-IN" b="1" dirty="0"/>
              <a:t>Selenium 2</a:t>
            </a:r>
            <a:r>
              <a:rPr lang="en-IN" dirty="0"/>
              <a:t>, with </a:t>
            </a:r>
            <a:r>
              <a:rPr lang="en-IN" b="1" dirty="0"/>
              <a:t>WebDriver being the core</a:t>
            </a:r>
            <a:r>
              <a:rPr lang="en-IN" dirty="0"/>
              <a:t>. Currently, Selenium RC is still being developed but only in maintenance mode. </a:t>
            </a:r>
          </a:p>
          <a:p>
            <a:endParaRPr lang="en-IN" dirty="0"/>
          </a:p>
          <a:p>
            <a:r>
              <a:rPr lang="en-IN" sz="2400" b="1" dirty="0">
                <a:solidFill>
                  <a:schemeClr val="accent1"/>
                </a:solidFill>
                <a:latin typeface="+mj-lt"/>
                <a:ea typeface="+mj-ea"/>
                <a:cs typeface="+mj-cs"/>
              </a:rPr>
              <a:t>So, Why the Name Selenium?</a:t>
            </a:r>
          </a:p>
          <a:p>
            <a:r>
              <a:rPr lang="en-IN" dirty="0"/>
              <a:t>It came from a joke which Jason cracked one time to his team. Another automated testing framework was popular during Selenium's development, and it was by the company called </a:t>
            </a:r>
            <a:r>
              <a:rPr lang="en-IN" b="1" dirty="0"/>
              <a:t>Mercury Interactive </a:t>
            </a:r>
            <a:r>
              <a:rPr lang="en-IN" dirty="0"/>
              <a:t>(yes, the company who originally made QTP before it was acquired by HP). Since Selenium is a well-known antidote for Mercury poisoning, Jason suggested that name. His teammates took it, and so that is how we got to call this framework up to the present</a:t>
            </a:r>
          </a:p>
        </p:txBody>
      </p:sp>
    </p:spTree>
    <p:extLst>
      <p:ext uri="{BB962C8B-B14F-4D97-AF65-F5344CB8AC3E}">
        <p14:creationId xmlns:p14="http://schemas.microsoft.com/office/powerpoint/2010/main" val="2139099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716B4-9B63-4A71-96F1-BD020838A71D}"/>
              </a:ext>
            </a:extLst>
          </p:cNvPr>
          <p:cNvSpPr>
            <a:spLocks noGrp="1"/>
          </p:cNvSpPr>
          <p:nvPr>
            <p:ph type="title"/>
          </p:nvPr>
        </p:nvSpPr>
        <p:spPr>
          <a:xfrm>
            <a:off x="677334" y="378246"/>
            <a:ext cx="8596668" cy="690390"/>
          </a:xfrm>
        </p:spPr>
        <p:txBody>
          <a:bodyPr>
            <a:normAutofit/>
          </a:bodyPr>
          <a:lstStyle/>
          <a:p>
            <a:endParaRPr lang="en-IN" dirty="0"/>
          </a:p>
        </p:txBody>
      </p:sp>
      <p:sp>
        <p:nvSpPr>
          <p:cNvPr id="3" name="Content Placeholder 2">
            <a:extLst>
              <a:ext uri="{FF2B5EF4-FFF2-40B4-BE49-F238E27FC236}">
                <a16:creationId xmlns:a16="http://schemas.microsoft.com/office/drawing/2014/main" id="{AFBF0BE5-B618-4FB4-914C-FDC992E80E77}"/>
              </a:ext>
            </a:extLst>
          </p:cNvPr>
          <p:cNvSpPr>
            <a:spLocks noGrp="1"/>
          </p:cNvSpPr>
          <p:nvPr>
            <p:ph idx="1"/>
          </p:nvPr>
        </p:nvSpPr>
        <p:spPr>
          <a:xfrm>
            <a:off x="677334" y="1251504"/>
            <a:ext cx="8596668" cy="4807473"/>
          </a:xfrm>
        </p:spPr>
        <p:txBody>
          <a:bodyPr/>
          <a:lstStyle/>
          <a:p>
            <a:pPr marL="0" indent="0">
              <a:buNone/>
            </a:pPr>
            <a:endParaRPr lang="en-US" dirty="0"/>
          </a:p>
          <a:p>
            <a:endParaRPr lang="en-US" dirty="0"/>
          </a:p>
          <a:p>
            <a:endParaRPr lang="en-US" dirty="0"/>
          </a:p>
          <a:p>
            <a:endParaRPr lang="en-US" dirty="0"/>
          </a:p>
          <a:p>
            <a:endParaRPr lang="en-US" dirty="0"/>
          </a:p>
          <a:p>
            <a:endParaRPr lang="en-US" dirty="0"/>
          </a:p>
          <a:p>
            <a:endParaRPr lang="en-IN" dirty="0"/>
          </a:p>
          <a:p>
            <a:endParaRPr lang="en-IN" dirty="0"/>
          </a:p>
          <a:p>
            <a:endParaRPr lang="en-IN" dirty="0"/>
          </a:p>
        </p:txBody>
      </p:sp>
      <p:pic>
        <p:nvPicPr>
          <p:cNvPr id="4" name="Picture 3" descr="Introduction to WebDriver &amp; Comparison with Selenium RC">
            <a:hlinkClick r:id="rId2"/>
            <a:extLst>
              <a:ext uri="{FF2B5EF4-FFF2-40B4-BE49-F238E27FC236}">
                <a16:creationId xmlns:a16="http://schemas.microsoft.com/office/drawing/2014/main" id="{B731CB35-5493-439C-8620-B8D80146253E}"/>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393040" y="1907402"/>
            <a:ext cx="2686050" cy="3495675"/>
          </a:xfrm>
          <a:prstGeom prst="rect">
            <a:avLst/>
          </a:prstGeom>
          <a:noFill/>
          <a:ln>
            <a:noFill/>
          </a:ln>
        </p:spPr>
      </p:pic>
      <p:pic>
        <p:nvPicPr>
          <p:cNvPr id="5" name="Picture 4" descr="Introduction to WebDriver &amp; Comparison with Selenium RC">
            <a:hlinkClick r:id="rId4"/>
            <a:extLst>
              <a:ext uri="{FF2B5EF4-FFF2-40B4-BE49-F238E27FC236}">
                <a16:creationId xmlns:a16="http://schemas.microsoft.com/office/drawing/2014/main" id="{33BD0126-3784-4985-8749-E70921B4C1E1}"/>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4794795" y="1666875"/>
            <a:ext cx="2457450" cy="3524250"/>
          </a:xfrm>
          <a:prstGeom prst="rect">
            <a:avLst/>
          </a:prstGeom>
          <a:noFill/>
          <a:ln>
            <a:noFill/>
          </a:ln>
        </p:spPr>
      </p:pic>
    </p:spTree>
    <p:extLst>
      <p:ext uri="{BB962C8B-B14F-4D97-AF65-F5344CB8AC3E}">
        <p14:creationId xmlns:p14="http://schemas.microsoft.com/office/powerpoint/2010/main" val="16080351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716B4-9B63-4A71-96F1-BD020838A71D}"/>
              </a:ext>
            </a:extLst>
          </p:cNvPr>
          <p:cNvSpPr>
            <a:spLocks noGrp="1"/>
          </p:cNvSpPr>
          <p:nvPr>
            <p:ph type="title"/>
          </p:nvPr>
        </p:nvSpPr>
        <p:spPr>
          <a:xfrm>
            <a:off x="677334" y="378246"/>
            <a:ext cx="8596668" cy="690390"/>
          </a:xfrm>
        </p:spPr>
        <p:txBody>
          <a:bodyPr>
            <a:normAutofit/>
          </a:bodyPr>
          <a:lstStyle/>
          <a:p>
            <a:r>
              <a:rPr lang="en-US" dirty="0"/>
              <a:t>Features of Selenium</a:t>
            </a:r>
            <a:endParaRPr lang="en-IN" dirty="0"/>
          </a:p>
        </p:txBody>
      </p:sp>
      <p:sp>
        <p:nvSpPr>
          <p:cNvPr id="3" name="Content Placeholder 2">
            <a:extLst>
              <a:ext uri="{FF2B5EF4-FFF2-40B4-BE49-F238E27FC236}">
                <a16:creationId xmlns:a16="http://schemas.microsoft.com/office/drawing/2014/main" id="{AFBF0BE5-B618-4FB4-914C-FDC992E80E77}"/>
              </a:ext>
            </a:extLst>
          </p:cNvPr>
          <p:cNvSpPr>
            <a:spLocks noGrp="1"/>
          </p:cNvSpPr>
          <p:nvPr>
            <p:ph idx="1"/>
          </p:nvPr>
        </p:nvSpPr>
        <p:spPr>
          <a:xfrm>
            <a:off x="677334" y="1264369"/>
            <a:ext cx="8596668" cy="4807473"/>
          </a:xfrm>
        </p:spPr>
        <p:txBody>
          <a:bodyPr>
            <a:normAutofit/>
          </a:bodyPr>
          <a:lstStyle/>
          <a:p>
            <a:pPr marL="0" indent="0">
              <a:buNone/>
            </a:pPr>
            <a:r>
              <a:rPr lang="en-IN" sz="2200" b="1" u="sng" dirty="0"/>
              <a:t>Following are the features of Selenium:</a:t>
            </a:r>
          </a:p>
          <a:p>
            <a:pPr>
              <a:buFont typeface="+mj-lt"/>
              <a:buAutoNum type="arabicPeriod"/>
            </a:pPr>
            <a:r>
              <a:rPr lang="en-IN" sz="2200" dirty="0"/>
              <a:t>Open Source Availability</a:t>
            </a:r>
          </a:p>
          <a:p>
            <a:pPr>
              <a:buFont typeface="+mj-lt"/>
              <a:buAutoNum type="arabicPeriod"/>
            </a:pPr>
            <a:r>
              <a:rPr lang="en-IN" sz="2200" dirty="0"/>
              <a:t>Multi-Browser support</a:t>
            </a:r>
          </a:p>
          <a:p>
            <a:pPr>
              <a:buFont typeface="+mj-lt"/>
              <a:buAutoNum type="arabicPeriod"/>
            </a:pPr>
            <a:r>
              <a:rPr lang="en-IN" sz="2200" dirty="0"/>
              <a:t>Support Various Language and Frameworks</a:t>
            </a:r>
          </a:p>
          <a:p>
            <a:pPr>
              <a:buFont typeface="+mj-lt"/>
              <a:buAutoNum type="arabicPeriod"/>
            </a:pPr>
            <a:r>
              <a:rPr lang="en-IN" sz="2200" dirty="0"/>
              <a:t>Support Various Platforms</a:t>
            </a:r>
          </a:p>
          <a:p>
            <a:pPr>
              <a:buFont typeface="+mj-lt"/>
              <a:buAutoNum type="arabicPeriod"/>
            </a:pPr>
            <a:r>
              <a:rPr lang="en-IN" sz="2200" dirty="0"/>
              <a:t>Ease of Implementation</a:t>
            </a:r>
          </a:p>
          <a:p>
            <a:pPr>
              <a:buFont typeface="+mj-lt"/>
              <a:buAutoNum type="arabicPeriod"/>
            </a:pPr>
            <a:r>
              <a:rPr lang="en-IN" sz="2200" dirty="0"/>
              <a:t>Flexibility – Support many third party plug.in / tools</a:t>
            </a:r>
          </a:p>
          <a:p>
            <a:pPr>
              <a:buFont typeface="+mj-lt"/>
              <a:buAutoNum type="arabicPeriod"/>
            </a:pPr>
            <a:r>
              <a:rPr lang="en-IN" sz="2200" dirty="0"/>
              <a:t>Parallel Test Execution and Faster go to Market</a:t>
            </a:r>
          </a:p>
          <a:p>
            <a:pPr>
              <a:buFont typeface="+mj-lt"/>
              <a:buAutoNum type="arabicPeriod"/>
            </a:pPr>
            <a:r>
              <a:rPr lang="en-IN" sz="2200" dirty="0"/>
              <a:t>Less Hardware Usage.</a:t>
            </a:r>
          </a:p>
          <a:p>
            <a:pPr marL="0" indent="0">
              <a:buNone/>
            </a:pPr>
            <a:endParaRPr lang="en-IN" sz="2200" dirty="0"/>
          </a:p>
          <a:p>
            <a:endParaRPr lang="en-IN" sz="2200" dirty="0"/>
          </a:p>
          <a:p>
            <a:pPr lvl="1"/>
            <a:endParaRPr lang="en-IN" sz="2200" dirty="0"/>
          </a:p>
        </p:txBody>
      </p:sp>
    </p:spTree>
    <p:extLst>
      <p:ext uri="{BB962C8B-B14F-4D97-AF65-F5344CB8AC3E}">
        <p14:creationId xmlns:p14="http://schemas.microsoft.com/office/powerpoint/2010/main" val="41690387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716B4-9B63-4A71-96F1-BD020838A71D}"/>
              </a:ext>
            </a:extLst>
          </p:cNvPr>
          <p:cNvSpPr>
            <a:spLocks noGrp="1"/>
          </p:cNvSpPr>
          <p:nvPr>
            <p:ph type="title"/>
          </p:nvPr>
        </p:nvSpPr>
        <p:spPr>
          <a:xfrm>
            <a:off x="677334" y="378246"/>
            <a:ext cx="8596668" cy="690390"/>
          </a:xfrm>
        </p:spPr>
        <p:txBody>
          <a:bodyPr>
            <a:normAutofit/>
          </a:bodyPr>
          <a:lstStyle/>
          <a:p>
            <a:r>
              <a:rPr lang="en-US" dirty="0"/>
              <a:t>Limitations of Selenium</a:t>
            </a:r>
            <a:endParaRPr lang="en-IN" dirty="0"/>
          </a:p>
        </p:txBody>
      </p:sp>
      <p:sp>
        <p:nvSpPr>
          <p:cNvPr id="3" name="Content Placeholder 2">
            <a:extLst>
              <a:ext uri="{FF2B5EF4-FFF2-40B4-BE49-F238E27FC236}">
                <a16:creationId xmlns:a16="http://schemas.microsoft.com/office/drawing/2014/main" id="{AFBF0BE5-B618-4FB4-914C-FDC992E80E77}"/>
              </a:ext>
            </a:extLst>
          </p:cNvPr>
          <p:cNvSpPr>
            <a:spLocks noGrp="1"/>
          </p:cNvSpPr>
          <p:nvPr>
            <p:ph idx="1"/>
          </p:nvPr>
        </p:nvSpPr>
        <p:spPr>
          <a:xfrm>
            <a:off x="677334" y="1233889"/>
            <a:ext cx="8596668" cy="4807473"/>
          </a:xfrm>
        </p:spPr>
        <p:txBody>
          <a:bodyPr>
            <a:normAutofit fontScale="92500" lnSpcReduction="10000"/>
          </a:bodyPr>
          <a:lstStyle/>
          <a:p>
            <a:pPr algn="just">
              <a:buFont typeface="Arial" panose="020B0604020202020204" pitchFamily="34" charset="0"/>
              <a:buChar char="•"/>
            </a:pPr>
            <a:r>
              <a:rPr lang="en-US" sz="2000" b="0" i="0" dirty="0">
                <a:solidFill>
                  <a:srgbClr val="000000"/>
                </a:solidFill>
                <a:effectLst/>
                <a:latin typeface="Nunito" panose="020B0604020202020204" pitchFamily="2" charset="0"/>
              </a:rPr>
              <a:t>Selenium cannot </a:t>
            </a:r>
            <a:r>
              <a:rPr lang="en-US" sz="2000" b="1" i="0" u="sng" dirty="0">
                <a:solidFill>
                  <a:srgbClr val="000000"/>
                </a:solidFill>
                <a:effectLst/>
                <a:highlight>
                  <a:srgbClr val="FFFF00"/>
                </a:highlight>
                <a:latin typeface="Nunito" panose="020B0604020202020204" pitchFamily="2" charset="0"/>
              </a:rPr>
              <a:t>extend support to the Window based applications</a:t>
            </a:r>
            <a:r>
              <a:rPr lang="en-US" sz="2000" b="0" i="0" dirty="0">
                <a:solidFill>
                  <a:srgbClr val="000000"/>
                </a:solidFill>
                <a:effectLst/>
                <a:latin typeface="Nunito" panose="020B0604020202020204" pitchFamily="2" charset="0"/>
              </a:rPr>
              <a:t>, it only works on the </a:t>
            </a:r>
            <a:r>
              <a:rPr lang="en-US" sz="2000" dirty="0">
                <a:solidFill>
                  <a:srgbClr val="000000"/>
                </a:solidFill>
                <a:highlight>
                  <a:srgbClr val="FFFF00"/>
                </a:highlight>
                <a:latin typeface="Nunito" panose="020B0604020202020204" pitchFamily="2" charset="0"/>
              </a:rPr>
              <a:t>W</a:t>
            </a:r>
            <a:r>
              <a:rPr lang="en-US" sz="2000" b="0" i="0" dirty="0">
                <a:solidFill>
                  <a:srgbClr val="000000"/>
                </a:solidFill>
                <a:effectLst/>
                <a:highlight>
                  <a:srgbClr val="FFFF00"/>
                </a:highlight>
                <a:latin typeface="Nunito" panose="020B0604020202020204" pitchFamily="2" charset="0"/>
              </a:rPr>
              <a:t>eb based applications</a:t>
            </a:r>
            <a:r>
              <a:rPr lang="en-US" sz="2000" b="0" i="0" dirty="0">
                <a:solidFill>
                  <a:srgbClr val="000000"/>
                </a:solidFill>
                <a:effectLst/>
                <a:latin typeface="Nunito" panose="020B0604020202020204" pitchFamily="2" charset="0"/>
              </a:rPr>
              <a:t>.</a:t>
            </a:r>
          </a:p>
          <a:p>
            <a:pPr algn="just">
              <a:buFont typeface="Arial" panose="020B0604020202020204" pitchFamily="34" charset="0"/>
              <a:buChar char="•"/>
            </a:pPr>
            <a:r>
              <a:rPr lang="en-US" sz="2000" b="0" i="0" dirty="0">
                <a:solidFill>
                  <a:srgbClr val="000000"/>
                </a:solidFill>
                <a:effectLst/>
                <a:latin typeface="Nunito" panose="020B0604020202020204" pitchFamily="2" charset="0"/>
              </a:rPr>
              <a:t>Selenium is </a:t>
            </a:r>
            <a:r>
              <a:rPr lang="en-US" sz="2000" b="1" i="0" u="sng" dirty="0">
                <a:solidFill>
                  <a:srgbClr val="000000"/>
                </a:solidFill>
                <a:effectLst/>
                <a:highlight>
                  <a:srgbClr val="FFFF00"/>
                </a:highlight>
                <a:latin typeface="Nunito" panose="020B0604020202020204" pitchFamily="2" charset="0"/>
              </a:rPr>
              <a:t>not</a:t>
            </a:r>
            <a:r>
              <a:rPr lang="en-US" sz="2000" b="1" i="0" dirty="0">
                <a:solidFill>
                  <a:srgbClr val="000000"/>
                </a:solidFill>
                <a:effectLst/>
                <a:highlight>
                  <a:srgbClr val="FFFF00"/>
                </a:highlight>
                <a:latin typeface="Nunito" panose="020B0604020202020204" pitchFamily="2" charset="0"/>
              </a:rPr>
              <a:t> capable of performing mobile automation </a:t>
            </a:r>
            <a:r>
              <a:rPr lang="en-US" sz="2000" b="0" i="0" dirty="0">
                <a:solidFill>
                  <a:srgbClr val="000000"/>
                </a:solidFill>
                <a:effectLst/>
                <a:latin typeface="Nunito" panose="020B0604020202020204" pitchFamily="2" charset="0"/>
              </a:rPr>
              <a:t>on its own. (Appium tool is used for mobile app testing)</a:t>
            </a:r>
          </a:p>
          <a:p>
            <a:pPr algn="just">
              <a:buFont typeface="Arial" panose="020B0604020202020204" pitchFamily="34" charset="0"/>
              <a:buChar char="•"/>
            </a:pPr>
            <a:r>
              <a:rPr lang="en-US" sz="2000" b="0" i="0" dirty="0">
                <a:solidFill>
                  <a:srgbClr val="000000"/>
                </a:solidFill>
                <a:effectLst/>
                <a:latin typeface="Nunito" panose="020B0604020202020204" pitchFamily="2" charset="0"/>
              </a:rPr>
              <a:t>Selenium </a:t>
            </a:r>
            <a:r>
              <a:rPr lang="en-US" sz="2000" b="0" i="0" dirty="0">
                <a:solidFill>
                  <a:srgbClr val="000000"/>
                </a:solidFill>
                <a:effectLst/>
                <a:highlight>
                  <a:srgbClr val="FFFF00"/>
                </a:highlight>
                <a:latin typeface="Nunito" panose="020B0604020202020204" pitchFamily="2" charset="0"/>
              </a:rPr>
              <a:t>does not have any </a:t>
            </a:r>
            <a:r>
              <a:rPr lang="en-US" sz="2000" b="1" i="0" dirty="0">
                <a:solidFill>
                  <a:srgbClr val="000000"/>
                </a:solidFill>
                <a:effectLst/>
                <a:highlight>
                  <a:srgbClr val="FFFF00"/>
                </a:highlight>
                <a:latin typeface="Nunito" panose="020B0604020202020204" pitchFamily="2" charset="0"/>
              </a:rPr>
              <a:t>inbuilt reporting feature</a:t>
            </a:r>
            <a:r>
              <a:rPr lang="en-US" sz="2000" b="0" i="0" dirty="0">
                <a:solidFill>
                  <a:srgbClr val="000000"/>
                </a:solidFill>
                <a:effectLst/>
                <a:latin typeface="Nunito" panose="020B0604020202020204" pitchFamily="2" charset="0"/>
              </a:rPr>
              <a:t>.</a:t>
            </a:r>
          </a:p>
          <a:p>
            <a:pPr algn="just">
              <a:buFont typeface="Arial" panose="020B0604020202020204" pitchFamily="34" charset="0"/>
              <a:buChar char="•"/>
            </a:pPr>
            <a:r>
              <a:rPr lang="en-US" sz="2000" b="0" i="0" dirty="0">
                <a:solidFill>
                  <a:srgbClr val="000000"/>
                </a:solidFill>
                <a:effectLst/>
                <a:latin typeface="Nunito" panose="020B0604020202020204" pitchFamily="2" charset="0"/>
              </a:rPr>
              <a:t>Selenium </a:t>
            </a:r>
            <a:r>
              <a:rPr lang="en-US" sz="2000" b="1" i="0" dirty="0">
                <a:solidFill>
                  <a:srgbClr val="000000"/>
                </a:solidFill>
                <a:effectLst/>
                <a:highlight>
                  <a:srgbClr val="FFFF00"/>
                </a:highlight>
                <a:latin typeface="Nunito" panose="020B0604020202020204" pitchFamily="2" charset="0"/>
              </a:rPr>
              <a:t>does not automate captcha</a:t>
            </a:r>
            <a:r>
              <a:rPr lang="en-US" sz="2000" b="0" i="0" dirty="0">
                <a:solidFill>
                  <a:srgbClr val="000000"/>
                </a:solidFill>
                <a:effectLst/>
                <a:latin typeface="Nunito" panose="020B0604020202020204" pitchFamily="2" charset="0"/>
              </a:rPr>
              <a:t>.</a:t>
            </a:r>
          </a:p>
          <a:p>
            <a:pPr algn="just">
              <a:buFont typeface="Arial" panose="020B0604020202020204" pitchFamily="34" charset="0"/>
              <a:buChar char="•"/>
            </a:pPr>
            <a:r>
              <a:rPr lang="en-US" sz="2000" b="0" i="0" dirty="0">
                <a:solidFill>
                  <a:srgbClr val="000000"/>
                </a:solidFill>
                <a:effectLst/>
                <a:latin typeface="Nunito" panose="020B0604020202020204" pitchFamily="2" charset="0"/>
              </a:rPr>
              <a:t>Selenium </a:t>
            </a:r>
            <a:r>
              <a:rPr lang="en-US" sz="2000" b="1" i="0" dirty="0">
                <a:solidFill>
                  <a:srgbClr val="000000"/>
                </a:solidFill>
                <a:effectLst/>
                <a:highlight>
                  <a:srgbClr val="FFFF00"/>
                </a:highlight>
                <a:latin typeface="Nunito" panose="020B0604020202020204" pitchFamily="2" charset="0"/>
              </a:rPr>
              <a:t>does not automate barcodes</a:t>
            </a:r>
            <a:r>
              <a:rPr lang="en-US" sz="2000" b="0" i="0" dirty="0">
                <a:solidFill>
                  <a:srgbClr val="000000"/>
                </a:solidFill>
                <a:effectLst/>
                <a:latin typeface="Nunito" panose="020B0604020202020204" pitchFamily="2" charset="0"/>
              </a:rPr>
              <a:t>.</a:t>
            </a:r>
          </a:p>
          <a:p>
            <a:pPr algn="just">
              <a:buFont typeface="Arial" panose="020B0604020202020204" pitchFamily="34" charset="0"/>
              <a:buChar char="•"/>
            </a:pPr>
            <a:r>
              <a:rPr lang="en-US" sz="2000" b="0" i="0" dirty="0">
                <a:solidFill>
                  <a:srgbClr val="000000"/>
                </a:solidFill>
                <a:effectLst/>
                <a:latin typeface="Nunito" panose="020B0604020202020204" pitchFamily="2" charset="0"/>
              </a:rPr>
              <a:t>Selenium </a:t>
            </a:r>
            <a:r>
              <a:rPr lang="en-US" sz="2000" b="1" i="0" dirty="0">
                <a:solidFill>
                  <a:srgbClr val="000000"/>
                </a:solidFill>
                <a:effectLst/>
                <a:highlight>
                  <a:srgbClr val="FFFF00"/>
                </a:highlight>
                <a:latin typeface="Nunito" panose="020B0604020202020204" pitchFamily="2" charset="0"/>
              </a:rPr>
              <a:t>does not automate test cases on fingerprints</a:t>
            </a:r>
            <a:r>
              <a:rPr lang="en-US" sz="2000" b="0" i="0" dirty="0">
                <a:solidFill>
                  <a:srgbClr val="000000"/>
                </a:solidFill>
                <a:effectLst/>
                <a:latin typeface="Nunito" panose="020B0604020202020204" pitchFamily="2" charset="0"/>
              </a:rPr>
              <a:t>.</a:t>
            </a:r>
          </a:p>
          <a:p>
            <a:pPr algn="just">
              <a:buFont typeface="Arial" panose="020B0604020202020204" pitchFamily="34" charset="0"/>
              <a:buChar char="•"/>
            </a:pPr>
            <a:r>
              <a:rPr lang="en-US" sz="2000" b="0" i="0" dirty="0">
                <a:solidFill>
                  <a:srgbClr val="000000"/>
                </a:solidFill>
                <a:effectLst/>
                <a:latin typeface="Nunito" panose="020B0604020202020204" pitchFamily="2" charset="0"/>
              </a:rPr>
              <a:t>Selenium depends on third party frameworks </a:t>
            </a:r>
            <a:r>
              <a:rPr lang="en-US" sz="2000" b="1" i="0" dirty="0">
                <a:solidFill>
                  <a:srgbClr val="000000"/>
                </a:solidFill>
                <a:effectLst/>
                <a:highlight>
                  <a:srgbClr val="FFFF00"/>
                </a:highlight>
                <a:latin typeface="Nunito" panose="020B0604020202020204" pitchFamily="2" charset="0"/>
              </a:rPr>
              <a:t>like Junit, TestNG, Cucumber for the </a:t>
            </a:r>
            <a:r>
              <a:rPr lang="en-US" sz="2000" b="1" dirty="0">
                <a:solidFill>
                  <a:srgbClr val="000000"/>
                </a:solidFill>
                <a:highlight>
                  <a:srgbClr val="FFFF00"/>
                </a:highlight>
                <a:latin typeface="Nunito" panose="020B0604020202020204" pitchFamily="2" charset="0"/>
              </a:rPr>
              <a:t>Reporting purpose</a:t>
            </a:r>
            <a:endParaRPr lang="en-US" sz="2000" b="1" i="0" dirty="0">
              <a:solidFill>
                <a:srgbClr val="000000"/>
              </a:solidFill>
              <a:effectLst/>
              <a:highlight>
                <a:srgbClr val="FFFF00"/>
              </a:highlight>
              <a:latin typeface="Nunito" panose="020B0604020202020204" pitchFamily="2" charset="0"/>
            </a:endParaRPr>
          </a:p>
          <a:p>
            <a:pPr algn="just">
              <a:buFont typeface="Arial" panose="020B0604020202020204" pitchFamily="34" charset="0"/>
              <a:buChar char="•"/>
            </a:pPr>
            <a:r>
              <a:rPr lang="en-US" sz="2000" b="0" i="0" dirty="0">
                <a:solidFill>
                  <a:srgbClr val="000000"/>
                </a:solidFill>
                <a:effectLst/>
                <a:latin typeface="Nunito" panose="020B0604020202020204" pitchFamily="2" charset="0"/>
              </a:rPr>
              <a:t>Selenium is open source, so in case of issues there is no prompt vendor assistance.</a:t>
            </a:r>
          </a:p>
          <a:p>
            <a:pPr algn="just">
              <a:buFont typeface="Arial" panose="020B0604020202020204" pitchFamily="34" charset="0"/>
              <a:buChar char="•"/>
            </a:pPr>
            <a:r>
              <a:rPr lang="en-US" sz="2000" b="0" i="0" dirty="0">
                <a:solidFill>
                  <a:srgbClr val="000000"/>
                </a:solidFill>
                <a:effectLst/>
                <a:latin typeface="Nunito" panose="020B0604020202020204" pitchFamily="2" charset="0"/>
              </a:rPr>
              <a:t>Selenium users need to be aware of some programming languages.</a:t>
            </a:r>
          </a:p>
        </p:txBody>
      </p:sp>
    </p:spTree>
    <p:extLst>
      <p:ext uri="{BB962C8B-B14F-4D97-AF65-F5344CB8AC3E}">
        <p14:creationId xmlns:p14="http://schemas.microsoft.com/office/powerpoint/2010/main" val="29565577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716B4-9B63-4A71-96F1-BD020838A71D}"/>
              </a:ext>
            </a:extLst>
          </p:cNvPr>
          <p:cNvSpPr>
            <a:spLocks noGrp="1"/>
          </p:cNvSpPr>
          <p:nvPr>
            <p:ph type="title"/>
          </p:nvPr>
        </p:nvSpPr>
        <p:spPr>
          <a:xfrm>
            <a:off x="677334" y="378246"/>
            <a:ext cx="8596668" cy="690390"/>
          </a:xfrm>
        </p:spPr>
        <p:txBody>
          <a:bodyPr>
            <a:normAutofit/>
          </a:bodyPr>
          <a:lstStyle/>
          <a:p>
            <a:r>
              <a:rPr lang="en-US" dirty="0"/>
              <a:t>Limitations of Selenium</a:t>
            </a:r>
            <a:endParaRPr lang="en-IN" dirty="0"/>
          </a:p>
        </p:txBody>
      </p:sp>
      <p:sp>
        <p:nvSpPr>
          <p:cNvPr id="3" name="Content Placeholder 2">
            <a:extLst>
              <a:ext uri="{FF2B5EF4-FFF2-40B4-BE49-F238E27FC236}">
                <a16:creationId xmlns:a16="http://schemas.microsoft.com/office/drawing/2014/main" id="{AFBF0BE5-B618-4FB4-914C-FDC992E80E77}"/>
              </a:ext>
            </a:extLst>
          </p:cNvPr>
          <p:cNvSpPr>
            <a:spLocks noGrp="1"/>
          </p:cNvSpPr>
          <p:nvPr>
            <p:ph idx="1"/>
          </p:nvPr>
        </p:nvSpPr>
        <p:spPr>
          <a:xfrm>
            <a:off x="677334" y="1233889"/>
            <a:ext cx="8596668" cy="4807473"/>
          </a:xfrm>
        </p:spPr>
        <p:txBody>
          <a:bodyPr>
            <a:normAutofit/>
          </a:bodyPr>
          <a:lstStyle/>
          <a:p>
            <a:pPr algn="just">
              <a:buFont typeface="Arial" panose="020B0604020202020204" pitchFamily="34" charset="0"/>
              <a:buChar char="•"/>
            </a:pPr>
            <a:r>
              <a:rPr lang="en-US" sz="2000" b="0" i="0" dirty="0">
                <a:solidFill>
                  <a:srgbClr val="000000"/>
                </a:solidFill>
                <a:effectLst/>
                <a:latin typeface="Nunito" pitchFamily="2" charset="0"/>
              </a:rPr>
              <a:t>Selenium users do not find it easy to set up a test environment compared to the licensed tools like UFT, reporting.</a:t>
            </a:r>
          </a:p>
          <a:p>
            <a:pPr algn="just">
              <a:buFont typeface="Arial" panose="020B0604020202020204" pitchFamily="34" charset="0"/>
              <a:buChar char="•"/>
            </a:pPr>
            <a:r>
              <a:rPr lang="en-US" sz="2000" b="0" i="0" dirty="0">
                <a:solidFill>
                  <a:srgbClr val="000000"/>
                </a:solidFill>
                <a:effectLst/>
                <a:latin typeface="Nunito" pitchFamily="2" charset="0"/>
              </a:rPr>
              <a:t>Selenium cannot perform testing for the images.</a:t>
            </a:r>
          </a:p>
          <a:p>
            <a:pPr algn="just">
              <a:buFont typeface="Arial" panose="020B0604020202020204" pitchFamily="34" charset="0"/>
              <a:buChar char="•"/>
            </a:pPr>
            <a:r>
              <a:rPr lang="en-US" sz="2000" b="0" i="0" dirty="0">
                <a:solidFill>
                  <a:srgbClr val="000000"/>
                </a:solidFill>
                <a:effectLst/>
                <a:latin typeface="Nunito" pitchFamily="2" charset="0"/>
              </a:rPr>
              <a:t>Selenium users need a subsequent amount of time for test case authoring.</a:t>
            </a:r>
          </a:p>
          <a:p>
            <a:pPr algn="just">
              <a:buFont typeface="Arial" panose="020B0604020202020204" pitchFamily="34" charset="0"/>
              <a:buChar char="•"/>
            </a:pPr>
            <a:r>
              <a:rPr lang="en-US" sz="2000" b="0" i="0" dirty="0">
                <a:solidFill>
                  <a:srgbClr val="000000"/>
                </a:solidFill>
                <a:effectLst/>
                <a:latin typeface="Nunito" pitchFamily="2" charset="0"/>
              </a:rPr>
              <a:t>Selenium does not support automation testing of video and audio.</a:t>
            </a:r>
          </a:p>
          <a:p>
            <a:pPr algn="just">
              <a:buFont typeface="Arial" panose="020B0604020202020204" pitchFamily="34" charset="0"/>
              <a:buChar char="•"/>
            </a:pPr>
            <a:r>
              <a:rPr lang="en-US" sz="2000" b="0" i="0" dirty="0">
                <a:solidFill>
                  <a:srgbClr val="000000"/>
                </a:solidFill>
                <a:effectLst/>
                <a:latin typeface="Nunito" pitchFamily="2" charset="0"/>
              </a:rPr>
              <a:t>Selenium does not give provision of running parallel tests from one computer.</a:t>
            </a:r>
          </a:p>
          <a:p>
            <a:pPr marL="0" indent="0" algn="just">
              <a:buNone/>
            </a:pPr>
            <a:endParaRPr lang="en-US" sz="2000" b="0" i="0" dirty="0">
              <a:solidFill>
                <a:srgbClr val="000000"/>
              </a:solidFill>
              <a:effectLst/>
              <a:latin typeface="Nunito" pitchFamily="2" charset="0"/>
            </a:endParaRPr>
          </a:p>
        </p:txBody>
      </p:sp>
    </p:spTree>
    <p:extLst>
      <p:ext uri="{BB962C8B-B14F-4D97-AF65-F5344CB8AC3E}">
        <p14:creationId xmlns:p14="http://schemas.microsoft.com/office/powerpoint/2010/main" val="13585084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20321A1-3F8C-D02E-7F29-9EEE70B63D39}"/>
              </a:ext>
            </a:extLst>
          </p:cNvPr>
          <p:cNvSpPr>
            <a:spLocks noGrp="1"/>
          </p:cNvSpPr>
          <p:nvPr>
            <p:ph type="title"/>
          </p:nvPr>
        </p:nvSpPr>
        <p:spPr/>
        <p:txBody>
          <a:bodyPr/>
          <a:lstStyle/>
          <a:p>
            <a:endParaRPr lang="en-IN"/>
          </a:p>
        </p:txBody>
      </p:sp>
      <p:sp>
        <p:nvSpPr>
          <p:cNvPr id="13" name="Content Placeholder 12">
            <a:extLst>
              <a:ext uri="{FF2B5EF4-FFF2-40B4-BE49-F238E27FC236}">
                <a16:creationId xmlns:a16="http://schemas.microsoft.com/office/drawing/2014/main" id="{651F35C4-2ED0-658B-8DC5-049DC5737D80}"/>
              </a:ext>
            </a:extLst>
          </p:cNvPr>
          <p:cNvSpPr>
            <a:spLocks noGrp="1"/>
          </p:cNvSpPr>
          <p:nvPr>
            <p:ph idx="1"/>
          </p:nvPr>
        </p:nvSpPr>
        <p:spPr/>
        <p:txBody>
          <a:bodyPr/>
          <a:lstStyle/>
          <a:p>
            <a:endParaRPr lang="en-IN"/>
          </a:p>
        </p:txBody>
      </p:sp>
      <p:pic>
        <p:nvPicPr>
          <p:cNvPr id="9" name="Picture 8">
            <a:extLst>
              <a:ext uri="{FF2B5EF4-FFF2-40B4-BE49-F238E27FC236}">
                <a16:creationId xmlns:a16="http://schemas.microsoft.com/office/drawing/2014/main" id="{70CB007C-82C1-D34B-3174-100DCF26CC2E}"/>
              </a:ext>
            </a:extLst>
          </p:cNvPr>
          <p:cNvPicPr>
            <a:picLocks noChangeAspect="1"/>
          </p:cNvPicPr>
          <p:nvPr/>
        </p:nvPicPr>
        <p:blipFill>
          <a:blip r:embed="rId2"/>
          <a:stretch>
            <a:fillRect/>
          </a:stretch>
        </p:blipFill>
        <p:spPr>
          <a:xfrm>
            <a:off x="238474" y="354186"/>
            <a:ext cx="11125772" cy="5989040"/>
          </a:xfrm>
          <a:prstGeom prst="rect">
            <a:avLst/>
          </a:prstGeom>
        </p:spPr>
      </p:pic>
    </p:spTree>
    <p:extLst>
      <p:ext uri="{BB962C8B-B14F-4D97-AF65-F5344CB8AC3E}">
        <p14:creationId xmlns:p14="http://schemas.microsoft.com/office/powerpoint/2010/main" val="16810907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716B4-9B63-4A71-96F1-BD020838A71D}"/>
              </a:ext>
            </a:extLst>
          </p:cNvPr>
          <p:cNvSpPr>
            <a:spLocks noGrp="1"/>
          </p:cNvSpPr>
          <p:nvPr>
            <p:ph type="title"/>
          </p:nvPr>
        </p:nvSpPr>
        <p:spPr>
          <a:xfrm>
            <a:off x="677334" y="378246"/>
            <a:ext cx="8596668" cy="690390"/>
          </a:xfrm>
        </p:spPr>
        <p:txBody>
          <a:bodyPr>
            <a:normAutofit/>
          </a:bodyPr>
          <a:lstStyle/>
          <a:p>
            <a:r>
              <a:rPr lang="en-IN" b="1" dirty="0"/>
              <a:t>Selenium 3 WebDriver Architecture</a:t>
            </a:r>
            <a:endParaRPr lang="en-IN" dirty="0"/>
          </a:p>
        </p:txBody>
      </p:sp>
      <p:pic>
        <p:nvPicPr>
          <p:cNvPr id="1026" name="Picture 2" descr="Selenium Architecture - Selenium WebDriver Architecture - Edureka">
            <a:extLst>
              <a:ext uri="{FF2B5EF4-FFF2-40B4-BE49-F238E27FC236}">
                <a16:creationId xmlns:a16="http://schemas.microsoft.com/office/drawing/2014/main" id="{6E17F9F9-EF01-4F89-AB96-A3F518A9EAB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7863" y="1849656"/>
            <a:ext cx="8596312" cy="357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65855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45D3307-3846-EDBC-C188-972B03257043}"/>
              </a:ext>
            </a:extLst>
          </p:cNvPr>
          <p:cNvPicPr>
            <a:picLocks noGrp="1" noChangeAspect="1"/>
          </p:cNvPicPr>
          <p:nvPr>
            <p:ph idx="1"/>
          </p:nvPr>
        </p:nvPicPr>
        <p:blipFill>
          <a:blip r:embed="rId2"/>
          <a:stretch>
            <a:fillRect/>
          </a:stretch>
        </p:blipFill>
        <p:spPr>
          <a:xfrm>
            <a:off x="1239520" y="1612784"/>
            <a:ext cx="7934959" cy="5284716"/>
          </a:xfrm>
        </p:spPr>
      </p:pic>
      <p:sp>
        <p:nvSpPr>
          <p:cNvPr id="6" name="Title 1">
            <a:extLst>
              <a:ext uri="{FF2B5EF4-FFF2-40B4-BE49-F238E27FC236}">
                <a16:creationId xmlns:a16="http://schemas.microsoft.com/office/drawing/2014/main" id="{FB3E504B-7FA9-B8C4-9397-71FEC9B770E5}"/>
              </a:ext>
            </a:extLst>
          </p:cNvPr>
          <p:cNvSpPr>
            <a:spLocks noGrp="1"/>
          </p:cNvSpPr>
          <p:nvPr>
            <p:ph type="title"/>
          </p:nvPr>
        </p:nvSpPr>
        <p:spPr>
          <a:xfrm>
            <a:off x="677863" y="609600"/>
            <a:ext cx="8596312" cy="701040"/>
          </a:xfrm>
        </p:spPr>
        <p:txBody>
          <a:bodyPr>
            <a:normAutofit/>
          </a:bodyPr>
          <a:lstStyle/>
          <a:p>
            <a:r>
              <a:rPr lang="en-IN" b="1" dirty="0"/>
              <a:t>Selenium 4 WebDriver Architecture</a:t>
            </a:r>
            <a:endParaRPr lang="en-IN" dirty="0"/>
          </a:p>
        </p:txBody>
      </p:sp>
    </p:spTree>
    <p:extLst>
      <p:ext uri="{BB962C8B-B14F-4D97-AF65-F5344CB8AC3E}">
        <p14:creationId xmlns:p14="http://schemas.microsoft.com/office/powerpoint/2010/main" val="19969364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11EBA-F4F7-FA13-5431-81192019A8AE}"/>
              </a:ext>
            </a:extLst>
          </p:cNvPr>
          <p:cNvSpPr>
            <a:spLocks noGrp="1"/>
          </p:cNvSpPr>
          <p:nvPr>
            <p:ph type="title"/>
          </p:nvPr>
        </p:nvSpPr>
        <p:spPr>
          <a:xfrm>
            <a:off x="677334" y="609600"/>
            <a:ext cx="8596668" cy="822960"/>
          </a:xfrm>
        </p:spPr>
        <p:txBody>
          <a:bodyPr/>
          <a:lstStyle/>
          <a:p>
            <a:r>
              <a:rPr lang="en-IN" dirty="0"/>
              <a:t>Selenium IDE</a:t>
            </a:r>
          </a:p>
        </p:txBody>
      </p:sp>
      <p:sp>
        <p:nvSpPr>
          <p:cNvPr id="3" name="Content Placeholder 2">
            <a:extLst>
              <a:ext uri="{FF2B5EF4-FFF2-40B4-BE49-F238E27FC236}">
                <a16:creationId xmlns:a16="http://schemas.microsoft.com/office/drawing/2014/main" id="{8D464ADB-1A37-CCB3-B22E-4196A51569D7}"/>
              </a:ext>
            </a:extLst>
          </p:cNvPr>
          <p:cNvSpPr>
            <a:spLocks noGrp="1"/>
          </p:cNvSpPr>
          <p:nvPr>
            <p:ph idx="1"/>
          </p:nvPr>
        </p:nvSpPr>
        <p:spPr>
          <a:xfrm>
            <a:off x="677334" y="1645921"/>
            <a:ext cx="8596668" cy="4395442"/>
          </a:xfrm>
        </p:spPr>
        <p:txBody>
          <a:bodyPr>
            <a:normAutofit/>
          </a:bodyPr>
          <a:lstStyle/>
          <a:p>
            <a:pPr>
              <a:buFont typeface="Wingdings" panose="05000000000000000000" pitchFamily="2" charset="2"/>
              <a:buChar char="§"/>
            </a:pPr>
            <a:r>
              <a:rPr lang="en-IN" sz="2400" dirty="0"/>
              <a:t>It is Record and Playback tool</a:t>
            </a:r>
          </a:p>
          <a:p>
            <a:pPr marL="0" indent="0">
              <a:buNone/>
            </a:pPr>
            <a:endParaRPr lang="en-IN" sz="2400" dirty="0"/>
          </a:p>
        </p:txBody>
      </p:sp>
    </p:spTree>
    <p:extLst>
      <p:ext uri="{BB962C8B-B14F-4D97-AF65-F5344CB8AC3E}">
        <p14:creationId xmlns:p14="http://schemas.microsoft.com/office/powerpoint/2010/main" val="12235765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11EBA-F4F7-FA13-5431-81192019A8AE}"/>
              </a:ext>
            </a:extLst>
          </p:cNvPr>
          <p:cNvSpPr>
            <a:spLocks noGrp="1"/>
          </p:cNvSpPr>
          <p:nvPr>
            <p:ph type="title"/>
          </p:nvPr>
        </p:nvSpPr>
        <p:spPr>
          <a:xfrm>
            <a:off x="677334" y="259977"/>
            <a:ext cx="8596668" cy="822960"/>
          </a:xfrm>
        </p:spPr>
        <p:txBody>
          <a:bodyPr/>
          <a:lstStyle/>
          <a:p>
            <a:r>
              <a:rPr lang="en-IN" dirty="0"/>
              <a:t>Pros and Cons of Selenium IDE</a:t>
            </a:r>
          </a:p>
        </p:txBody>
      </p:sp>
      <p:sp>
        <p:nvSpPr>
          <p:cNvPr id="3" name="Content Placeholder 2">
            <a:extLst>
              <a:ext uri="{FF2B5EF4-FFF2-40B4-BE49-F238E27FC236}">
                <a16:creationId xmlns:a16="http://schemas.microsoft.com/office/drawing/2014/main" id="{8D464ADB-1A37-CCB3-B22E-4196A51569D7}"/>
              </a:ext>
            </a:extLst>
          </p:cNvPr>
          <p:cNvSpPr>
            <a:spLocks noGrp="1"/>
          </p:cNvSpPr>
          <p:nvPr>
            <p:ph idx="1"/>
          </p:nvPr>
        </p:nvSpPr>
        <p:spPr>
          <a:xfrm>
            <a:off x="677334" y="989703"/>
            <a:ext cx="8596668" cy="5608320"/>
          </a:xfrm>
        </p:spPr>
        <p:txBody>
          <a:bodyPr>
            <a:normAutofit fontScale="85000" lnSpcReduction="20000"/>
          </a:bodyPr>
          <a:lstStyle/>
          <a:p>
            <a:pPr marL="0" indent="0" algn="l">
              <a:buNone/>
            </a:pPr>
            <a:r>
              <a:rPr lang="en-US" sz="2800" b="1" u="sng" dirty="0">
                <a:solidFill>
                  <a:srgbClr val="333333"/>
                </a:solidFill>
                <a:latin typeface="source-sans-pro"/>
              </a:rPr>
              <a:t>Pros:</a:t>
            </a:r>
          </a:p>
          <a:p>
            <a:pPr algn="l">
              <a:buFont typeface="Arial" panose="020B0604020202020204" pitchFamily="34" charset="0"/>
              <a:buChar char="•"/>
            </a:pPr>
            <a:r>
              <a:rPr lang="en-US" sz="2400" dirty="0">
                <a:solidFill>
                  <a:srgbClr val="333333"/>
                </a:solidFill>
                <a:latin typeface="source-sans-pro"/>
              </a:rPr>
              <a:t>Selenium IDE is very easy to use.</a:t>
            </a:r>
          </a:p>
          <a:p>
            <a:pPr algn="l">
              <a:buFont typeface="Arial" panose="020B0604020202020204" pitchFamily="34" charset="0"/>
              <a:buChar char="•"/>
            </a:pPr>
            <a:r>
              <a:rPr lang="en-US" sz="2400" dirty="0">
                <a:solidFill>
                  <a:srgbClr val="333333"/>
                </a:solidFill>
                <a:latin typeface="source-sans-pro"/>
              </a:rPr>
              <a:t>It has the capability to convert the test to different programming languages such as html, java </a:t>
            </a:r>
            <a:r>
              <a:rPr lang="en-US" sz="2400" dirty="0" err="1">
                <a:solidFill>
                  <a:srgbClr val="333333"/>
                </a:solidFill>
                <a:latin typeface="source-sans-pro"/>
              </a:rPr>
              <a:t>etc</a:t>
            </a:r>
            <a:endParaRPr lang="en-US" sz="2400" dirty="0">
              <a:solidFill>
                <a:srgbClr val="333333"/>
              </a:solidFill>
              <a:latin typeface="source-sans-pro"/>
            </a:endParaRPr>
          </a:p>
          <a:p>
            <a:pPr algn="l">
              <a:buFont typeface="Arial" panose="020B0604020202020204" pitchFamily="34" charset="0"/>
              <a:buChar char="•"/>
            </a:pPr>
            <a:r>
              <a:rPr lang="en-US" sz="2400" dirty="0">
                <a:solidFill>
                  <a:srgbClr val="333333"/>
                </a:solidFill>
                <a:latin typeface="source-sans-pro"/>
              </a:rPr>
              <a:t>Programming language experience is not required for Selenium IDE</a:t>
            </a:r>
          </a:p>
          <a:p>
            <a:pPr algn="l">
              <a:buFont typeface="Arial" panose="020B0604020202020204" pitchFamily="34" charset="0"/>
              <a:buChar char="•"/>
            </a:pPr>
            <a:r>
              <a:rPr lang="en-US" sz="2400" dirty="0">
                <a:solidFill>
                  <a:srgbClr val="333333"/>
                </a:solidFill>
                <a:latin typeface="source-sans-pro"/>
              </a:rPr>
              <a:t>Selenium IDE provides Logging capabilities using file login plug-in.</a:t>
            </a:r>
          </a:p>
          <a:p>
            <a:pPr algn="l">
              <a:buFont typeface="Arial" panose="020B0604020202020204" pitchFamily="34" charset="0"/>
              <a:buChar char="•"/>
            </a:pPr>
            <a:r>
              <a:rPr lang="en-US" sz="2400" dirty="0">
                <a:solidFill>
                  <a:srgbClr val="333333"/>
                </a:solidFill>
                <a:latin typeface="source-sans-pro"/>
              </a:rPr>
              <a:t>In Selenium IDE, user can debug and set breakpoints</a:t>
            </a:r>
          </a:p>
          <a:p>
            <a:pPr algn="l">
              <a:buFont typeface="Arial" panose="020B0604020202020204" pitchFamily="34" charset="0"/>
              <a:buChar char="•"/>
            </a:pPr>
            <a:r>
              <a:rPr lang="en-US" sz="2400" dirty="0">
                <a:solidFill>
                  <a:srgbClr val="333333"/>
                </a:solidFill>
                <a:latin typeface="source-sans-pro"/>
              </a:rPr>
              <a:t>Selenium IDE is flexible for the users.</a:t>
            </a:r>
            <a:endParaRPr lang="en-US" sz="2400" b="0" i="0" dirty="0">
              <a:solidFill>
                <a:srgbClr val="333333"/>
              </a:solidFill>
              <a:effectLst/>
              <a:latin typeface="source-sans-pro"/>
            </a:endParaRPr>
          </a:p>
          <a:p>
            <a:pPr marL="0" indent="0" algn="l">
              <a:buNone/>
            </a:pPr>
            <a:r>
              <a:rPr lang="en-US" sz="2800" b="1" u="sng" dirty="0">
                <a:solidFill>
                  <a:srgbClr val="333333"/>
                </a:solidFill>
                <a:latin typeface="source-sans-pro"/>
              </a:rPr>
              <a:t>Cons:</a:t>
            </a:r>
          </a:p>
          <a:p>
            <a:pPr algn="l">
              <a:buFont typeface="Arial" panose="020B0604020202020204" pitchFamily="34" charset="0"/>
              <a:buChar char="•"/>
            </a:pPr>
            <a:r>
              <a:rPr lang="en-US" sz="2400" b="0" i="0" dirty="0">
                <a:solidFill>
                  <a:srgbClr val="333333"/>
                </a:solidFill>
                <a:effectLst/>
                <a:latin typeface="source-sans-pro"/>
              </a:rPr>
              <a:t>Not suitable for testing extensive data</a:t>
            </a:r>
          </a:p>
          <a:p>
            <a:pPr algn="l">
              <a:buFont typeface="Arial" panose="020B0604020202020204" pitchFamily="34" charset="0"/>
              <a:buChar char="•"/>
            </a:pPr>
            <a:r>
              <a:rPr lang="en-US" sz="2400" b="0" i="0" dirty="0">
                <a:solidFill>
                  <a:srgbClr val="333333"/>
                </a:solidFill>
                <a:effectLst/>
                <a:latin typeface="source-sans-pro"/>
              </a:rPr>
              <a:t>Connections with the database can not be tested</a:t>
            </a:r>
          </a:p>
          <a:p>
            <a:pPr algn="l">
              <a:buFont typeface="Arial" panose="020B0604020202020204" pitchFamily="34" charset="0"/>
              <a:buChar char="•"/>
            </a:pPr>
            <a:r>
              <a:rPr lang="en-US" sz="2400" b="0" i="0" dirty="0">
                <a:solidFill>
                  <a:srgbClr val="333333"/>
                </a:solidFill>
                <a:effectLst/>
                <a:latin typeface="source-sans-pro"/>
              </a:rPr>
              <a:t>Cannot handle the dynamic part of web-based applications</a:t>
            </a:r>
          </a:p>
          <a:p>
            <a:pPr algn="l">
              <a:buFont typeface="Arial" panose="020B0604020202020204" pitchFamily="34" charset="0"/>
              <a:buChar char="•"/>
            </a:pPr>
            <a:r>
              <a:rPr lang="en-US" sz="2400" b="0" i="0" dirty="0">
                <a:solidFill>
                  <a:srgbClr val="333333"/>
                </a:solidFill>
                <a:effectLst/>
                <a:latin typeface="source-sans-pro"/>
              </a:rPr>
              <a:t>Does not support capturing of screenshots on test failures</a:t>
            </a:r>
          </a:p>
          <a:p>
            <a:pPr algn="l">
              <a:buFont typeface="Arial" panose="020B0604020202020204" pitchFamily="34" charset="0"/>
              <a:buChar char="•"/>
            </a:pPr>
            <a:r>
              <a:rPr lang="en-US" sz="2400" b="0" i="0" dirty="0">
                <a:solidFill>
                  <a:srgbClr val="333333"/>
                </a:solidFill>
                <a:effectLst/>
                <a:latin typeface="source-sans-pro"/>
              </a:rPr>
              <a:t>No feature available for generating result reports</a:t>
            </a:r>
          </a:p>
          <a:p>
            <a:pPr>
              <a:buFont typeface="Arial" panose="020B0604020202020204" pitchFamily="34" charset="0"/>
              <a:buChar char="•"/>
            </a:pPr>
            <a:r>
              <a:rPr lang="en-GB" sz="2400" dirty="0">
                <a:solidFill>
                  <a:srgbClr val="333333"/>
                </a:solidFill>
                <a:latin typeface="source-sans-pro"/>
              </a:rPr>
              <a:t>Useful for demo or proof-of-concept tests</a:t>
            </a:r>
            <a:endParaRPr lang="en-US" sz="2400" dirty="0">
              <a:solidFill>
                <a:srgbClr val="333333"/>
              </a:solidFill>
              <a:latin typeface="source-sans-pro"/>
            </a:endParaRPr>
          </a:p>
          <a:p>
            <a:endParaRPr lang="en-IN" sz="2400" dirty="0"/>
          </a:p>
        </p:txBody>
      </p:sp>
    </p:spTree>
    <p:extLst>
      <p:ext uri="{BB962C8B-B14F-4D97-AF65-F5344CB8AC3E}">
        <p14:creationId xmlns:p14="http://schemas.microsoft.com/office/powerpoint/2010/main" val="83909879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16649</TotalTime>
  <Words>1369</Words>
  <Application>Microsoft Office PowerPoint</Application>
  <PresentationFormat>Widescreen</PresentationFormat>
  <Paragraphs>154</Paragraphs>
  <Slides>23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arial</vt:lpstr>
      <vt:lpstr>arial</vt:lpstr>
      <vt:lpstr>Calibri</vt:lpstr>
      <vt:lpstr>Nunito</vt:lpstr>
      <vt:lpstr>Source Sans Pro</vt:lpstr>
      <vt:lpstr>source-sans-pro</vt:lpstr>
      <vt:lpstr>Trebuchet MS</vt:lpstr>
      <vt:lpstr>Wingdings</vt:lpstr>
      <vt:lpstr>Wingdings 3</vt:lpstr>
      <vt:lpstr>Facet</vt:lpstr>
      <vt:lpstr>Selenium</vt:lpstr>
      <vt:lpstr>What is Automation Testing?</vt:lpstr>
      <vt:lpstr>Advantages of Automation Testing</vt:lpstr>
      <vt:lpstr>Criteria for Automation or When automation is suggested? </vt:lpstr>
      <vt:lpstr>What is Selenium</vt:lpstr>
      <vt:lpstr>Components in Selenium</vt:lpstr>
      <vt:lpstr>Selenium Suite</vt:lpstr>
      <vt:lpstr>Who developed Selenium? </vt:lpstr>
      <vt:lpstr>The Same Origin Policy Issue </vt:lpstr>
      <vt:lpstr>Birth of Selenium Remote Control (Selenium RC) </vt:lpstr>
      <vt:lpstr>Birth of Selenium Grid</vt:lpstr>
      <vt:lpstr>Birth of Selenium IDE </vt:lpstr>
      <vt:lpstr>Birth of WebDriver </vt:lpstr>
      <vt:lpstr>Birth of Selenium 2 </vt:lpstr>
      <vt:lpstr>PowerPoint Presentation</vt:lpstr>
      <vt:lpstr>Features of Selenium</vt:lpstr>
      <vt:lpstr>Limitations of Selenium</vt:lpstr>
      <vt:lpstr>Limitations of Selenium</vt:lpstr>
      <vt:lpstr>PowerPoint Presentation</vt:lpstr>
      <vt:lpstr>Selenium 3 WebDriver Architecture</vt:lpstr>
      <vt:lpstr>Selenium 4 WebDriver Architecture</vt:lpstr>
      <vt:lpstr>Selenium IDE</vt:lpstr>
      <vt:lpstr>Pros and Cons of Selenium IDE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Selenium</dc:title>
  <dc:creator>HP</dc:creator>
  <cp:lastModifiedBy>Senthil Natarajan</cp:lastModifiedBy>
  <cp:revision>61</cp:revision>
  <dcterms:created xsi:type="dcterms:W3CDTF">2020-02-12T00:20:30Z</dcterms:created>
  <dcterms:modified xsi:type="dcterms:W3CDTF">2025-12-06T01:50:55Z</dcterms:modified>
</cp:coreProperties>
</file>